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C45892-2135-492E-993B-CF8BAC2B9CAD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4F180E-096E-42A3-852F-4767FF5D78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9759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[Sources]</a:t>
            </a:r>
          </a:p>
          <a:p>
            <a:r>
              <a:rPr lang="en-US" smtClean="0"/>
              <a:t>- file:///C:/dev/itmo-hak/CIS_Traiding/README.md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F180E-096E-42A3-852F-4767FF5D787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016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[Sources]</a:t>
            </a:r>
          </a:p>
          <a:p>
            <a:r>
              <a:rPr lang="en-US" smtClean="0"/>
              <a:t>- file:///C:/dev/itmo-hak/CIS_Traiding/README.md</a:t>
            </a:r>
          </a:p>
          <a:p>
            <a:r>
              <a:rPr lang="en-US" smtClean="0"/>
              <a:t>- file:///C:/dev/itmo-hak/CIS_Traiding/PRODUCT_CONTRACT.md#1-</a:t>
            </a:r>
            <a:r>
              <a:rPr lang="ru-RU" smtClean="0"/>
              <a:t>что-мы-создаём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F180E-096E-42A3-852F-4767FF5D787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5853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[Sources]</a:t>
            </a:r>
          </a:p>
          <a:p>
            <a:r>
              <a:rPr lang="en-US" smtClean="0"/>
              <a:t>- file:///C:/dev/itmo-hak/CIS_Traiding/PRODUCT_CONTRACT.md#1-</a:t>
            </a:r>
            <a:r>
              <a:rPr lang="ru-RU" smtClean="0"/>
              <a:t>что-мы-создаём</a:t>
            </a:r>
          </a:p>
          <a:p>
            <a:r>
              <a:rPr lang="ru-RU" smtClean="0"/>
              <a:t>- </a:t>
            </a:r>
            <a:r>
              <a:rPr lang="en-US" smtClean="0"/>
              <a:t>file:///C:/dev/itmo-hak/CIS_Traiding/PRODUCT_CONTRACT.md#2-</a:t>
            </a:r>
            <a:r>
              <a:rPr lang="ru-RU" smtClean="0"/>
              <a:t>что-считаем-выгодным-моментом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F180E-096E-42A3-852F-4767FF5D787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108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[Sources]</a:t>
            </a:r>
          </a:p>
          <a:p>
            <a:r>
              <a:rPr lang="en-US" smtClean="0"/>
              <a:t>- file:///C:/dev/itmo-hak/CIS_Traiding/PRODUCT_CONTRACT.md#2-что-считаем-выгодным-моментом</a:t>
            </a:r>
          </a:p>
          <a:p>
            <a:r>
              <a:rPr lang="en-US" smtClean="0"/>
              <a:t>- file:///C:/dev/itmo-hak/CIS_Traiding/PRODUCT_CONTRACT.md#4-правила-отправки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F180E-096E-42A3-852F-4767FF5D787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5520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[Sources]</a:t>
            </a:r>
          </a:p>
          <a:p>
            <a:r>
              <a:rPr lang="en-US" smtClean="0"/>
              <a:t>- file:///C:/dev/itmo-hak/CIS_Traiding/PRODUCT_CONTRACT.md#3-</a:t>
            </a:r>
            <a:r>
              <a:rPr lang="ru-RU" smtClean="0"/>
              <a:t>данные-и-логика-системы</a:t>
            </a:r>
          </a:p>
          <a:p>
            <a:r>
              <a:rPr lang="ru-RU" smtClean="0"/>
              <a:t>- </a:t>
            </a:r>
            <a:r>
              <a:rPr lang="en-US" smtClean="0"/>
              <a:t>file:///C:/dev/itmo-hak/CIS_Traiding/PRODUCT_CONTRACT.md#6-</a:t>
            </a:r>
            <a:r>
              <a:rPr lang="ru-RU" smtClean="0"/>
              <a:t>что-возвращает-система-и-видит-клиент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F180E-096E-42A3-852F-4767FF5D787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801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[Sources]</a:t>
            </a:r>
          </a:p>
          <a:p>
            <a:r>
              <a:rPr lang="en-US" smtClean="0"/>
              <a:t>- file:///C:/dev/itmo-hak/CIS_Traiding/analyse.ipynb</a:t>
            </a:r>
          </a:p>
          <a:p>
            <a:r>
              <a:rPr lang="en-US" smtClean="0"/>
              <a:t>- file:///C:/dev/itmo-hak/CIS_Traiding/data/processed/rub_tjs_observations.csv</a:t>
            </a:r>
          </a:p>
          <a:p>
            <a:r>
              <a:rPr lang="en-US" smtClean="0"/>
              <a:t>- file:///C:/dev/itmo-hak/CIS_Traiding/data/processed/rub_tjs_labels_h5_e50bp.csv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F180E-096E-42A3-852F-4767FF5D787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41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[Sources]</a:t>
            </a:r>
          </a:p>
          <a:p>
            <a:r>
              <a:rPr lang="en-US" smtClean="0"/>
              <a:t>- file:///C:/dev/itmo-hak/CIS_Traiding/README.md</a:t>
            </a:r>
          </a:p>
          <a:p>
            <a:r>
              <a:rPr lang="en-US" smtClean="0"/>
              <a:t>- file:///C:/dev/itmo-hak/CIS_Traiding/scripts/build_dataset.py</a:t>
            </a:r>
          </a:p>
          <a:p>
            <a:r>
              <a:rPr lang="en-US" smtClean="0"/>
              <a:t>- file:///C:/dev/itmo-hak/CIS_Traiding/tests/test_build_dataset.py</a:t>
            </a:r>
          </a:p>
          <a:p>
            <a:r>
              <a:rPr lang="en-US" smtClean="0"/>
              <a:t>- file:///C:/dev/itmo-hak/CIS_Traiding/analyse.ipynb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F180E-096E-42A3-852F-4767FF5D787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0463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[Sources]</a:t>
            </a:r>
          </a:p>
          <a:p>
            <a:r>
              <a:rPr lang="en-US" smtClean="0"/>
              <a:t>- file:///C:/dev/itmo-hak/CIS_Traiding/analyse.ipynb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F180E-096E-42A3-852F-4767FF5D787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10244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[Sources]</a:t>
            </a:r>
          </a:p>
          <a:p>
            <a:r>
              <a:rPr lang="en-US" smtClean="0"/>
              <a:t>- file:///C:/dev/itmo-hak/CIS_Traiding/analyse.ipynb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F180E-096E-42A3-852F-4767FF5D787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2886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[Sources]</a:t>
            </a:r>
          </a:p>
          <a:p>
            <a:r>
              <a:rPr lang="en-US" smtClean="0"/>
              <a:t>- file:///C:/dev/itmo-hak/CIS_Traiding/analyse.ipynb</a:t>
            </a:r>
          </a:p>
          <a:p>
            <a:r>
              <a:rPr lang="en-US" smtClean="0"/>
              <a:t>- file:///C:/dev/itmo-hak/CIS_Traiding/PRODUCT_CONTRACT.md#5-</a:t>
            </a:r>
            <a:r>
              <a:rPr lang="ru-RU" smtClean="0"/>
              <a:t>как-проверяем-качество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F180E-096E-42A3-852F-4767FF5D787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54407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[Sources]</a:t>
            </a:r>
          </a:p>
          <a:p>
            <a:r>
              <a:rPr lang="en-US" smtClean="0"/>
              <a:t>- file:///C:/dev/itmo-hak/CIS_Traiding/analyse.ipynb</a:t>
            </a:r>
          </a:p>
          <a:p>
            <a:r>
              <a:rPr lang="en-US" smtClean="0"/>
              <a:t>- file:///C:/dev/itmo-hak/CIS_Traiding/data/processed/rub_tjs_observations.csv</a:t>
            </a:r>
          </a:p>
          <a:p>
            <a:r>
              <a:rPr lang="en-US" smtClean="0"/>
              <a:t>- file:///C:/dev/itmo-hak/CIS_Traiding/data/processed/rub_tjs_labels_h5_e50bp.csv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F180E-096E-42A3-852F-4767FF5D787C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19421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[Sources]</a:t>
            </a:r>
          </a:p>
          <a:p>
            <a:r>
              <a:rPr lang="en-US" smtClean="0"/>
              <a:t>- file:///C:/dev/itmo-hak/CIS_Traiding/PRODUCT_CONTRACT.md#8-риски-и-вопросы</a:t>
            </a:r>
          </a:p>
          <a:p>
            <a:r>
              <a:rPr lang="en-US" smtClean="0"/>
              <a:t>- file:///C:/dev/itmo-hak/CIS_Traiding/analyse.ipynb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F180E-096E-42A3-852F-4767FF5D787C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156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[Sources]</a:t>
            </a:r>
          </a:p>
          <a:p>
            <a:r>
              <a:rPr lang="en-US" smtClean="0"/>
              <a:t>- file:///C:/dev/itmo-hak/CIS_Traiding/PRODUCT_CONTRACT.md#5-</a:t>
            </a:r>
            <a:r>
              <a:rPr lang="ru-RU" smtClean="0"/>
              <a:t>как-проверяем-качество</a:t>
            </a:r>
          </a:p>
          <a:p>
            <a:r>
              <a:rPr lang="ru-RU" smtClean="0"/>
              <a:t>- </a:t>
            </a:r>
            <a:r>
              <a:rPr lang="en-US" smtClean="0"/>
              <a:t>file:///C:/dev/itmo-hak/CIS_Traiding/analyse.ipynb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F180E-096E-42A3-852F-4767FF5D787C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8139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[Sources]</a:t>
            </a:r>
          </a:p>
          <a:p>
            <a:r>
              <a:rPr lang="en-US" smtClean="0"/>
              <a:t>- file:///C:/dev/itmo-hak/CIS_Traiding/PRODUCT_CONTRACT.md#7-</a:t>
            </a:r>
            <a:r>
              <a:rPr lang="ru-RU" smtClean="0"/>
              <a:t>задача-двум-</a:t>
            </a:r>
            <a:r>
              <a:rPr lang="en-US" smtClean="0"/>
              <a:t>ai-</a:t>
            </a:r>
            <a:r>
              <a:rPr lang="ru-RU" smtClean="0"/>
              <a:t>инженерам</a:t>
            </a:r>
          </a:p>
          <a:p>
            <a:r>
              <a:rPr lang="ru-RU" smtClean="0"/>
              <a:t>- </a:t>
            </a:r>
            <a:r>
              <a:rPr lang="en-US" smtClean="0"/>
              <a:t>file:///C:/dev/itmo-hak/CIS_Traiding/analyse.ipynb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F180E-096E-42A3-852F-4767FF5D787C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0571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D8D20-F33B-4B9D-90ED-E006A8C8F7DE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A7ACB-2831-462E-B1CE-E04C15DB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706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D8D20-F33B-4B9D-90ED-E006A8C8F7DE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A7ACB-2831-462E-B1CE-E04C15DB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179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D8D20-F33B-4B9D-90ED-E006A8C8F7DE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A7ACB-2831-462E-B1CE-E04C15DB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867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D8D20-F33B-4B9D-90ED-E006A8C8F7DE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A7ACB-2831-462E-B1CE-E04C15DB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9591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D8D20-F33B-4B9D-90ED-E006A8C8F7DE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A7ACB-2831-462E-B1CE-E04C15DB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4391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D8D20-F33B-4B9D-90ED-E006A8C8F7DE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A7ACB-2831-462E-B1CE-E04C15DB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5977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D8D20-F33B-4B9D-90ED-E006A8C8F7DE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A7ACB-2831-462E-B1CE-E04C15DB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8703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D8D20-F33B-4B9D-90ED-E006A8C8F7DE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A7ACB-2831-462E-B1CE-E04C15DB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3159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D8D20-F33B-4B9D-90ED-E006A8C8F7DE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A7ACB-2831-462E-B1CE-E04C15DB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110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D8D20-F33B-4B9D-90ED-E006A8C8F7DE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A7ACB-2831-462E-B1CE-E04C15DB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069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D8D20-F33B-4B9D-90ED-E006A8C8F7DE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A7ACB-2831-462E-B1CE-E04C15DB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4376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D8D20-F33B-4B9D-90ED-E006A8C8F7DE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A7ACB-2831-462E-B1CE-E04C15DB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1364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00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77800" y="0"/>
            <a:ext cx="88900" cy="6858000"/>
          </a:xfrm>
          <a:prstGeom prst="rect">
            <a:avLst/>
          </a:prstGeom>
          <a:solidFill>
            <a:srgbClr val="EE007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838200" y="660399"/>
            <a:ext cx="4445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smtClean="0">
                <a:solidFill>
                  <a:srgbClr val="005CFF"/>
                </a:solidFill>
                <a:latin typeface="Arial" panose="020B0604020202020204" pitchFamily="34" charset="0"/>
              </a:rPr>
              <a:t>CIS TRADING</a:t>
            </a:r>
            <a:endParaRPr lang="ru-RU" sz="13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1600199"/>
            <a:ext cx="9144000" cy="184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5000" b="1" smtClean="0">
                <a:solidFill>
                  <a:srgbClr val="0A0A0E"/>
                </a:solidFill>
                <a:latin typeface="Arial" panose="020B0604020202020204" pitchFamily="34" charset="0"/>
              </a:rPr>
              <a:t>Когда выгодно
перевести деньги</a:t>
            </a:r>
            <a:endParaRPr lang="ru-RU" sz="50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3600" y="3873499"/>
            <a:ext cx="7112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300" smtClean="0">
                <a:solidFill>
                  <a:srgbClr val="60636E"/>
                </a:solidFill>
                <a:latin typeface="Arial" panose="020B0604020202020204" pitchFamily="34" charset="0"/>
              </a:rPr>
              <a:t>Промежуточный статус проекта</a:t>
            </a:r>
            <a:endParaRPr lang="ru-RU" sz="23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863600" y="4787900"/>
            <a:ext cx="3581400" cy="0"/>
          </a:xfrm>
          <a:prstGeom prst="line">
            <a:avLst/>
          </a:prstGeom>
          <a:ln w="2540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3600" y="5003799"/>
            <a:ext cx="558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smtClean="0">
                <a:solidFill>
                  <a:srgbClr val="60636E"/>
                </a:solidFill>
                <a:latin typeface="Arial" panose="020B0604020202020204" pitchFamily="34" charset="0"/>
              </a:rPr>
              <a:t>RUB → TJS  ·  03.09.2026</a:t>
            </a:r>
            <a:endParaRPr lang="ru-RU" sz="1400" b="1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9969500" y="1117600"/>
            <a:ext cx="939800" cy="939800"/>
          </a:xfrm>
          <a:prstGeom prst="ellipse">
            <a:avLst/>
          </a:prstGeom>
          <a:solidFill>
            <a:srgbClr val="00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10642600" y="1574800"/>
            <a:ext cx="609600" cy="609600"/>
          </a:xfrm>
          <a:prstGeom prst="ellipse">
            <a:avLst/>
          </a:prstGeom>
          <a:solidFill>
            <a:srgbClr val="EE007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10007600" y="1346199"/>
            <a:ext cx="889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 smtClean="0">
                <a:solidFill>
                  <a:srgbClr val="FFFFFF"/>
                </a:solidFill>
                <a:latin typeface="Arial" panose="020B0604020202020204" pitchFamily="34" charset="0"/>
              </a:rPr>
              <a:t>ITMO</a:t>
            </a:r>
            <a:endParaRPr lang="ru-RU" sz="15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235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98500" y="279400"/>
            <a:ext cx="6604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 smtClean="0">
                <a:solidFill>
                  <a:srgbClr val="005CFF"/>
                </a:solidFill>
                <a:latin typeface="Arial" panose="020B0604020202020204" pitchFamily="34" charset="0"/>
              </a:rPr>
              <a:t>ПРОБЛЕМА</a:t>
            </a:r>
            <a:endParaRPr lang="ru-RU" sz="10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3" name="slide-title"/>
          <p:cNvSpPr txBox="1"/>
          <p:nvPr/>
        </p:nvSpPr>
        <p:spPr>
          <a:xfrm>
            <a:off x="698500" y="609599"/>
            <a:ext cx="10795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500" b="1" smtClean="0">
                <a:solidFill>
                  <a:srgbClr val="0A0A0E"/>
                </a:solidFill>
                <a:latin typeface="Arial" panose="020B0604020202020204" pitchFamily="34" charset="0"/>
              </a:rPr>
              <a:t>Курс есть. Ответа «когда?» — нет</a:t>
            </a:r>
            <a:endParaRPr lang="ru-RU" sz="35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footer-rule"/>
          <p:cNvCxnSpPr/>
          <p:nvPr/>
        </p:nvCxnSpPr>
        <p:spPr>
          <a:xfrm>
            <a:off x="698500" y="6350000"/>
            <a:ext cx="10795000" cy="0"/>
          </a:xfrm>
          <a:prstGeom prst="line">
            <a:avLst/>
          </a:prstGeom>
          <a:ln w="10160">
            <a:solidFill>
              <a:srgbClr val="DE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98500" y="64389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 smtClean="0">
                <a:solidFill>
                  <a:srgbClr val="91949E"/>
                </a:solidFill>
                <a:latin typeface="Arial" panose="020B0604020202020204" pitchFamily="34" charset="0"/>
              </a:rPr>
              <a:t>CIS TRADING  /  </a:t>
            </a:r>
            <a:r>
              <a:rPr lang="ru-RU" sz="800" b="1" smtClean="0">
                <a:solidFill>
                  <a:srgbClr val="91949E"/>
                </a:solidFill>
                <a:latin typeface="Arial" panose="020B0604020202020204" pitchFamily="34" charset="0"/>
              </a:rPr>
              <a:t>ПРОМЕЖУТОЧНЫЙ СТАТУС</a:t>
            </a:r>
            <a:endParaRPr lang="ru-RU" sz="800" b="1">
              <a:solidFill>
                <a:srgbClr val="91949E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22000" y="6413500"/>
            <a:ext cx="5715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00" b="1" smtClean="0">
                <a:solidFill>
                  <a:srgbClr val="60636E"/>
                </a:solidFill>
                <a:latin typeface="Arial" panose="020B0604020202020204" pitchFamily="34" charset="0"/>
              </a:rPr>
              <a:t>02</a:t>
            </a:r>
            <a:endParaRPr lang="ru-RU" sz="900" b="1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8500" y="1803399"/>
            <a:ext cx="787400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 b="1" smtClean="0">
                <a:solidFill>
                  <a:srgbClr val="0A0A0E"/>
                </a:solidFill>
                <a:latin typeface="Arial" panose="020B0604020202020204" pitchFamily="34" charset="0"/>
              </a:rPr>
              <a:t>«Перевести сегодня — или подождать?»</a:t>
            </a:r>
            <a:endParaRPr lang="ru-RU" sz="34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8500" y="2984499"/>
            <a:ext cx="711200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900" smtClean="0">
                <a:solidFill>
                  <a:srgbClr val="60636E"/>
                </a:solidFill>
                <a:latin typeface="Arial" panose="020B0604020202020204" pitchFamily="34" charset="0"/>
              </a:rPr>
              <a:t>Регулярный перевод семье можно отложить на несколько дней. Но ежедневное наблюдение за рынком — лишняя нагрузка для клиента.</a:t>
            </a:r>
            <a:endParaRPr lang="ru-RU" sz="19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8382000" y="1765300"/>
            <a:ext cx="3111500" cy="2794000"/>
          </a:xfrm>
          <a:prstGeom prst="roundRect">
            <a:avLst/>
          </a:prstGeom>
          <a:solidFill>
            <a:srgbClr val="F4F5F8"/>
          </a:solidFill>
          <a:ln w="12700">
            <a:solidFill>
              <a:srgbClr val="DEE0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8712200" y="2070099"/>
            <a:ext cx="2413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 b="1" smtClean="0">
                <a:solidFill>
                  <a:srgbClr val="EE0076"/>
                </a:solidFill>
                <a:latin typeface="Arial" panose="020B0604020202020204" pitchFamily="34" charset="0"/>
              </a:rPr>
              <a:t>Цена ошибки</a:t>
            </a:r>
            <a:endParaRPr lang="ru-RU" sz="1600" b="1">
              <a:solidFill>
                <a:srgbClr val="EE0076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12200" y="2578099"/>
            <a:ext cx="2349500" cy="172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700" b="1" smtClean="0">
                <a:solidFill>
                  <a:srgbClr val="0A0A0E"/>
                </a:solidFill>
                <a:latin typeface="Arial" panose="020B0604020202020204" pitchFamily="34" charset="0"/>
              </a:rPr>
              <a:t>Уверенный, но неверный совет разрушает доверие сильнее, чем пропущенный хороший день.</a:t>
            </a:r>
            <a:endParaRPr lang="ru-RU" sz="17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8500" y="4851399"/>
            <a:ext cx="67945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300" b="1" smtClean="0">
                <a:solidFill>
                  <a:srgbClr val="005CFF"/>
                </a:solidFill>
                <a:latin typeface="Arial" panose="020B0604020202020204" pitchFamily="34" charset="0"/>
              </a:rPr>
              <a:t>Поэтому </a:t>
            </a:r>
            <a:r>
              <a:rPr lang="en-US" sz="2300" b="1" smtClean="0">
                <a:solidFill>
                  <a:srgbClr val="005CFF"/>
                </a:solidFill>
                <a:latin typeface="Arial" panose="020B0604020202020204" pitchFamily="34" charset="0"/>
              </a:rPr>
              <a:t>precision </a:t>
            </a:r>
            <a:r>
              <a:rPr lang="ru-RU" sz="2300" b="1" smtClean="0">
                <a:solidFill>
                  <a:srgbClr val="005CFF"/>
                </a:solidFill>
                <a:latin typeface="Arial" panose="020B0604020202020204" pitchFamily="34" charset="0"/>
              </a:rPr>
              <a:t>важнее </a:t>
            </a:r>
            <a:r>
              <a:rPr lang="en-US" sz="2300" b="1" smtClean="0">
                <a:solidFill>
                  <a:srgbClr val="005CFF"/>
                </a:solidFill>
                <a:latin typeface="Arial" panose="020B0604020202020204" pitchFamily="34" charset="0"/>
              </a:rPr>
              <a:t>recall.</a:t>
            </a:r>
            <a:endParaRPr lang="ru-RU" sz="23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281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98500" y="279400"/>
            <a:ext cx="6604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 smtClean="0">
                <a:solidFill>
                  <a:srgbClr val="005CFF"/>
                </a:solidFill>
                <a:latin typeface="Arial" panose="020B0604020202020204" pitchFamily="34" charset="0"/>
              </a:rPr>
              <a:t>ПОСТАНОВКА</a:t>
            </a:r>
            <a:endParaRPr lang="ru-RU" sz="10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3" name="slide-title"/>
          <p:cNvSpPr txBox="1"/>
          <p:nvPr/>
        </p:nvSpPr>
        <p:spPr>
          <a:xfrm>
            <a:off x="698500" y="609599"/>
            <a:ext cx="10795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500" b="1" smtClean="0">
                <a:solidFill>
                  <a:srgbClr val="0A0A0E"/>
                </a:solidFill>
                <a:latin typeface="Arial" panose="020B0604020202020204" pitchFamily="34" charset="0"/>
              </a:rPr>
              <a:t>Ищем редкие выгодные дни</a:t>
            </a:r>
            <a:endParaRPr lang="ru-RU" sz="35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footer-rule"/>
          <p:cNvCxnSpPr/>
          <p:nvPr/>
        </p:nvCxnSpPr>
        <p:spPr>
          <a:xfrm>
            <a:off x="698500" y="6350000"/>
            <a:ext cx="10795000" cy="0"/>
          </a:xfrm>
          <a:prstGeom prst="line">
            <a:avLst/>
          </a:prstGeom>
          <a:ln w="10160">
            <a:solidFill>
              <a:srgbClr val="DE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98500" y="64389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 smtClean="0">
                <a:solidFill>
                  <a:srgbClr val="91949E"/>
                </a:solidFill>
                <a:latin typeface="Arial" panose="020B0604020202020204" pitchFamily="34" charset="0"/>
              </a:rPr>
              <a:t>CIS TRADING  /  </a:t>
            </a:r>
            <a:r>
              <a:rPr lang="ru-RU" sz="800" b="1" smtClean="0">
                <a:solidFill>
                  <a:srgbClr val="91949E"/>
                </a:solidFill>
                <a:latin typeface="Arial" panose="020B0604020202020204" pitchFamily="34" charset="0"/>
              </a:rPr>
              <a:t>ПРОМЕЖУТОЧНЫЙ СТАТУС</a:t>
            </a:r>
            <a:endParaRPr lang="ru-RU" sz="800" b="1">
              <a:solidFill>
                <a:srgbClr val="91949E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22000" y="6413500"/>
            <a:ext cx="5715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00" b="1" smtClean="0">
                <a:solidFill>
                  <a:srgbClr val="60636E"/>
                </a:solidFill>
                <a:latin typeface="Arial" panose="020B0604020202020204" pitchFamily="34" charset="0"/>
              </a:rPr>
              <a:t>03</a:t>
            </a:r>
            <a:endParaRPr lang="ru-RU" sz="900" b="1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8500" y="1727199"/>
            <a:ext cx="6350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mtClean="0">
                <a:solidFill>
                  <a:srgbClr val="60636E"/>
                </a:solidFill>
                <a:latin typeface="Arial" panose="020B0604020202020204" pitchFamily="34" charset="0"/>
              </a:rPr>
              <a:t>Система отвечает на один вопрос:</a:t>
            </a:r>
            <a:endParaRPr lang="ru-RU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8500" y="2222499"/>
            <a:ext cx="98425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 b="1" smtClean="0">
                <a:solidFill>
                  <a:srgbClr val="0A0A0E"/>
                </a:solidFill>
                <a:latin typeface="Arial" panose="020B0604020202020204" pitchFamily="34" charset="0"/>
              </a:rPr>
              <a:t>Есть ли сегодня достаточно сильный повод предложить перевод?</a:t>
            </a:r>
            <a:endParaRPr lang="ru-RU" sz="34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698500" y="3835400"/>
            <a:ext cx="10795000" cy="0"/>
          </a:xfrm>
          <a:prstGeom prst="line">
            <a:avLst/>
          </a:prstGeom>
          <a:ln w="12700">
            <a:solidFill>
              <a:srgbClr val="DE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8500" y="4203699"/>
            <a:ext cx="31115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 b="1" smtClean="0">
                <a:solidFill>
                  <a:srgbClr val="005CFF"/>
                </a:solidFill>
                <a:latin typeface="Arial" panose="020B0604020202020204" pitchFamily="34" charset="0"/>
              </a:rPr>
              <a:t>СЕЙЧАС</a:t>
            </a:r>
            <a:endParaRPr lang="ru-RU" sz="34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8500" y="4902199"/>
            <a:ext cx="31115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 smtClean="0">
                <a:solidFill>
                  <a:srgbClr val="60636E"/>
                </a:solidFill>
                <a:latin typeface="Arial" panose="020B0604020202020204" pitchFamily="34" charset="0"/>
              </a:rPr>
              <a:t>оценка только по прошлому и настоящему</a:t>
            </a:r>
            <a:endParaRPr lang="ru-RU" sz="16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08500" y="4203699"/>
            <a:ext cx="31115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 b="1" smtClean="0">
                <a:solidFill>
                  <a:srgbClr val="EE0076"/>
                </a:solidFill>
                <a:latin typeface="Arial" panose="020B0604020202020204" pitchFamily="34" charset="0"/>
              </a:rPr>
              <a:t>5 ДНЕЙ</a:t>
            </a:r>
            <a:endParaRPr lang="ru-RU" sz="3400" b="1">
              <a:solidFill>
                <a:srgbClr val="EE0076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08500" y="4902199"/>
            <a:ext cx="31115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 smtClean="0">
                <a:solidFill>
                  <a:srgbClr val="60636E"/>
                </a:solidFill>
                <a:latin typeface="Arial" panose="020B0604020202020204" pitchFamily="34" charset="0"/>
              </a:rPr>
              <a:t>горизонт, на котором проверяем решение</a:t>
            </a:r>
            <a:endParaRPr lang="ru-RU" sz="16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18500" y="4203699"/>
            <a:ext cx="3175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 b="1" smtClean="0">
                <a:solidFill>
                  <a:srgbClr val="005CFF"/>
                </a:solidFill>
                <a:latin typeface="Arial" panose="020B0604020202020204" pitchFamily="34" charset="0"/>
              </a:rPr>
              <a:t>РЕДКО</a:t>
            </a:r>
            <a:endParaRPr lang="ru-RU" sz="34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18500" y="4902199"/>
            <a:ext cx="31750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 smtClean="0">
                <a:solidFill>
                  <a:srgbClr val="60636E"/>
                </a:solidFill>
                <a:latin typeface="Arial" panose="020B0604020202020204" pitchFamily="34" charset="0"/>
              </a:rPr>
              <a:t>слабый сигнал не отправляем ради частоты</a:t>
            </a:r>
            <a:endParaRPr lang="ru-RU" sz="16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560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98500" y="279400"/>
            <a:ext cx="6604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 smtClean="0">
                <a:solidFill>
                  <a:srgbClr val="005CFF"/>
                </a:solidFill>
                <a:latin typeface="Arial" panose="020B0604020202020204" pitchFamily="34" charset="0"/>
              </a:rPr>
              <a:t>ПРОДУКТОВЫЙ КОНТРАКТ</a:t>
            </a:r>
            <a:endParaRPr lang="ru-RU" sz="10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3" name="slide-title"/>
          <p:cNvSpPr txBox="1"/>
          <p:nvPr/>
        </p:nvSpPr>
        <p:spPr>
          <a:xfrm>
            <a:off x="698500" y="609599"/>
            <a:ext cx="10795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500" b="1" smtClean="0">
                <a:solidFill>
                  <a:srgbClr val="0A0A0E"/>
                </a:solidFill>
                <a:latin typeface="Arial" panose="020B0604020202020204" pitchFamily="34" charset="0"/>
              </a:rPr>
              <a:t>Правдивость важнее частоты</a:t>
            </a:r>
            <a:endParaRPr lang="ru-RU" sz="35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footer-rule"/>
          <p:cNvCxnSpPr/>
          <p:nvPr/>
        </p:nvCxnSpPr>
        <p:spPr>
          <a:xfrm>
            <a:off x="698500" y="6350000"/>
            <a:ext cx="10795000" cy="0"/>
          </a:xfrm>
          <a:prstGeom prst="line">
            <a:avLst/>
          </a:prstGeom>
          <a:ln w="10160">
            <a:solidFill>
              <a:srgbClr val="DE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98500" y="64389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 smtClean="0">
                <a:solidFill>
                  <a:srgbClr val="91949E"/>
                </a:solidFill>
                <a:latin typeface="Arial" panose="020B0604020202020204" pitchFamily="34" charset="0"/>
              </a:rPr>
              <a:t>CIS TRADING  /  </a:t>
            </a:r>
            <a:r>
              <a:rPr lang="ru-RU" sz="800" b="1" smtClean="0">
                <a:solidFill>
                  <a:srgbClr val="91949E"/>
                </a:solidFill>
                <a:latin typeface="Arial" panose="020B0604020202020204" pitchFamily="34" charset="0"/>
              </a:rPr>
              <a:t>ПРОМЕЖУТОЧНЫЙ СТАТУС</a:t>
            </a:r>
            <a:endParaRPr lang="ru-RU" sz="800" b="1">
              <a:solidFill>
                <a:srgbClr val="91949E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22000" y="6413500"/>
            <a:ext cx="5715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00" b="1" smtClean="0">
                <a:solidFill>
                  <a:srgbClr val="60636E"/>
                </a:solidFill>
                <a:latin typeface="Arial" panose="020B0604020202020204" pitchFamily="34" charset="0"/>
              </a:rPr>
              <a:t>04</a:t>
            </a:r>
            <a:endParaRPr lang="ru-RU" sz="900" b="1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8500" y="2095499"/>
            <a:ext cx="18415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800" b="1" smtClean="0">
                <a:solidFill>
                  <a:srgbClr val="005CFF"/>
                </a:solidFill>
                <a:latin typeface="Arial" panose="020B0604020202020204" pitchFamily="34" charset="0"/>
              </a:rPr>
              <a:t>5</a:t>
            </a:r>
            <a:endParaRPr lang="ru-RU" sz="38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8500" y="3047999"/>
            <a:ext cx="1841500" cy="1168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 smtClean="0">
                <a:solidFill>
                  <a:srgbClr val="60636E"/>
                </a:solidFill>
                <a:latin typeface="Arial" panose="020B0604020202020204" pitchFamily="34" charset="0"/>
              </a:rPr>
              <a:t>календарных дней ожидания</a:t>
            </a:r>
            <a:endParaRPr lang="ru-RU" sz="16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603500" y="2095500"/>
            <a:ext cx="0" cy="2413000"/>
          </a:xfrm>
          <a:prstGeom prst="line">
            <a:avLst/>
          </a:prstGeom>
          <a:ln w="12700">
            <a:solidFill>
              <a:srgbClr val="DE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857500" y="2095499"/>
            <a:ext cx="18415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800" b="1" smtClean="0">
                <a:solidFill>
                  <a:srgbClr val="EE0076"/>
                </a:solidFill>
                <a:latin typeface="Arial" panose="020B0604020202020204" pitchFamily="34" charset="0"/>
              </a:rPr>
              <a:t>0,5%</a:t>
            </a:r>
            <a:endParaRPr lang="ru-RU" sz="3800" b="1">
              <a:solidFill>
                <a:srgbClr val="EE0076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57500" y="3047999"/>
            <a:ext cx="1841500" cy="1168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 smtClean="0">
                <a:solidFill>
                  <a:srgbClr val="60636E"/>
                </a:solidFill>
                <a:latin typeface="Arial" panose="020B0604020202020204" pitchFamily="34" charset="0"/>
              </a:rPr>
              <a:t>допустимое улучшение после сигнала</a:t>
            </a:r>
            <a:endParaRPr lang="ru-RU" sz="16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4762500" y="2095500"/>
            <a:ext cx="0" cy="2413000"/>
          </a:xfrm>
          <a:prstGeom prst="line">
            <a:avLst/>
          </a:prstGeom>
          <a:ln w="12700">
            <a:solidFill>
              <a:srgbClr val="DE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16500" y="2095499"/>
            <a:ext cx="18415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800" b="1" smtClean="0">
                <a:solidFill>
                  <a:srgbClr val="005CFF"/>
                </a:solidFill>
                <a:latin typeface="Arial" panose="020B0604020202020204" pitchFamily="34" charset="0"/>
              </a:rPr>
              <a:t>90%</a:t>
            </a:r>
            <a:endParaRPr lang="ru-RU" sz="38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16500" y="3047999"/>
            <a:ext cx="1841500" cy="1168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 smtClean="0">
                <a:solidFill>
                  <a:srgbClr val="60636E"/>
                </a:solidFill>
                <a:latin typeface="Arial" panose="020B0604020202020204" pitchFamily="34" charset="0"/>
              </a:rPr>
              <a:t>минимальная доля правдивых пушей</a:t>
            </a:r>
            <a:endParaRPr lang="ru-RU" sz="16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6921500" y="2095500"/>
            <a:ext cx="0" cy="2413000"/>
          </a:xfrm>
          <a:prstGeom prst="line">
            <a:avLst/>
          </a:prstGeom>
          <a:ln w="12700">
            <a:solidFill>
              <a:srgbClr val="DE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75500" y="2095499"/>
            <a:ext cx="18415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800" b="1" smtClean="0">
                <a:solidFill>
                  <a:srgbClr val="EE0076"/>
                </a:solidFill>
                <a:latin typeface="Arial" panose="020B0604020202020204" pitchFamily="34" charset="0"/>
              </a:rPr>
              <a:t>1–2</a:t>
            </a:r>
            <a:endParaRPr lang="ru-RU" sz="3800" b="1">
              <a:solidFill>
                <a:srgbClr val="EE0076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75500" y="3047999"/>
            <a:ext cx="1841500" cy="1168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 smtClean="0">
                <a:solidFill>
                  <a:srgbClr val="60636E"/>
                </a:solidFill>
                <a:latin typeface="Arial" panose="020B0604020202020204" pitchFamily="34" charset="0"/>
              </a:rPr>
              <a:t>пуша в неделю — диапазон</a:t>
            </a:r>
            <a:endParaRPr lang="ru-RU" sz="16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9080500" y="2095500"/>
            <a:ext cx="0" cy="2413000"/>
          </a:xfrm>
          <a:prstGeom prst="line">
            <a:avLst/>
          </a:prstGeom>
          <a:ln w="12700">
            <a:solidFill>
              <a:srgbClr val="DE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334500" y="2095499"/>
            <a:ext cx="18415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800" b="1" smtClean="0">
                <a:solidFill>
                  <a:srgbClr val="005CFF"/>
                </a:solidFill>
                <a:latin typeface="Arial" panose="020B0604020202020204" pitchFamily="34" charset="0"/>
              </a:rPr>
              <a:t>4</a:t>
            </a:r>
            <a:endParaRPr lang="ru-RU" sz="38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34500" y="3047999"/>
            <a:ext cx="1841500" cy="1168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 smtClean="0">
                <a:solidFill>
                  <a:srgbClr val="60636E"/>
                </a:solidFill>
                <a:latin typeface="Arial" panose="020B0604020202020204" pitchFamily="34" charset="0"/>
              </a:rPr>
              <a:t>дня </a:t>
            </a:r>
            <a:r>
              <a:rPr lang="en-US" sz="1600" smtClean="0">
                <a:solidFill>
                  <a:srgbClr val="60636E"/>
                </a:solidFill>
                <a:latin typeface="Arial" panose="020B0604020202020204" pitchFamily="34" charset="0"/>
              </a:rPr>
              <a:t>cooldown </a:t>
            </a:r>
            <a:r>
              <a:rPr lang="ru-RU" sz="1600" smtClean="0">
                <a:solidFill>
                  <a:srgbClr val="60636E"/>
                </a:solidFill>
                <a:latin typeface="Arial" panose="020B0604020202020204" pitchFamily="34" charset="0"/>
              </a:rPr>
              <a:t>после отправки</a:t>
            </a:r>
            <a:endParaRPr lang="ru-RU" sz="16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8500" y="5143499"/>
            <a:ext cx="107950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200" b="1" smtClean="0">
                <a:solidFill>
                  <a:srgbClr val="0A0A0E"/>
                </a:solidFill>
                <a:latin typeface="Arial" panose="020B0604020202020204" pitchFamily="34" charset="0"/>
              </a:rPr>
              <a:t>Ложный пуш хуже пропущенного дня → threshold выбираем по precision.</a:t>
            </a:r>
            <a:endParaRPr lang="ru-RU" sz="22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191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98500" y="279400"/>
            <a:ext cx="6604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 smtClean="0">
                <a:solidFill>
                  <a:srgbClr val="005CFF"/>
                </a:solidFill>
                <a:latin typeface="Arial" panose="020B0604020202020204" pitchFamily="34" charset="0"/>
              </a:rPr>
              <a:t>РЕШЕНИЕ</a:t>
            </a:r>
            <a:endParaRPr lang="ru-RU" sz="10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3" name="slide-title"/>
          <p:cNvSpPr txBox="1"/>
          <p:nvPr/>
        </p:nvSpPr>
        <p:spPr>
          <a:xfrm>
            <a:off x="698500" y="609599"/>
            <a:ext cx="10795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500" b="1" smtClean="0">
                <a:solidFill>
                  <a:srgbClr val="0A0A0E"/>
                </a:solidFill>
                <a:latin typeface="Arial" panose="020B0604020202020204" pitchFamily="34" charset="0"/>
              </a:rPr>
              <a:t>Модель оценивает. Правила отправляют</a:t>
            </a:r>
            <a:endParaRPr lang="ru-RU" sz="35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footer-rule"/>
          <p:cNvCxnSpPr/>
          <p:nvPr/>
        </p:nvCxnSpPr>
        <p:spPr>
          <a:xfrm>
            <a:off x="698500" y="6350000"/>
            <a:ext cx="10795000" cy="0"/>
          </a:xfrm>
          <a:prstGeom prst="line">
            <a:avLst/>
          </a:prstGeom>
          <a:ln w="10160">
            <a:solidFill>
              <a:srgbClr val="DE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98500" y="64389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 smtClean="0">
                <a:solidFill>
                  <a:srgbClr val="91949E"/>
                </a:solidFill>
                <a:latin typeface="Arial" panose="020B0604020202020204" pitchFamily="34" charset="0"/>
              </a:rPr>
              <a:t>CIS TRADING  /  </a:t>
            </a:r>
            <a:r>
              <a:rPr lang="ru-RU" sz="800" b="1" smtClean="0">
                <a:solidFill>
                  <a:srgbClr val="91949E"/>
                </a:solidFill>
                <a:latin typeface="Arial" panose="020B0604020202020204" pitchFamily="34" charset="0"/>
              </a:rPr>
              <a:t>ПРОМЕЖУТОЧНЫЙ СТАТУС</a:t>
            </a:r>
            <a:endParaRPr lang="ru-RU" sz="800" b="1">
              <a:solidFill>
                <a:srgbClr val="91949E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22000" y="6413500"/>
            <a:ext cx="5715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00" b="1" smtClean="0">
                <a:solidFill>
                  <a:srgbClr val="60636E"/>
                </a:solidFill>
                <a:latin typeface="Arial" panose="020B0604020202020204" pitchFamily="34" charset="0"/>
              </a:rPr>
              <a:t>05</a:t>
            </a:r>
            <a:endParaRPr lang="ru-RU" sz="900" b="1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2120900" y="3009900"/>
            <a:ext cx="190500" cy="0"/>
          </a:xfrm>
          <a:prstGeom prst="line">
            <a:avLst/>
          </a:prstGeom>
          <a:ln w="19050">
            <a:solidFill>
              <a:srgbClr val="91949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3886200" y="3009900"/>
            <a:ext cx="190500" cy="0"/>
          </a:xfrm>
          <a:prstGeom prst="line">
            <a:avLst/>
          </a:prstGeom>
          <a:ln w="19050">
            <a:solidFill>
              <a:srgbClr val="91949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5651500" y="3009900"/>
            <a:ext cx="190500" cy="0"/>
          </a:xfrm>
          <a:prstGeom prst="line">
            <a:avLst/>
          </a:prstGeom>
          <a:ln w="19050">
            <a:solidFill>
              <a:srgbClr val="91949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7416800" y="3009900"/>
            <a:ext cx="190500" cy="0"/>
          </a:xfrm>
          <a:prstGeom prst="line">
            <a:avLst/>
          </a:prstGeom>
          <a:ln w="19050">
            <a:solidFill>
              <a:srgbClr val="91949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9182100" y="3009900"/>
            <a:ext cx="190500" cy="0"/>
          </a:xfrm>
          <a:prstGeom prst="line">
            <a:avLst/>
          </a:prstGeom>
          <a:ln w="19050">
            <a:solidFill>
              <a:srgbClr val="91949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Скругленный прямоугольник 11"/>
          <p:cNvSpPr/>
          <p:nvPr/>
        </p:nvSpPr>
        <p:spPr>
          <a:xfrm>
            <a:off x="698500" y="2349500"/>
            <a:ext cx="1422400" cy="1320800"/>
          </a:xfrm>
          <a:prstGeom prst="roundRect">
            <a:avLst/>
          </a:prstGeom>
          <a:solidFill>
            <a:srgbClr val="F4F5F8"/>
          </a:solidFill>
          <a:ln w="12700">
            <a:solidFill>
              <a:srgbClr val="DEE0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825500" y="2603499"/>
            <a:ext cx="11684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600" b="1" smtClean="0">
                <a:solidFill>
                  <a:srgbClr val="0A0A0E"/>
                </a:solidFill>
                <a:latin typeface="Arial" panose="020B0604020202020204" pitchFamily="34" charset="0"/>
              </a:rPr>
              <a:t>История</a:t>
            </a:r>
          </a:p>
          <a:p>
            <a:pPr algn="ctr"/>
            <a:r>
              <a:rPr lang="ru-RU" sz="1600" b="1" smtClean="0">
                <a:solidFill>
                  <a:srgbClr val="0A0A0E"/>
                </a:solidFill>
                <a:latin typeface="Arial" panose="020B0604020202020204" pitchFamily="34" charset="0"/>
              </a:rPr>
              <a:t>курсов</a:t>
            </a:r>
            <a:endParaRPr lang="ru-RU" sz="16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2463800" y="2349500"/>
            <a:ext cx="1422400" cy="1320800"/>
          </a:xfrm>
          <a:prstGeom prst="roundRect">
            <a:avLst/>
          </a:prstGeom>
          <a:solidFill>
            <a:srgbClr val="F4F5F8"/>
          </a:solidFill>
          <a:ln w="12700">
            <a:solidFill>
              <a:srgbClr val="DEE0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/>
          <p:cNvSpPr txBox="1"/>
          <p:nvPr/>
        </p:nvSpPr>
        <p:spPr>
          <a:xfrm>
            <a:off x="2590800" y="2603499"/>
            <a:ext cx="11684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600" b="1" smtClean="0">
                <a:solidFill>
                  <a:srgbClr val="0A0A0E"/>
                </a:solidFill>
                <a:latin typeface="Arial" panose="020B0604020202020204" pitchFamily="34" charset="0"/>
              </a:rPr>
              <a:t>Признаки</a:t>
            </a:r>
          </a:p>
          <a:p>
            <a:pPr algn="ctr"/>
            <a:r>
              <a:rPr lang="ru-RU" sz="1600" b="1" smtClean="0">
                <a:solidFill>
                  <a:srgbClr val="0A0A0E"/>
                </a:solidFill>
                <a:latin typeface="Arial" panose="020B0604020202020204" pitchFamily="34" charset="0"/>
              </a:rPr>
              <a:t>из прошлого</a:t>
            </a:r>
            <a:endParaRPr lang="ru-RU" sz="16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4229100" y="2349500"/>
            <a:ext cx="1422400" cy="1320800"/>
          </a:xfrm>
          <a:prstGeom prst="roundRect">
            <a:avLst/>
          </a:prstGeom>
          <a:solidFill>
            <a:srgbClr val="F4F5F8"/>
          </a:solidFill>
          <a:ln w="12700">
            <a:solidFill>
              <a:srgbClr val="DEE0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4356100" y="2603499"/>
            <a:ext cx="11684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600" b="1" smtClean="0">
                <a:solidFill>
                  <a:srgbClr val="0A0A0E"/>
                </a:solidFill>
                <a:latin typeface="Arial" panose="020B0604020202020204" pitchFamily="34" charset="0"/>
              </a:rPr>
              <a:t>Оценка</a:t>
            </a:r>
          </a:p>
          <a:p>
            <a:pPr algn="ctr"/>
            <a:r>
              <a:rPr lang="ru-RU" sz="1600" b="1" smtClean="0">
                <a:solidFill>
                  <a:srgbClr val="0A0A0E"/>
                </a:solidFill>
                <a:latin typeface="Arial" panose="020B0604020202020204" pitchFamily="34" charset="0"/>
              </a:rPr>
              <a:t>модели</a:t>
            </a:r>
            <a:endParaRPr lang="ru-RU" sz="16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5994400" y="2349500"/>
            <a:ext cx="1422400" cy="1320800"/>
          </a:xfrm>
          <a:prstGeom prst="roundRect">
            <a:avLst/>
          </a:prstGeom>
          <a:solidFill>
            <a:srgbClr val="F4F5F8"/>
          </a:solidFill>
          <a:ln w="12700">
            <a:solidFill>
              <a:srgbClr val="DEE0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/>
          <p:cNvSpPr txBox="1"/>
          <p:nvPr/>
        </p:nvSpPr>
        <p:spPr>
          <a:xfrm>
            <a:off x="6121400" y="2603499"/>
            <a:ext cx="11684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600" b="1" smtClean="0">
                <a:solidFill>
                  <a:srgbClr val="0A0A0E"/>
                </a:solidFill>
                <a:latin typeface="Arial" panose="020B0604020202020204" pitchFamily="34" charset="0"/>
              </a:rPr>
              <a:t>Порог</a:t>
            </a:r>
          </a:p>
          <a:p>
            <a:pPr algn="ctr"/>
            <a:r>
              <a:rPr lang="ru-RU" sz="1600" b="1" smtClean="0">
                <a:solidFill>
                  <a:srgbClr val="0A0A0E"/>
                </a:solidFill>
                <a:latin typeface="Arial" panose="020B0604020202020204" pitchFamily="34" charset="0"/>
              </a:rPr>
              <a:t>качества</a:t>
            </a:r>
            <a:endParaRPr lang="ru-RU" sz="16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7759700" y="2349500"/>
            <a:ext cx="1422400" cy="1320800"/>
          </a:xfrm>
          <a:prstGeom prst="roundRect">
            <a:avLst/>
          </a:prstGeom>
          <a:solidFill>
            <a:srgbClr val="F4F5F8"/>
          </a:solidFill>
          <a:ln w="12700">
            <a:solidFill>
              <a:srgbClr val="DEE0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/>
          <p:cNvSpPr txBox="1"/>
          <p:nvPr/>
        </p:nvSpPr>
        <p:spPr>
          <a:xfrm>
            <a:off x="7886700" y="2603499"/>
            <a:ext cx="11684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600" b="1" smtClean="0">
                <a:solidFill>
                  <a:srgbClr val="0A0A0E"/>
                </a:solidFill>
                <a:latin typeface="Arial" panose="020B0604020202020204" pitchFamily="34" charset="0"/>
              </a:rPr>
              <a:t>Частота +</a:t>
            </a:r>
          </a:p>
          <a:p>
            <a:pPr algn="ctr"/>
            <a:r>
              <a:rPr lang="en-US" sz="1600" b="1" smtClean="0">
                <a:solidFill>
                  <a:srgbClr val="0A0A0E"/>
                </a:solidFill>
                <a:latin typeface="Arial" panose="020B0604020202020204" pitchFamily="34" charset="0"/>
              </a:rPr>
              <a:t>cooldown</a:t>
            </a:r>
            <a:endParaRPr lang="ru-RU" sz="16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9525000" y="2349500"/>
            <a:ext cx="1422400" cy="1320800"/>
          </a:xfrm>
          <a:prstGeom prst="roundRect">
            <a:avLst/>
          </a:prstGeom>
          <a:solidFill>
            <a:srgbClr val="0A0A0E"/>
          </a:solidFill>
          <a:ln w="12700">
            <a:solidFill>
              <a:srgbClr val="DEE0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/>
          <p:cNvSpPr txBox="1"/>
          <p:nvPr/>
        </p:nvSpPr>
        <p:spPr>
          <a:xfrm>
            <a:off x="9652000" y="2603499"/>
            <a:ext cx="11684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600" b="1" smtClean="0">
                <a:solidFill>
                  <a:srgbClr val="FFFFFF"/>
                </a:solidFill>
                <a:latin typeface="Arial" panose="020B0604020202020204" pitchFamily="34" charset="0"/>
              </a:rPr>
              <a:t>Понятный</a:t>
            </a:r>
          </a:p>
          <a:p>
            <a:pPr algn="ctr"/>
            <a:r>
              <a:rPr lang="ru-RU" sz="1600" b="1" smtClean="0">
                <a:solidFill>
                  <a:srgbClr val="FFFFFF"/>
                </a:solidFill>
                <a:latin typeface="Arial" panose="020B0604020202020204" pitchFamily="34" charset="0"/>
              </a:rPr>
              <a:t>пуш</a:t>
            </a:r>
            <a:endParaRPr lang="ru-RU" sz="16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8500" y="4343399"/>
            <a:ext cx="10795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200" b="1" smtClean="0">
                <a:solidFill>
                  <a:srgbClr val="EE0076"/>
                </a:solidFill>
                <a:latin typeface="Arial" panose="020B0604020202020204" pitchFamily="34" charset="0"/>
              </a:rPr>
              <a:t>Генеративный AI не принимает решение об отправке.</a:t>
            </a:r>
            <a:endParaRPr lang="ru-RU" sz="2200" b="1">
              <a:solidFill>
                <a:srgbClr val="EE0076"/>
              </a:solidFill>
              <a:latin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8500" y="4940299"/>
            <a:ext cx="100330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mtClean="0">
                <a:solidFill>
                  <a:srgbClr val="60636E"/>
                </a:solidFill>
                <a:latin typeface="Arial" panose="020B0604020202020204" pitchFamily="34" charset="0"/>
              </a:rPr>
              <a:t>Текст берётся из проверенного шаблона и объясняет только факты о прошлом и настоящем.</a:t>
            </a:r>
            <a:endParaRPr lang="ru-RU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908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98500" y="279400"/>
            <a:ext cx="6604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 smtClean="0">
                <a:solidFill>
                  <a:srgbClr val="005CFF"/>
                </a:solidFill>
                <a:latin typeface="Arial" panose="020B0604020202020204" pitchFamily="34" charset="0"/>
              </a:rPr>
              <a:t>ДАННЫЕ</a:t>
            </a:r>
            <a:endParaRPr lang="ru-RU" sz="10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3" name="slide-title"/>
          <p:cNvSpPr txBox="1"/>
          <p:nvPr/>
        </p:nvSpPr>
        <p:spPr>
          <a:xfrm>
            <a:off x="698500" y="609599"/>
            <a:ext cx="10795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500" b="1" smtClean="0">
                <a:solidFill>
                  <a:srgbClr val="0A0A0E"/>
                </a:solidFill>
                <a:latin typeface="Arial" panose="020B0604020202020204" pitchFamily="34" charset="0"/>
              </a:rPr>
              <a:t>10 лет данных → 2 462 полные метки</a:t>
            </a:r>
            <a:endParaRPr lang="ru-RU" sz="35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footer-rule"/>
          <p:cNvCxnSpPr/>
          <p:nvPr/>
        </p:nvCxnSpPr>
        <p:spPr>
          <a:xfrm>
            <a:off x="698500" y="6350000"/>
            <a:ext cx="10795000" cy="0"/>
          </a:xfrm>
          <a:prstGeom prst="line">
            <a:avLst/>
          </a:prstGeom>
          <a:ln w="10160">
            <a:solidFill>
              <a:srgbClr val="DE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98500" y="64389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 smtClean="0">
                <a:solidFill>
                  <a:srgbClr val="91949E"/>
                </a:solidFill>
                <a:latin typeface="Arial" panose="020B0604020202020204" pitchFamily="34" charset="0"/>
              </a:rPr>
              <a:t>CIS TRADING  /  </a:t>
            </a:r>
            <a:r>
              <a:rPr lang="ru-RU" sz="800" b="1" smtClean="0">
                <a:solidFill>
                  <a:srgbClr val="91949E"/>
                </a:solidFill>
                <a:latin typeface="Arial" panose="020B0604020202020204" pitchFamily="34" charset="0"/>
              </a:rPr>
              <a:t>ПРОМЕЖУТОЧНЫЙ СТАТУС</a:t>
            </a:r>
            <a:endParaRPr lang="ru-RU" sz="800" b="1">
              <a:solidFill>
                <a:srgbClr val="91949E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22000" y="6413500"/>
            <a:ext cx="5715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00" b="1" smtClean="0">
                <a:solidFill>
                  <a:srgbClr val="60636E"/>
                </a:solidFill>
                <a:latin typeface="Arial" panose="020B0604020202020204" pitchFamily="34" charset="0"/>
              </a:rPr>
              <a:t>06</a:t>
            </a:r>
            <a:endParaRPr lang="ru-RU" sz="900" b="1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8500" y="1841499"/>
            <a:ext cx="22225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 b="1" smtClean="0">
                <a:solidFill>
                  <a:srgbClr val="005CFF"/>
                </a:solidFill>
                <a:latin typeface="Arial" panose="020B0604020202020204" pitchFamily="34" charset="0"/>
              </a:rPr>
              <a:t>2 468</a:t>
            </a:r>
            <a:endParaRPr lang="ru-RU" sz="34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8500" y="2539999"/>
            <a:ext cx="22225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 smtClean="0">
                <a:solidFill>
                  <a:srgbClr val="60636E"/>
                </a:solidFill>
                <a:latin typeface="Arial" panose="020B0604020202020204" pitchFamily="34" charset="0"/>
              </a:rPr>
              <a:t>наблюдений</a:t>
            </a:r>
            <a:endParaRPr lang="ru-RU" sz="16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8500" y="3251199"/>
            <a:ext cx="22225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 b="1" smtClean="0">
                <a:solidFill>
                  <a:srgbClr val="EE0076"/>
                </a:solidFill>
                <a:latin typeface="Arial" panose="020B0604020202020204" pitchFamily="34" charset="0"/>
              </a:rPr>
              <a:t>2 462</a:t>
            </a:r>
            <a:endParaRPr lang="ru-RU" sz="3400" b="1">
              <a:solidFill>
                <a:srgbClr val="EE0076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8500" y="3949699"/>
            <a:ext cx="22225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 smtClean="0">
                <a:solidFill>
                  <a:srgbClr val="60636E"/>
                </a:solidFill>
                <a:latin typeface="Arial" panose="020B0604020202020204" pitchFamily="34" charset="0"/>
              </a:rPr>
              <a:t>полные метки</a:t>
            </a:r>
            <a:endParaRPr lang="ru-RU" sz="16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8500" y="4660899"/>
            <a:ext cx="2540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 b="1" smtClean="0">
                <a:solidFill>
                  <a:srgbClr val="005CFF"/>
                </a:solidFill>
                <a:latin typeface="Arial" panose="020B0604020202020204" pitchFamily="34" charset="0"/>
              </a:rPr>
              <a:t>29,5%</a:t>
            </a:r>
            <a:endParaRPr lang="ru-RU" sz="34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8500" y="5359399"/>
            <a:ext cx="25400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 smtClean="0">
                <a:solidFill>
                  <a:srgbClr val="60636E"/>
                </a:solidFill>
                <a:latin typeface="Arial" panose="020B0604020202020204" pitchFamily="34" charset="0"/>
              </a:rPr>
              <a:t>дней </a:t>
            </a:r>
            <a:r>
              <a:rPr lang="en-US" sz="1600" smtClean="0">
                <a:solidFill>
                  <a:srgbClr val="60636E"/>
                </a:solidFill>
                <a:latin typeface="Arial" panose="020B0604020202020204" pitchFamily="34" charset="0"/>
              </a:rPr>
              <a:t>target_good_now = 1</a:t>
            </a:r>
            <a:endParaRPr lang="ru-RU" sz="16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64000" y="1714499"/>
            <a:ext cx="6096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 b="1" smtClean="0">
                <a:solidFill>
                  <a:srgbClr val="60636E"/>
                </a:solidFill>
                <a:latin typeface="Arial" panose="020B0604020202020204" pitchFamily="34" charset="0"/>
              </a:rPr>
              <a:t>02.09.2016 — 02.09.2026</a:t>
            </a:r>
            <a:endParaRPr lang="ru-RU" sz="1600" b="1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4064000" y="5080000"/>
            <a:ext cx="7429500" cy="0"/>
          </a:xfrm>
          <a:prstGeom prst="line">
            <a:avLst/>
          </a:prstGeom>
          <a:ln w="12700">
            <a:solidFill>
              <a:srgbClr val="DE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4064000" y="2349500"/>
            <a:ext cx="0" cy="2730500"/>
          </a:xfrm>
          <a:prstGeom prst="line">
            <a:avLst/>
          </a:prstGeom>
          <a:ln w="12700">
            <a:solidFill>
              <a:srgbClr val="DE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4064000" y="3043867"/>
            <a:ext cx="104641" cy="229598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 flipV="1">
            <a:off x="4168641" y="3221462"/>
            <a:ext cx="104641" cy="52003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4273282" y="3221462"/>
            <a:ext cx="104641" cy="345718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4377923" y="3567180"/>
            <a:ext cx="104640" cy="421641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4482563" y="3988821"/>
            <a:ext cx="104641" cy="261679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 flipV="1">
            <a:off x="4587204" y="3944688"/>
            <a:ext cx="104641" cy="305812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4691845" y="3944688"/>
            <a:ext cx="104641" cy="159192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4796486" y="4103880"/>
            <a:ext cx="104641" cy="79577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flipV="1">
            <a:off x="4901127" y="4075320"/>
            <a:ext cx="104641" cy="108137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5005768" y="4075320"/>
            <a:ext cx="104641" cy="196347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 flipV="1">
            <a:off x="5110409" y="4206430"/>
            <a:ext cx="104640" cy="65237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 flipV="1">
            <a:off x="5215049" y="3939507"/>
            <a:ext cx="104641" cy="266923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>
            <a:off x="5319690" y="3939507"/>
            <a:ext cx="104641" cy="36836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 flipV="1">
            <a:off x="5424331" y="3774390"/>
            <a:ext cx="104641" cy="201953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/>
          <p:nvPr/>
        </p:nvCxnSpPr>
        <p:spPr>
          <a:xfrm>
            <a:off x="5528972" y="3774390"/>
            <a:ext cx="104641" cy="111099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/>
          <p:nvPr/>
        </p:nvCxnSpPr>
        <p:spPr>
          <a:xfrm flipV="1">
            <a:off x="5633613" y="3840886"/>
            <a:ext cx="104641" cy="44603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>
            <a:off x="5738254" y="3840886"/>
            <a:ext cx="104641" cy="28210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5842895" y="3869096"/>
            <a:ext cx="104640" cy="163324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 flipV="1">
            <a:off x="5947535" y="3976292"/>
            <a:ext cx="104641" cy="56128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/>
          <p:nvPr/>
        </p:nvCxnSpPr>
        <p:spPr>
          <a:xfrm>
            <a:off x="6052176" y="3976292"/>
            <a:ext cx="104641" cy="62307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/>
          <p:nvPr/>
        </p:nvCxnSpPr>
        <p:spPr>
          <a:xfrm flipV="1">
            <a:off x="6156817" y="4023280"/>
            <a:ext cx="104641" cy="15319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>
            <a:off x="6261458" y="4023280"/>
            <a:ext cx="104641" cy="88368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/>
          <p:nvPr/>
        </p:nvCxnSpPr>
        <p:spPr>
          <a:xfrm flipV="1">
            <a:off x="6366099" y="4099443"/>
            <a:ext cx="104641" cy="12205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/>
          <p:nvPr/>
        </p:nvCxnSpPr>
        <p:spPr>
          <a:xfrm>
            <a:off x="6470740" y="4099443"/>
            <a:ext cx="104640" cy="106612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/>
          <p:cNvCxnSpPr/>
          <p:nvPr/>
        </p:nvCxnSpPr>
        <p:spPr>
          <a:xfrm flipV="1">
            <a:off x="6575380" y="3094243"/>
            <a:ext cx="104641" cy="1111812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/>
          <p:nvPr/>
        </p:nvCxnSpPr>
        <p:spPr>
          <a:xfrm>
            <a:off x="6680021" y="3094243"/>
            <a:ext cx="104641" cy="748734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/>
          <p:nvPr/>
        </p:nvCxnSpPr>
        <p:spPr>
          <a:xfrm>
            <a:off x="6784662" y="3842977"/>
            <a:ext cx="104641" cy="110572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/>
          <p:cNvCxnSpPr/>
          <p:nvPr/>
        </p:nvCxnSpPr>
        <p:spPr>
          <a:xfrm flipV="1">
            <a:off x="6889303" y="3689454"/>
            <a:ext cx="104641" cy="264095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/>
          <p:nvPr/>
        </p:nvCxnSpPr>
        <p:spPr>
          <a:xfrm flipV="1">
            <a:off x="6993944" y="3530586"/>
            <a:ext cx="104641" cy="158868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/>
          <p:nvPr/>
        </p:nvCxnSpPr>
        <p:spPr>
          <a:xfrm>
            <a:off x="7098585" y="3530586"/>
            <a:ext cx="104640" cy="626371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/>
          <p:cNvCxnSpPr/>
          <p:nvPr/>
        </p:nvCxnSpPr>
        <p:spPr>
          <a:xfrm flipV="1">
            <a:off x="7203225" y="4112697"/>
            <a:ext cx="104641" cy="44260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/>
          <p:nvPr/>
        </p:nvCxnSpPr>
        <p:spPr>
          <a:xfrm flipV="1">
            <a:off x="7307866" y="4078403"/>
            <a:ext cx="104641" cy="34294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/>
          <p:nvPr/>
        </p:nvCxnSpPr>
        <p:spPr>
          <a:xfrm>
            <a:off x="7412507" y="4078403"/>
            <a:ext cx="104641" cy="122065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/>
          <p:cNvCxnSpPr/>
          <p:nvPr/>
        </p:nvCxnSpPr>
        <p:spPr>
          <a:xfrm>
            <a:off x="7517148" y="4200468"/>
            <a:ext cx="104641" cy="35825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/>
          <p:cNvCxnSpPr/>
          <p:nvPr/>
        </p:nvCxnSpPr>
        <p:spPr>
          <a:xfrm flipV="1">
            <a:off x="7621789" y="4198382"/>
            <a:ext cx="104641" cy="37911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/>
          <p:cNvCxnSpPr/>
          <p:nvPr/>
        </p:nvCxnSpPr>
        <p:spPr>
          <a:xfrm>
            <a:off x="7726430" y="4198382"/>
            <a:ext cx="104640" cy="98272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/>
          <p:cNvCxnSpPr/>
          <p:nvPr/>
        </p:nvCxnSpPr>
        <p:spPr>
          <a:xfrm flipV="1">
            <a:off x="7831070" y="4159710"/>
            <a:ext cx="104641" cy="136944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V="1">
            <a:off x="7935711" y="3881720"/>
            <a:ext cx="104641" cy="277990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V="1">
            <a:off x="8040352" y="2626301"/>
            <a:ext cx="104641" cy="1255419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>
            <a:off x="8144993" y="2626301"/>
            <a:ext cx="104641" cy="2453699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/>
          <p:nvPr/>
        </p:nvCxnSpPr>
        <p:spPr>
          <a:xfrm flipV="1">
            <a:off x="8249634" y="4995166"/>
            <a:ext cx="104641" cy="84834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/>
          <p:nvPr/>
        </p:nvCxnSpPr>
        <p:spPr>
          <a:xfrm flipV="1">
            <a:off x="8354275" y="4620735"/>
            <a:ext cx="104640" cy="374431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flipV="1">
            <a:off x="8458915" y="4448613"/>
            <a:ext cx="104641" cy="172122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>
            <a:off x="8563556" y="4448613"/>
            <a:ext cx="104641" cy="73685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/>
          <p:nvPr/>
        </p:nvCxnSpPr>
        <p:spPr>
          <a:xfrm flipV="1">
            <a:off x="8668197" y="4069739"/>
            <a:ext cx="104641" cy="452559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 flipV="1">
            <a:off x="8772838" y="3862523"/>
            <a:ext cx="104641" cy="207216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 flipV="1">
            <a:off x="8877479" y="3857699"/>
            <a:ext cx="104641" cy="4824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 flipV="1">
            <a:off x="8982120" y="3255469"/>
            <a:ext cx="104641" cy="602230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 flipV="1">
            <a:off x="9086761" y="2887611"/>
            <a:ext cx="104641" cy="367858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V="1">
            <a:off x="9191402" y="2544995"/>
            <a:ext cx="104640" cy="342616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/>
          <p:nvPr/>
        </p:nvCxnSpPr>
        <p:spPr>
          <a:xfrm>
            <a:off x="9296042" y="2544995"/>
            <a:ext cx="104641" cy="625977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/>
          <p:cNvCxnSpPr/>
          <p:nvPr/>
        </p:nvCxnSpPr>
        <p:spPr>
          <a:xfrm>
            <a:off x="9400683" y="3170972"/>
            <a:ext cx="104641" cy="49257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/>
          <p:nvPr/>
        </p:nvCxnSpPr>
        <p:spPr>
          <a:xfrm flipV="1">
            <a:off x="9505324" y="3013235"/>
            <a:ext cx="104641" cy="206994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/>
          <p:cNvCxnSpPr/>
          <p:nvPr/>
        </p:nvCxnSpPr>
        <p:spPr>
          <a:xfrm flipV="1">
            <a:off x="9609965" y="2986588"/>
            <a:ext cx="104640" cy="26647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9714605" y="2986588"/>
            <a:ext cx="104641" cy="104985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единительная линия 70"/>
          <p:cNvCxnSpPr/>
          <p:nvPr/>
        </p:nvCxnSpPr>
        <p:spPr>
          <a:xfrm flipV="1">
            <a:off x="9819246" y="2947051"/>
            <a:ext cx="104641" cy="144522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единительная линия 71"/>
          <p:cNvCxnSpPr/>
          <p:nvPr/>
        </p:nvCxnSpPr>
        <p:spPr>
          <a:xfrm flipV="1">
            <a:off x="9923887" y="2685881"/>
            <a:ext cx="104641" cy="261170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единительная линия 72"/>
          <p:cNvCxnSpPr/>
          <p:nvPr/>
        </p:nvCxnSpPr>
        <p:spPr>
          <a:xfrm flipV="1">
            <a:off x="10028528" y="2349500"/>
            <a:ext cx="104641" cy="336381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единительная линия 73"/>
          <p:cNvCxnSpPr/>
          <p:nvPr/>
        </p:nvCxnSpPr>
        <p:spPr>
          <a:xfrm>
            <a:off x="10133169" y="2349500"/>
            <a:ext cx="104641" cy="30257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единительная линия 74"/>
          <p:cNvCxnSpPr/>
          <p:nvPr/>
        </p:nvCxnSpPr>
        <p:spPr>
          <a:xfrm>
            <a:off x="10237810" y="2379757"/>
            <a:ext cx="104641" cy="761447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/>
          <p:cNvCxnSpPr/>
          <p:nvPr/>
        </p:nvCxnSpPr>
        <p:spPr>
          <a:xfrm>
            <a:off x="10342451" y="3141204"/>
            <a:ext cx="104641" cy="244097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/>
          <p:cNvCxnSpPr/>
          <p:nvPr/>
        </p:nvCxnSpPr>
        <p:spPr>
          <a:xfrm flipV="1">
            <a:off x="10447092" y="3297708"/>
            <a:ext cx="104641" cy="87593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/>
          <p:cNvCxnSpPr/>
          <p:nvPr/>
        </p:nvCxnSpPr>
        <p:spPr>
          <a:xfrm flipV="1">
            <a:off x="10551733" y="2921504"/>
            <a:ext cx="104641" cy="376204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/>
          <p:cNvCxnSpPr/>
          <p:nvPr/>
        </p:nvCxnSpPr>
        <p:spPr>
          <a:xfrm flipV="1">
            <a:off x="10656374" y="2719907"/>
            <a:ext cx="104640" cy="201597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единительная линия 79"/>
          <p:cNvCxnSpPr/>
          <p:nvPr/>
        </p:nvCxnSpPr>
        <p:spPr>
          <a:xfrm>
            <a:off x="10761014" y="2719907"/>
            <a:ext cx="104641" cy="54170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единительная линия 80"/>
          <p:cNvCxnSpPr/>
          <p:nvPr/>
        </p:nvCxnSpPr>
        <p:spPr>
          <a:xfrm>
            <a:off x="10865655" y="2774077"/>
            <a:ext cx="104641" cy="247224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Прямая соединительная линия 81"/>
          <p:cNvCxnSpPr/>
          <p:nvPr/>
        </p:nvCxnSpPr>
        <p:spPr>
          <a:xfrm>
            <a:off x="10970296" y="3021301"/>
            <a:ext cx="104640" cy="90238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/>
          <p:cNvCxnSpPr/>
          <p:nvPr/>
        </p:nvCxnSpPr>
        <p:spPr>
          <a:xfrm>
            <a:off x="11074936" y="3111539"/>
            <a:ext cx="104641" cy="174067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/>
          <p:cNvCxnSpPr/>
          <p:nvPr/>
        </p:nvCxnSpPr>
        <p:spPr>
          <a:xfrm>
            <a:off x="11179577" y="3285606"/>
            <a:ext cx="104641" cy="25972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/>
          <p:cNvCxnSpPr/>
          <p:nvPr/>
        </p:nvCxnSpPr>
        <p:spPr>
          <a:xfrm flipV="1">
            <a:off x="11284218" y="2676765"/>
            <a:ext cx="104641" cy="634813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единительная линия 85"/>
          <p:cNvCxnSpPr/>
          <p:nvPr/>
        </p:nvCxnSpPr>
        <p:spPr>
          <a:xfrm flipV="1">
            <a:off x="11388859" y="2361762"/>
            <a:ext cx="104641" cy="315003"/>
          </a:xfrm>
          <a:prstGeom prst="line">
            <a:avLst/>
          </a:prstGeom>
          <a:ln w="1651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064000" y="5207000"/>
            <a:ext cx="762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smtClean="0">
                <a:solidFill>
                  <a:srgbClr val="91949E"/>
                </a:solidFill>
                <a:latin typeface="Arial" panose="020B0604020202020204" pitchFamily="34" charset="0"/>
              </a:rPr>
              <a:t>2016</a:t>
            </a:r>
            <a:endParaRPr lang="ru-RU" sz="1000">
              <a:solidFill>
                <a:srgbClr val="91949E"/>
              </a:solidFill>
              <a:latin typeface="Arial" panose="020B0604020202020204" pitchFamily="34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0731500" y="5207000"/>
            <a:ext cx="762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 smtClean="0">
                <a:solidFill>
                  <a:srgbClr val="91949E"/>
                </a:solidFill>
                <a:latin typeface="Arial" panose="020B0604020202020204" pitchFamily="34" charset="0"/>
              </a:rPr>
              <a:t>2026</a:t>
            </a:r>
            <a:endParaRPr lang="ru-RU" sz="1000">
              <a:solidFill>
                <a:srgbClr val="91949E"/>
              </a:solidFill>
              <a:latin typeface="Arial" panose="020B0604020202020204" pitchFamily="34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4064000" y="5600700"/>
            <a:ext cx="5461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smtClean="0">
                <a:solidFill>
                  <a:srgbClr val="60636E"/>
                </a:solidFill>
                <a:latin typeface="Arial" panose="020B0604020202020204" pitchFamily="34" charset="0"/>
              </a:rPr>
              <a:t>RUB за 1 TJS · ниже — выгоднее</a:t>
            </a:r>
            <a:endParaRPr lang="ru-RU" sz="12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234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98500" y="279400"/>
            <a:ext cx="6604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 smtClean="0">
                <a:solidFill>
                  <a:srgbClr val="005CFF"/>
                </a:solidFill>
                <a:latin typeface="Arial" panose="020B0604020202020204" pitchFamily="34" charset="0"/>
              </a:rPr>
              <a:t>ТЕКУЩИЙ СТАТУС</a:t>
            </a:r>
            <a:endParaRPr lang="ru-RU" sz="10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3" name="slide-title"/>
          <p:cNvSpPr txBox="1"/>
          <p:nvPr/>
        </p:nvSpPr>
        <p:spPr>
          <a:xfrm>
            <a:off x="698500" y="609599"/>
            <a:ext cx="10795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500" b="1" smtClean="0">
                <a:solidFill>
                  <a:srgbClr val="0A0A0E"/>
                </a:solidFill>
                <a:latin typeface="Arial" panose="020B0604020202020204" pitchFamily="34" charset="0"/>
              </a:rPr>
              <a:t>Pipeline от данных до baseline собран</a:t>
            </a:r>
            <a:endParaRPr lang="ru-RU" sz="35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footer-rule"/>
          <p:cNvCxnSpPr/>
          <p:nvPr/>
        </p:nvCxnSpPr>
        <p:spPr>
          <a:xfrm>
            <a:off x="698500" y="6350000"/>
            <a:ext cx="10795000" cy="0"/>
          </a:xfrm>
          <a:prstGeom prst="line">
            <a:avLst/>
          </a:prstGeom>
          <a:ln w="10160">
            <a:solidFill>
              <a:srgbClr val="DE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98500" y="64389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 smtClean="0">
                <a:solidFill>
                  <a:srgbClr val="91949E"/>
                </a:solidFill>
                <a:latin typeface="Arial" panose="020B0604020202020204" pitchFamily="34" charset="0"/>
              </a:rPr>
              <a:t>CIS TRADING  /  </a:t>
            </a:r>
            <a:r>
              <a:rPr lang="ru-RU" sz="800" b="1" smtClean="0">
                <a:solidFill>
                  <a:srgbClr val="91949E"/>
                </a:solidFill>
                <a:latin typeface="Arial" panose="020B0604020202020204" pitchFamily="34" charset="0"/>
              </a:rPr>
              <a:t>ПРОМЕЖУТОЧНЫЙ СТАТУС</a:t>
            </a:r>
            <a:endParaRPr lang="ru-RU" sz="800" b="1">
              <a:solidFill>
                <a:srgbClr val="91949E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22000" y="6413500"/>
            <a:ext cx="5715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00" b="1" smtClean="0">
                <a:solidFill>
                  <a:srgbClr val="60636E"/>
                </a:solidFill>
                <a:latin typeface="Arial" panose="020B0604020202020204" pitchFamily="34" charset="0"/>
              </a:rPr>
              <a:t>07</a:t>
            </a:r>
            <a:endParaRPr lang="ru-RU" sz="900" b="1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1155700" y="1866900"/>
            <a:ext cx="0" cy="3784600"/>
          </a:xfrm>
          <a:prstGeom prst="line">
            <a:avLst/>
          </a:prstGeom>
          <a:ln w="38100">
            <a:solidFill>
              <a:srgbClr val="DE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Овал 7"/>
          <p:cNvSpPr/>
          <p:nvPr/>
        </p:nvSpPr>
        <p:spPr>
          <a:xfrm>
            <a:off x="990600" y="1803400"/>
            <a:ext cx="330200" cy="330200"/>
          </a:xfrm>
          <a:prstGeom prst="ellipse">
            <a:avLst/>
          </a:prstGeom>
          <a:solidFill>
            <a:srgbClr val="00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054100" y="1828800"/>
            <a:ext cx="2032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300" b="1" smtClean="0">
                <a:solidFill>
                  <a:srgbClr val="FFFFFF"/>
                </a:solidFill>
                <a:latin typeface="Arial" panose="020B0604020202020204" pitchFamily="34" charset="0"/>
              </a:rPr>
              <a:t>✓</a:t>
            </a:r>
            <a:endParaRPr lang="ru-RU" sz="13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87500" y="1790699"/>
            <a:ext cx="88900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mtClean="0">
                <a:solidFill>
                  <a:srgbClr val="23242B"/>
                </a:solidFill>
                <a:latin typeface="Arial" panose="020B0604020202020204" pitchFamily="34" charset="0"/>
              </a:rPr>
              <a:t>Документация очищена и собрана в одном контракте</a:t>
            </a:r>
            <a:endParaRPr lang="ru-RU">
              <a:solidFill>
                <a:srgbClr val="23242B"/>
              </a:solidFill>
              <a:latin typeface="Arial" panose="020B0604020202020204" pitchFamily="34" charset="0"/>
            </a:endParaRPr>
          </a:p>
        </p:txBody>
      </p:sp>
      <p:sp>
        <p:nvSpPr>
          <p:cNvPr id="11" name="Овал 10"/>
          <p:cNvSpPr/>
          <p:nvPr/>
        </p:nvSpPr>
        <p:spPr>
          <a:xfrm>
            <a:off x="990600" y="2476500"/>
            <a:ext cx="330200" cy="330200"/>
          </a:xfrm>
          <a:prstGeom prst="ellipse">
            <a:avLst/>
          </a:prstGeom>
          <a:solidFill>
            <a:srgbClr val="00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54100" y="2501900"/>
            <a:ext cx="2032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300" b="1" smtClean="0">
                <a:solidFill>
                  <a:srgbClr val="FFFFFF"/>
                </a:solidFill>
                <a:latin typeface="Arial" panose="020B0604020202020204" pitchFamily="34" charset="0"/>
              </a:rPr>
              <a:t>✓</a:t>
            </a:r>
            <a:endParaRPr lang="ru-RU" sz="13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87500" y="2463799"/>
            <a:ext cx="88900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mtClean="0">
                <a:solidFill>
                  <a:srgbClr val="23242B"/>
                </a:solidFill>
                <a:latin typeface="Arial" panose="020B0604020202020204" pitchFamily="34" charset="0"/>
              </a:rPr>
              <a:t>Сборщик датасета работает повторяемо</a:t>
            </a:r>
            <a:endParaRPr lang="ru-RU">
              <a:solidFill>
                <a:srgbClr val="23242B"/>
              </a:solidFill>
              <a:latin typeface="Arial" panose="020B0604020202020204" pitchFamily="34" charset="0"/>
            </a:endParaRPr>
          </a:p>
        </p:txBody>
      </p:sp>
      <p:sp>
        <p:nvSpPr>
          <p:cNvPr id="14" name="Овал 13"/>
          <p:cNvSpPr/>
          <p:nvPr/>
        </p:nvSpPr>
        <p:spPr>
          <a:xfrm>
            <a:off x="990600" y="3149600"/>
            <a:ext cx="330200" cy="330200"/>
          </a:xfrm>
          <a:prstGeom prst="ellipse">
            <a:avLst/>
          </a:prstGeom>
          <a:solidFill>
            <a:srgbClr val="00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/>
          <p:cNvSpPr txBox="1"/>
          <p:nvPr/>
        </p:nvSpPr>
        <p:spPr>
          <a:xfrm>
            <a:off x="1054100" y="3175000"/>
            <a:ext cx="2032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300" b="1" smtClean="0">
                <a:solidFill>
                  <a:srgbClr val="FFFFFF"/>
                </a:solidFill>
                <a:latin typeface="Arial" panose="020B0604020202020204" pitchFamily="34" charset="0"/>
              </a:rPr>
              <a:t>✓</a:t>
            </a:r>
            <a:endParaRPr lang="ru-RU" sz="13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87500" y="3136899"/>
            <a:ext cx="88900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mtClean="0">
                <a:solidFill>
                  <a:srgbClr val="23242B"/>
                </a:solidFill>
                <a:latin typeface="Arial" panose="020B0604020202020204" pitchFamily="34" charset="0"/>
              </a:rPr>
              <a:t>Наблюдения и будущая разметка разделены</a:t>
            </a:r>
            <a:endParaRPr lang="ru-RU">
              <a:solidFill>
                <a:srgbClr val="23242B"/>
              </a:solidFill>
              <a:latin typeface="Arial" panose="020B0604020202020204" pitchFamily="34" charset="0"/>
            </a:endParaRPr>
          </a:p>
        </p:txBody>
      </p:sp>
      <p:sp>
        <p:nvSpPr>
          <p:cNvPr id="17" name="Овал 16"/>
          <p:cNvSpPr/>
          <p:nvPr/>
        </p:nvSpPr>
        <p:spPr>
          <a:xfrm>
            <a:off x="990600" y="3822700"/>
            <a:ext cx="330200" cy="330200"/>
          </a:xfrm>
          <a:prstGeom prst="ellipse">
            <a:avLst/>
          </a:prstGeom>
          <a:solidFill>
            <a:srgbClr val="00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/>
          <p:cNvSpPr txBox="1"/>
          <p:nvPr/>
        </p:nvSpPr>
        <p:spPr>
          <a:xfrm>
            <a:off x="1054100" y="3848100"/>
            <a:ext cx="2032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300" b="1" smtClean="0">
                <a:solidFill>
                  <a:srgbClr val="FFFFFF"/>
                </a:solidFill>
                <a:latin typeface="Arial" panose="020B0604020202020204" pitchFamily="34" charset="0"/>
              </a:rPr>
              <a:t>✓</a:t>
            </a:r>
            <a:endParaRPr lang="ru-RU" sz="13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87500" y="3809999"/>
            <a:ext cx="88900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mtClean="0">
                <a:solidFill>
                  <a:srgbClr val="23242B"/>
                </a:solidFill>
                <a:latin typeface="Arial" panose="020B0604020202020204" pitchFamily="34" charset="0"/>
              </a:rPr>
              <a:t>Тесты фиксируют критическую логику</a:t>
            </a:r>
            <a:endParaRPr lang="ru-RU">
              <a:solidFill>
                <a:srgbClr val="23242B"/>
              </a:solidFill>
              <a:latin typeface="Arial" panose="020B0604020202020204" pitchFamily="34" charset="0"/>
            </a:endParaRPr>
          </a:p>
        </p:txBody>
      </p:sp>
      <p:sp>
        <p:nvSpPr>
          <p:cNvPr id="20" name="Овал 19"/>
          <p:cNvSpPr/>
          <p:nvPr/>
        </p:nvSpPr>
        <p:spPr>
          <a:xfrm>
            <a:off x="990600" y="4495800"/>
            <a:ext cx="330200" cy="330200"/>
          </a:xfrm>
          <a:prstGeom prst="ellipse">
            <a:avLst/>
          </a:prstGeom>
          <a:solidFill>
            <a:srgbClr val="00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/>
          <p:cNvSpPr txBox="1"/>
          <p:nvPr/>
        </p:nvSpPr>
        <p:spPr>
          <a:xfrm>
            <a:off x="1054100" y="4521200"/>
            <a:ext cx="2032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300" b="1" smtClean="0">
                <a:solidFill>
                  <a:srgbClr val="FFFFFF"/>
                </a:solidFill>
                <a:latin typeface="Arial" panose="020B0604020202020204" pitchFamily="34" charset="0"/>
              </a:rPr>
              <a:t>✓</a:t>
            </a:r>
            <a:endParaRPr lang="ru-RU" sz="13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87500" y="4483099"/>
            <a:ext cx="88900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mtClean="0">
                <a:solidFill>
                  <a:srgbClr val="23242B"/>
                </a:solidFill>
                <a:latin typeface="Arial" panose="020B0604020202020204" pitchFamily="34" charset="0"/>
              </a:rPr>
              <a:t>Train / validation / test разделены по времени</a:t>
            </a:r>
            <a:endParaRPr lang="ru-RU">
              <a:solidFill>
                <a:srgbClr val="23242B"/>
              </a:solidFill>
              <a:latin typeface="Arial" panose="020B0604020202020204" pitchFamily="34" charset="0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990600" y="5168900"/>
            <a:ext cx="330200" cy="330200"/>
          </a:xfrm>
          <a:prstGeom prst="ellipse">
            <a:avLst/>
          </a:prstGeom>
          <a:solidFill>
            <a:srgbClr val="EE007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1054100" y="5194300"/>
            <a:ext cx="2032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300" b="1" smtClean="0">
                <a:solidFill>
                  <a:srgbClr val="FFFFFF"/>
                </a:solidFill>
                <a:latin typeface="Arial" panose="020B0604020202020204" pitchFamily="34" charset="0"/>
              </a:rPr>
              <a:t>✓</a:t>
            </a:r>
            <a:endParaRPr lang="ru-RU" sz="13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87500" y="5156199"/>
            <a:ext cx="88900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b="1" smtClean="0">
                <a:solidFill>
                  <a:srgbClr val="23242B"/>
                </a:solidFill>
                <a:latin typeface="Arial" panose="020B0604020202020204" pitchFamily="34" charset="0"/>
              </a:rPr>
              <a:t>Обучена первая логистическая регрессия</a:t>
            </a:r>
            <a:endParaRPr lang="ru-RU" b="1">
              <a:solidFill>
                <a:srgbClr val="23242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524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98500" y="279400"/>
            <a:ext cx="6604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005CFF"/>
                </a:solidFill>
                <a:latin typeface="Arial" panose="020B0604020202020204" pitchFamily="34" charset="0"/>
              </a:rPr>
              <a:t>BASELINE</a:t>
            </a:r>
            <a:endParaRPr lang="ru-RU" sz="10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3" name="slide-title"/>
          <p:cNvSpPr txBox="1"/>
          <p:nvPr/>
        </p:nvSpPr>
        <p:spPr>
          <a:xfrm>
            <a:off x="698500" y="609599"/>
            <a:ext cx="10795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500" b="1" smtClean="0">
                <a:solidFill>
                  <a:srgbClr val="0A0A0E"/>
                </a:solidFill>
                <a:latin typeface="Arial" panose="020B0604020202020204" pitchFamily="34" charset="0"/>
              </a:rPr>
              <a:t>Baseline проверен без утечки будущего</a:t>
            </a:r>
            <a:endParaRPr lang="ru-RU" sz="35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footer-rule"/>
          <p:cNvCxnSpPr/>
          <p:nvPr/>
        </p:nvCxnSpPr>
        <p:spPr>
          <a:xfrm>
            <a:off x="698500" y="6350000"/>
            <a:ext cx="10795000" cy="0"/>
          </a:xfrm>
          <a:prstGeom prst="line">
            <a:avLst/>
          </a:prstGeom>
          <a:ln w="10160">
            <a:solidFill>
              <a:srgbClr val="DE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98500" y="64389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 smtClean="0">
                <a:solidFill>
                  <a:srgbClr val="91949E"/>
                </a:solidFill>
                <a:latin typeface="Arial" panose="020B0604020202020204" pitchFamily="34" charset="0"/>
              </a:rPr>
              <a:t>CIS TRADING  /  </a:t>
            </a:r>
            <a:r>
              <a:rPr lang="ru-RU" sz="800" b="1" smtClean="0">
                <a:solidFill>
                  <a:srgbClr val="91949E"/>
                </a:solidFill>
                <a:latin typeface="Arial" panose="020B0604020202020204" pitchFamily="34" charset="0"/>
              </a:rPr>
              <a:t>ПРОМЕЖУТОЧНЫЙ СТАТУС</a:t>
            </a:r>
            <a:endParaRPr lang="ru-RU" sz="800" b="1">
              <a:solidFill>
                <a:srgbClr val="91949E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22000" y="6413500"/>
            <a:ext cx="5715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00" b="1" smtClean="0">
                <a:solidFill>
                  <a:srgbClr val="60636E"/>
                </a:solidFill>
                <a:latin typeface="Arial" panose="020B0604020202020204" pitchFamily="34" charset="0"/>
              </a:rPr>
              <a:t>08</a:t>
            </a:r>
            <a:endParaRPr lang="ru-RU" sz="900" b="1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8500" y="1765299"/>
            <a:ext cx="1651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4200" b="1" smtClean="0">
                <a:solidFill>
                  <a:srgbClr val="005CFF"/>
                </a:solidFill>
                <a:latin typeface="Arial" panose="020B0604020202020204" pitchFamily="34" charset="0"/>
              </a:rPr>
              <a:t>26</a:t>
            </a:r>
            <a:endParaRPr lang="ru-RU" sz="42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8500" y="2565399"/>
            <a:ext cx="31750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mtClean="0">
                <a:solidFill>
                  <a:srgbClr val="60636E"/>
                </a:solidFill>
                <a:latin typeface="Arial" panose="020B0604020202020204" pitchFamily="34" charset="0"/>
              </a:rPr>
              <a:t>признаков курса, динамики, диапазона, волатильности и календаря</a:t>
            </a:r>
            <a:endParaRPr lang="ru-RU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8500" y="4216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 smtClean="0">
                <a:solidFill>
                  <a:srgbClr val="EE0076"/>
                </a:solidFill>
                <a:latin typeface="Arial" panose="020B0604020202020204" pitchFamily="34" charset="0"/>
              </a:rPr>
              <a:t>X</a:t>
            </a:r>
            <a:endParaRPr lang="ru-RU" b="1">
              <a:solidFill>
                <a:srgbClr val="EE0076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9500" y="4216399"/>
            <a:ext cx="27940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b="1" smtClean="0">
                <a:solidFill>
                  <a:srgbClr val="0A0A0E"/>
                </a:solidFill>
                <a:latin typeface="Arial" panose="020B0604020202020204" pitchFamily="34" charset="0"/>
              </a:rPr>
              <a:t>текущий и прошлый курс</a:t>
            </a:r>
            <a:endParaRPr lang="ru-RU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8500" y="47624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 smtClean="0">
                <a:solidFill>
                  <a:srgbClr val="EE0076"/>
                </a:solidFill>
                <a:latin typeface="Arial" panose="020B0604020202020204" pitchFamily="34" charset="0"/>
              </a:rPr>
              <a:t>y</a:t>
            </a:r>
            <a:endParaRPr lang="ru-RU" b="1">
              <a:solidFill>
                <a:srgbClr val="EE0076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9500" y="4762499"/>
            <a:ext cx="2794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 smtClean="0">
                <a:solidFill>
                  <a:srgbClr val="0A0A0E"/>
                </a:solidFill>
                <a:latin typeface="Arial" panose="020B0604020202020204" pitchFamily="34" charset="0"/>
              </a:rPr>
              <a:t>target_good_now</a:t>
            </a:r>
            <a:endParaRPr lang="ru-RU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4445000" y="3048000"/>
            <a:ext cx="6731000" cy="0"/>
          </a:xfrm>
          <a:prstGeom prst="line">
            <a:avLst/>
          </a:prstGeom>
          <a:ln w="50800">
            <a:solidFill>
              <a:srgbClr val="DE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4445000" y="2908300"/>
            <a:ext cx="2603500" cy="279400"/>
          </a:xfrm>
          <a:prstGeom prst="rect">
            <a:avLst/>
          </a:prstGeom>
          <a:solidFill>
            <a:srgbClr val="00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/>
          <p:cNvSpPr txBox="1"/>
          <p:nvPr/>
        </p:nvSpPr>
        <p:spPr>
          <a:xfrm>
            <a:off x="4445000" y="3492500"/>
            <a:ext cx="2603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smtClean="0">
                <a:solidFill>
                  <a:srgbClr val="005CFF"/>
                </a:solidFill>
                <a:latin typeface="Arial" panose="020B0604020202020204" pitchFamily="34" charset="0"/>
              </a:rPr>
              <a:t>TRAIN</a:t>
            </a:r>
            <a:endParaRPr lang="ru-RU" sz="14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45000" y="3873499"/>
            <a:ext cx="2603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900" b="1" smtClean="0">
                <a:solidFill>
                  <a:srgbClr val="0A0A0E"/>
                </a:solidFill>
                <a:latin typeface="Arial" panose="020B0604020202020204" pitchFamily="34" charset="0"/>
              </a:rPr>
              <a:t>1 556 строк</a:t>
            </a:r>
            <a:endParaRPr lang="ru-RU" sz="19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45000" y="4292600"/>
            <a:ext cx="2603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 smtClean="0">
                <a:solidFill>
                  <a:srgbClr val="60636E"/>
                </a:solidFill>
                <a:latin typeface="Arial" panose="020B0604020202020204" pitchFamily="34" charset="0"/>
              </a:rPr>
              <a:t>2016–2022</a:t>
            </a:r>
            <a:endParaRPr lang="ru-RU" sz="14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7302500" y="2908300"/>
            <a:ext cx="2222500" cy="279400"/>
          </a:xfrm>
          <a:prstGeom prst="rect">
            <a:avLst/>
          </a:prstGeom>
          <a:solidFill>
            <a:srgbClr val="EE007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/>
          <p:cNvSpPr txBox="1"/>
          <p:nvPr/>
        </p:nvSpPr>
        <p:spPr>
          <a:xfrm>
            <a:off x="7302500" y="3492500"/>
            <a:ext cx="2222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smtClean="0">
                <a:solidFill>
                  <a:srgbClr val="EE0076"/>
                </a:solidFill>
                <a:latin typeface="Arial" panose="020B0604020202020204" pitchFamily="34" charset="0"/>
              </a:rPr>
              <a:t>VALIDATION</a:t>
            </a:r>
            <a:endParaRPr lang="ru-RU" sz="1400" b="1">
              <a:solidFill>
                <a:srgbClr val="EE0076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02500" y="3873499"/>
            <a:ext cx="2222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900" b="1" smtClean="0">
                <a:solidFill>
                  <a:srgbClr val="0A0A0E"/>
                </a:solidFill>
                <a:latin typeface="Arial" panose="020B0604020202020204" pitchFamily="34" charset="0"/>
              </a:rPr>
              <a:t>492 строки</a:t>
            </a:r>
            <a:endParaRPr lang="ru-RU" sz="19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02500" y="4292600"/>
            <a:ext cx="2222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 smtClean="0">
                <a:solidFill>
                  <a:srgbClr val="60636E"/>
                </a:solidFill>
                <a:latin typeface="Arial" panose="020B0604020202020204" pitchFamily="34" charset="0"/>
              </a:rPr>
              <a:t>2023–2024</a:t>
            </a:r>
            <a:endParaRPr lang="ru-RU" sz="14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9779000" y="2908300"/>
            <a:ext cx="1397000" cy="279400"/>
          </a:xfrm>
          <a:prstGeom prst="rect">
            <a:avLst/>
          </a:prstGeom>
          <a:solidFill>
            <a:srgbClr val="0A0A0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/>
          <p:cNvSpPr txBox="1"/>
          <p:nvPr/>
        </p:nvSpPr>
        <p:spPr>
          <a:xfrm>
            <a:off x="9779000" y="3492500"/>
            <a:ext cx="1397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smtClean="0">
                <a:solidFill>
                  <a:srgbClr val="0A0A0E"/>
                </a:solidFill>
                <a:latin typeface="Arial" panose="020B0604020202020204" pitchFamily="34" charset="0"/>
              </a:rPr>
              <a:t>TEST</a:t>
            </a:r>
            <a:endParaRPr lang="ru-RU" sz="14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779000" y="3873499"/>
            <a:ext cx="1397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900" b="1" smtClean="0">
                <a:solidFill>
                  <a:srgbClr val="0A0A0E"/>
                </a:solidFill>
                <a:latin typeface="Arial" panose="020B0604020202020204" pitchFamily="34" charset="0"/>
              </a:rPr>
              <a:t>406 строк</a:t>
            </a:r>
            <a:endParaRPr lang="ru-RU" sz="19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779000" y="4292600"/>
            <a:ext cx="1397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 smtClean="0">
                <a:solidFill>
                  <a:srgbClr val="60636E"/>
                </a:solidFill>
                <a:latin typeface="Arial" panose="020B0604020202020204" pitchFamily="34" charset="0"/>
              </a:rPr>
              <a:t>2025–2026</a:t>
            </a:r>
            <a:endParaRPr lang="ru-RU" sz="14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445000" y="5041899"/>
            <a:ext cx="67310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700" smtClean="0">
                <a:solidFill>
                  <a:srgbClr val="60636E"/>
                </a:solidFill>
                <a:latin typeface="Arial" panose="020B0604020202020204" pitchFamily="34" charset="0"/>
              </a:rPr>
              <a:t>Между периодами — разрыв не менее 5 календарных дней. Threshold выбран только на validation.</a:t>
            </a:r>
            <a:endParaRPr lang="ru-RU" sz="17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035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98500" y="279400"/>
            <a:ext cx="6604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 smtClean="0">
                <a:solidFill>
                  <a:srgbClr val="005CFF"/>
                </a:solidFill>
                <a:latin typeface="Arial" panose="020B0604020202020204" pitchFamily="34" charset="0"/>
              </a:rPr>
              <a:t>ПЕРВЫЕ РЕЗУЛЬТАТЫ</a:t>
            </a:r>
            <a:endParaRPr lang="ru-RU" sz="10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3" name="slide-title"/>
          <p:cNvSpPr txBox="1"/>
          <p:nvPr/>
        </p:nvSpPr>
        <p:spPr>
          <a:xfrm>
            <a:off x="698500" y="609599"/>
            <a:ext cx="10795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500" b="1" smtClean="0">
                <a:solidFill>
                  <a:srgbClr val="0A0A0E"/>
                </a:solidFill>
                <a:latin typeface="Arial" panose="020B0604020202020204" pitchFamily="34" charset="0"/>
              </a:rPr>
              <a:t>Сигнал есть. 90% precision — нет</a:t>
            </a:r>
            <a:endParaRPr lang="ru-RU" sz="35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footer-rule"/>
          <p:cNvCxnSpPr/>
          <p:nvPr/>
        </p:nvCxnSpPr>
        <p:spPr>
          <a:xfrm>
            <a:off x="698500" y="6350000"/>
            <a:ext cx="10795000" cy="0"/>
          </a:xfrm>
          <a:prstGeom prst="line">
            <a:avLst/>
          </a:prstGeom>
          <a:ln w="10160">
            <a:solidFill>
              <a:srgbClr val="DE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98500" y="64389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 smtClean="0">
                <a:solidFill>
                  <a:srgbClr val="91949E"/>
                </a:solidFill>
                <a:latin typeface="Arial" panose="020B0604020202020204" pitchFamily="34" charset="0"/>
              </a:rPr>
              <a:t>CIS TRADING  /  </a:t>
            </a:r>
            <a:r>
              <a:rPr lang="ru-RU" sz="800" b="1" smtClean="0">
                <a:solidFill>
                  <a:srgbClr val="91949E"/>
                </a:solidFill>
                <a:latin typeface="Arial" panose="020B0604020202020204" pitchFamily="34" charset="0"/>
              </a:rPr>
              <a:t>ПРОМЕЖУТОЧНЫЙ СТАТУС</a:t>
            </a:r>
            <a:endParaRPr lang="ru-RU" sz="800" b="1">
              <a:solidFill>
                <a:srgbClr val="91949E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22000" y="6413500"/>
            <a:ext cx="5715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00" b="1" smtClean="0">
                <a:solidFill>
                  <a:srgbClr val="60636E"/>
                </a:solidFill>
                <a:latin typeface="Arial" panose="020B0604020202020204" pitchFamily="34" charset="0"/>
              </a:rPr>
              <a:t>09</a:t>
            </a:r>
            <a:endParaRPr lang="ru-RU" sz="900" b="1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8500" y="1651000"/>
            <a:ext cx="3175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00" b="1" smtClean="0">
                <a:solidFill>
                  <a:srgbClr val="005CFF"/>
                </a:solidFill>
                <a:latin typeface="Arial" panose="020B0604020202020204" pitchFamily="34" charset="0"/>
              </a:rPr>
              <a:t>РАНЖИРОВАНИЕ</a:t>
            </a:r>
            <a:endParaRPr lang="ru-RU" sz="11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8500" y="1993899"/>
            <a:ext cx="2413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 b="1" smtClean="0">
                <a:solidFill>
                  <a:srgbClr val="005CFF"/>
                </a:solidFill>
                <a:latin typeface="Arial" panose="020B0604020202020204" pitchFamily="34" charset="0"/>
              </a:rPr>
              <a:t>0,831</a:t>
            </a:r>
            <a:endParaRPr lang="ru-RU" sz="34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8500" y="2692399"/>
            <a:ext cx="24130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smtClean="0">
                <a:solidFill>
                  <a:srgbClr val="60636E"/>
                </a:solidFill>
                <a:latin typeface="Arial" panose="020B0604020202020204" pitchFamily="34" charset="0"/>
              </a:rPr>
              <a:t>ROC AUC · validation</a:t>
            </a:r>
            <a:endParaRPr lang="ru-RU" sz="16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38500" y="1993899"/>
            <a:ext cx="2159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 b="1" smtClean="0">
                <a:solidFill>
                  <a:srgbClr val="EE0076"/>
                </a:solidFill>
                <a:latin typeface="Arial" panose="020B0604020202020204" pitchFamily="34" charset="0"/>
              </a:rPr>
              <a:t>0,779</a:t>
            </a:r>
            <a:endParaRPr lang="ru-RU" sz="3400" b="1">
              <a:solidFill>
                <a:srgbClr val="EE0076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38500" y="2692399"/>
            <a:ext cx="21590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smtClean="0">
                <a:solidFill>
                  <a:srgbClr val="60636E"/>
                </a:solidFill>
                <a:latin typeface="Arial" panose="020B0604020202020204" pitchFamily="34" charset="0"/>
              </a:rPr>
              <a:t>ROC AUC · test</a:t>
            </a:r>
            <a:endParaRPr lang="ru-RU" sz="16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5905500" y="1714500"/>
            <a:ext cx="0" cy="4000500"/>
          </a:xfrm>
          <a:prstGeom prst="line">
            <a:avLst/>
          </a:prstGeom>
          <a:ln w="12700">
            <a:solidFill>
              <a:srgbClr val="DE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13500" y="1651000"/>
            <a:ext cx="46355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00" b="1" smtClean="0">
                <a:solidFill>
                  <a:srgbClr val="EE0076"/>
                </a:solidFill>
                <a:latin typeface="Arial" panose="020B0604020202020204" pitchFamily="34" charset="0"/>
              </a:rPr>
              <a:t>ПРОДУКТОВАЯ ПРОВЕРКА · </a:t>
            </a:r>
            <a:r>
              <a:rPr lang="en-US" sz="1100" b="1" smtClean="0">
                <a:solidFill>
                  <a:srgbClr val="EE0076"/>
                </a:solidFill>
                <a:latin typeface="Arial" panose="020B0604020202020204" pitchFamily="34" charset="0"/>
              </a:rPr>
              <a:t>TEST</a:t>
            </a:r>
            <a:endParaRPr lang="ru-RU" sz="1100" b="1">
              <a:solidFill>
                <a:srgbClr val="EE0076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13500" y="2031999"/>
            <a:ext cx="19050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 b="1" smtClean="0">
                <a:solidFill>
                  <a:srgbClr val="DE3047"/>
                </a:solidFill>
                <a:latin typeface="Arial" panose="020B0604020202020204" pitchFamily="34" charset="0"/>
              </a:rPr>
              <a:t>51,4%</a:t>
            </a:r>
            <a:endParaRPr lang="ru-RU" sz="3400" b="1">
              <a:solidFill>
                <a:srgbClr val="DE3047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3500" y="2717799"/>
            <a:ext cx="2159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smtClean="0">
                <a:solidFill>
                  <a:srgbClr val="60636E"/>
                </a:solidFill>
                <a:latin typeface="Arial" panose="020B0604020202020204" pitchFamily="34" charset="0"/>
              </a:rPr>
              <a:t>target precision</a:t>
            </a:r>
            <a:endParaRPr lang="ru-RU" sz="15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6413500" y="3263900"/>
            <a:ext cx="4508500" cy="177800"/>
          </a:xfrm>
          <a:prstGeom prst="rect">
            <a:avLst/>
          </a:prstGeom>
          <a:solidFill>
            <a:srgbClr val="DEE0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6413500" y="3263900"/>
            <a:ext cx="2317369" cy="177800"/>
          </a:xfrm>
          <a:prstGeom prst="rect">
            <a:avLst/>
          </a:prstGeom>
          <a:solidFill>
            <a:srgbClr val="DE30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10471150" y="3136900"/>
            <a:ext cx="0" cy="444500"/>
          </a:xfrm>
          <a:prstGeom prst="line">
            <a:avLst/>
          </a:prstGeom>
          <a:ln w="25400">
            <a:solidFill>
              <a:srgbClr val="0A0A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071100" y="3632200"/>
            <a:ext cx="889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100" b="1" smtClean="0">
                <a:solidFill>
                  <a:srgbClr val="0A0A0E"/>
                </a:solidFill>
                <a:latin typeface="Arial" panose="020B0604020202020204" pitchFamily="34" charset="0"/>
              </a:rPr>
              <a:t>цель 90%</a:t>
            </a:r>
            <a:endParaRPr lang="ru-RU" sz="11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13500" y="4190999"/>
            <a:ext cx="1524000" cy="495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600" b="1" smtClean="0">
                <a:solidFill>
                  <a:srgbClr val="005CFF"/>
                </a:solidFill>
                <a:latin typeface="Arial" panose="020B0604020202020204" pitchFamily="34" charset="0"/>
              </a:rPr>
              <a:t>2,22×</a:t>
            </a:r>
            <a:endParaRPr lang="ru-RU" sz="26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13500" y="4711700"/>
            <a:ext cx="1651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60636E"/>
                </a:solidFill>
                <a:latin typeface="Arial" panose="020B0604020202020204" pitchFamily="34" charset="0"/>
              </a:rPr>
              <a:t>target lift</a:t>
            </a:r>
            <a:endParaRPr lang="ru-RU" sz="14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99500" y="4190999"/>
            <a:ext cx="1524000" cy="495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600" b="1" smtClean="0">
                <a:solidFill>
                  <a:srgbClr val="DE3047"/>
                </a:solidFill>
                <a:latin typeface="Arial" panose="020B0604020202020204" pitchFamily="34" charset="0"/>
              </a:rPr>
              <a:t>0,95×</a:t>
            </a:r>
            <a:endParaRPr lang="ru-RU" sz="2600" b="1">
              <a:solidFill>
                <a:srgbClr val="DE3047"/>
              </a:solidFill>
              <a:latin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99500" y="4711700"/>
            <a:ext cx="1651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60636E"/>
                </a:solidFill>
                <a:latin typeface="Arial" panose="020B0604020202020204" pitchFamily="34" charset="0"/>
              </a:rPr>
              <a:t>message lift</a:t>
            </a:r>
            <a:endParaRPr lang="ru-RU" sz="14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8500" y="5206999"/>
            <a:ext cx="482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700" b="1" smtClean="0">
                <a:solidFill>
                  <a:srgbClr val="0A0A0E"/>
                </a:solidFill>
                <a:latin typeface="Arial" panose="020B0604020202020204" pitchFamily="34" charset="0"/>
              </a:rPr>
              <a:t>Порог 0,606 · 37 сигналов · 0,44 в неделю</a:t>
            </a:r>
            <a:endParaRPr lang="ru-RU" sz="17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707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98500" y="279400"/>
            <a:ext cx="6604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 smtClean="0">
                <a:solidFill>
                  <a:srgbClr val="005CFF"/>
                </a:solidFill>
                <a:latin typeface="Arial" panose="020B0604020202020204" pitchFamily="34" charset="0"/>
              </a:rPr>
              <a:t>ИНТЕРПРЕТАЦИЯ</a:t>
            </a:r>
            <a:endParaRPr lang="ru-RU" sz="10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3" name="slide-title"/>
          <p:cNvSpPr txBox="1"/>
          <p:nvPr/>
        </p:nvSpPr>
        <p:spPr>
          <a:xfrm>
            <a:off x="698500" y="609599"/>
            <a:ext cx="10795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500" b="1" smtClean="0">
                <a:solidFill>
                  <a:srgbClr val="0A0A0E"/>
                </a:solidFill>
                <a:latin typeface="Arial" panose="020B0604020202020204" pitchFamily="34" charset="0"/>
              </a:rPr>
              <a:t>Ранжирование есть. Доверия пока нет</a:t>
            </a:r>
            <a:endParaRPr lang="ru-RU" sz="35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footer-rule"/>
          <p:cNvCxnSpPr/>
          <p:nvPr/>
        </p:nvCxnSpPr>
        <p:spPr>
          <a:xfrm>
            <a:off x="698500" y="6350000"/>
            <a:ext cx="10795000" cy="0"/>
          </a:xfrm>
          <a:prstGeom prst="line">
            <a:avLst/>
          </a:prstGeom>
          <a:ln w="10160">
            <a:solidFill>
              <a:srgbClr val="DE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98500" y="64389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 smtClean="0">
                <a:solidFill>
                  <a:srgbClr val="91949E"/>
                </a:solidFill>
                <a:latin typeface="Arial" panose="020B0604020202020204" pitchFamily="34" charset="0"/>
              </a:rPr>
              <a:t>CIS TRADING  /  </a:t>
            </a:r>
            <a:r>
              <a:rPr lang="ru-RU" sz="800" b="1" smtClean="0">
                <a:solidFill>
                  <a:srgbClr val="91949E"/>
                </a:solidFill>
                <a:latin typeface="Arial" panose="020B0604020202020204" pitchFamily="34" charset="0"/>
              </a:rPr>
              <a:t>ПРОМЕЖУТОЧНЫЙ СТАТУС</a:t>
            </a:r>
            <a:endParaRPr lang="ru-RU" sz="800" b="1">
              <a:solidFill>
                <a:srgbClr val="91949E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22000" y="6413500"/>
            <a:ext cx="5715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00" b="1" smtClean="0">
                <a:solidFill>
                  <a:srgbClr val="60636E"/>
                </a:solidFill>
                <a:latin typeface="Arial" panose="020B0604020202020204" pitchFamily="34" charset="0"/>
              </a:rPr>
              <a:t>10</a:t>
            </a:r>
            <a:endParaRPr lang="ru-RU" sz="900" b="1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698500" y="1803400"/>
            <a:ext cx="4953000" cy="3505200"/>
          </a:xfrm>
          <a:prstGeom prst="roundRect">
            <a:avLst/>
          </a:prstGeom>
          <a:solidFill>
            <a:srgbClr val="F4F5F8"/>
          </a:solidFill>
          <a:ln w="12700">
            <a:solidFill>
              <a:srgbClr val="DEE0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1041400" y="2146300"/>
            <a:ext cx="3556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b="1" smtClean="0">
                <a:solidFill>
                  <a:srgbClr val="005CFF"/>
                </a:solidFill>
                <a:latin typeface="Arial" panose="020B0604020202020204" pitchFamily="34" charset="0"/>
              </a:rPr>
              <a:t>ЕСТЬ СИГНАЛ</a:t>
            </a:r>
            <a:endParaRPr lang="ru-RU" sz="12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1400" y="2679699"/>
            <a:ext cx="38100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 smtClean="0">
                <a:solidFill>
                  <a:srgbClr val="0A0A0E"/>
                </a:solidFill>
                <a:latin typeface="Arial" panose="020B0604020202020204" pitchFamily="34" charset="0"/>
              </a:rPr>
              <a:t>AUC </a:t>
            </a:r>
            <a:r>
              <a:rPr lang="ru-RU" sz="2200" b="1" smtClean="0">
                <a:solidFill>
                  <a:srgbClr val="0A0A0E"/>
                </a:solidFill>
                <a:latin typeface="Arial" panose="020B0604020202020204" pitchFamily="34" charset="0"/>
              </a:rPr>
              <a:t>выше случайного</a:t>
            </a:r>
            <a:endParaRPr lang="ru-RU" sz="22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1400" y="3289299"/>
            <a:ext cx="40005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mtClean="0">
                <a:solidFill>
                  <a:srgbClr val="60636E"/>
                </a:solidFill>
                <a:latin typeface="Arial" panose="020B0604020202020204" pitchFamily="34" charset="0"/>
              </a:rPr>
              <a:t>Дни с высоким </a:t>
            </a:r>
            <a:r>
              <a:rPr lang="en-US" smtClean="0">
                <a:solidFill>
                  <a:srgbClr val="60636E"/>
                </a:solidFill>
                <a:latin typeface="Arial" panose="020B0604020202020204" pitchFamily="34" charset="0"/>
              </a:rPr>
              <a:t>score </a:t>
            </a:r>
            <a:r>
              <a:rPr lang="ru-RU" smtClean="0">
                <a:solidFill>
                  <a:srgbClr val="60636E"/>
                </a:solidFill>
                <a:latin typeface="Arial" panose="020B0604020202020204" pitchFamily="34" charset="0"/>
              </a:rPr>
              <a:t>чаще попадают в </a:t>
            </a:r>
            <a:r>
              <a:rPr lang="en-US" smtClean="0">
                <a:solidFill>
                  <a:srgbClr val="60636E"/>
                </a:solidFill>
                <a:latin typeface="Arial" panose="020B0604020202020204" pitchFamily="34" charset="0"/>
              </a:rPr>
              <a:t>target_good_now: target lift = 2,22.</a:t>
            </a:r>
            <a:endParaRPr lang="ru-RU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1400" y="4533899"/>
            <a:ext cx="3810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b="1" smtClean="0">
                <a:solidFill>
                  <a:srgbClr val="005CFF"/>
                </a:solidFill>
                <a:latin typeface="Arial" panose="020B0604020202020204" pitchFamily="34" charset="0"/>
              </a:rPr>
              <a:t>Технический </a:t>
            </a:r>
            <a:r>
              <a:rPr lang="en-US" b="1" smtClean="0">
                <a:solidFill>
                  <a:srgbClr val="005CFF"/>
                </a:solidFill>
                <a:latin typeface="Arial" panose="020B0604020202020204" pitchFamily="34" charset="0"/>
              </a:rPr>
              <a:t>pipeline </a:t>
            </a:r>
            <a:r>
              <a:rPr lang="ru-RU" b="1" smtClean="0">
                <a:solidFill>
                  <a:srgbClr val="005CFF"/>
                </a:solidFill>
                <a:latin typeface="Arial" panose="020B0604020202020204" pitchFamily="34" charset="0"/>
              </a:rPr>
              <a:t>собран.</a:t>
            </a:r>
            <a:endParaRPr lang="ru-RU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5969000" y="1803400"/>
            <a:ext cx="5524500" cy="3505200"/>
          </a:xfrm>
          <a:prstGeom prst="roundRect">
            <a:avLst/>
          </a:prstGeom>
          <a:solidFill>
            <a:srgbClr val="0A0A0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6350000" y="2146300"/>
            <a:ext cx="4572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b="1" smtClean="0">
                <a:solidFill>
                  <a:srgbClr val="EE0076"/>
                </a:solidFill>
                <a:latin typeface="Arial" panose="020B0604020202020204" pitchFamily="34" charset="0"/>
              </a:rPr>
              <a:t>НЕТ ПРОДУКТОВОЙ НАДЁЖНОСТИ</a:t>
            </a:r>
            <a:endParaRPr lang="ru-RU" sz="1200" b="1">
              <a:solidFill>
                <a:srgbClr val="EE0076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0000" y="2679699"/>
            <a:ext cx="44450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400" b="1" smtClean="0">
                <a:solidFill>
                  <a:srgbClr val="FFFFFF"/>
                </a:solidFill>
                <a:latin typeface="Arial" panose="020B0604020202020204" pitchFamily="34" charset="0"/>
              </a:rPr>
              <a:t>Каждый второй пуш ошибочен</a:t>
            </a:r>
            <a:endParaRPr lang="ru-RU" sz="2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50000" y="3568699"/>
            <a:ext cx="4508500" cy="142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mtClean="0">
                <a:solidFill>
                  <a:srgbClr val="FFFFFF"/>
                </a:solidFill>
                <a:latin typeface="Arial" panose="020B0604020202020204" pitchFamily="34" charset="0"/>
              </a:rPr>
              <a:t>51,4% precision против минимальных 90%; message lift ниже 1 — выбранные дни не лучше случайного дня по правдивости сообщения.</a:t>
            </a:r>
            <a:endParaRPr lang="ru-RU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235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98500" y="279400"/>
            <a:ext cx="6604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 smtClean="0">
                <a:solidFill>
                  <a:srgbClr val="005CFF"/>
                </a:solidFill>
                <a:latin typeface="Arial" panose="020B0604020202020204" pitchFamily="34" charset="0"/>
              </a:rPr>
              <a:t>ДЕМОНСТРАЦИЯ</a:t>
            </a:r>
            <a:endParaRPr lang="ru-RU" sz="10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3" name="slide-title"/>
          <p:cNvSpPr txBox="1"/>
          <p:nvPr/>
        </p:nvSpPr>
        <p:spPr>
          <a:xfrm>
            <a:off x="698500" y="609599"/>
            <a:ext cx="10795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500" b="1" smtClean="0">
                <a:solidFill>
                  <a:srgbClr val="0A0A0E"/>
                </a:solidFill>
                <a:latin typeface="Arial" panose="020B0604020202020204" pitchFamily="34" charset="0"/>
              </a:rPr>
              <a:t>На test успехи вперемешку с ошибками</a:t>
            </a:r>
            <a:endParaRPr lang="ru-RU" sz="35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footer-rule"/>
          <p:cNvCxnSpPr/>
          <p:nvPr/>
        </p:nvCxnSpPr>
        <p:spPr>
          <a:xfrm>
            <a:off x="698500" y="6350000"/>
            <a:ext cx="10795000" cy="0"/>
          </a:xfrm>
          <a:prstGeom prst="line">
            <a:avLst/>
          </a:prstGeom>
          <a:ln w="10160">
            <a:solidFill>
              <a:srgbClr val="DE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98500" y="64389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 smtClean="0">
                <a:solidFill>
                  <a:srgbClr val="91949E"/>
                </a:solidFill>
                <a:latin typeface="Arial" panose="020B0604020202020204" pitchFamily="34" charset="0"/>
              </a:rPr>
              <a:t>CIS TRADING  /  </a:t>
            </a:r>
            <a:r>
              <a:rPr lang="ru-RU" sz="800" b="1" smtClean="0">
                <a:solidFill>
                  <a:srgbClr val="91949E"/>
                </a:solidFill>
                <a:latin typeface="Arial" panose="020B0604020202020204" pitchFamily="34" charset="0"/>
              </a:rPr>
              <a:t>ПРОМЕЖУТОЧНЫЙ СТАТУС</a:t>
            </a:r>
            <a:endParaRPr lang="ru-RU" sz="800" b="1">
              <a:solidFill>
                <a:srgbClr val="91949E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22000" y="6413500"/>
            <a:ext cx="5715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00" b="1" smtClean="0">
                <a:solidFill>
                  <a:srgbClr val="60636E"/>
                </a:solidFill>
                <a:latin typeface="Arial" panose="020B0604020202020204" pitchFamily="34" charset="0"/>
              </a:rPr>
              <a:t>11</a:t>
            </a:r>
            <a:endParaRPr lang="ru-RU" sz="900" b="1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pic>
        <p:nvPicPr>
          <p:cNvPr id="7" name="notebook-signal-chart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676400"/>
            <a:ext cx="10795000" cy="3873500"/>
          </a:xfrm>
          <a:prstGeom prst="rect">
            <a:avLst/>
          </a:prstGeom>
          <a:ln>
            <a:solidFill>
              <a:srgbClr val="DEE0E6"/>
            </a:solidFill>
          </a:ln>
        </p:spPr>
      </p:pic>
      <p:sp>
        <p:nvSpPr>
          <p:cNvPr id="8" name="Овал 7"/>
          <p:cNvSpPr/>
          <p:nvPr/>
        </p:nvSpPr>
        <p:spPr>
          <a:xfrm>
            <a:off x="698500" y="5829300"/>
            <a:ext cx="114300" cy="114300"/>
          </a:xfrm>
          <a:prstGeom prst="ellipse">
            <a:avLst/>
          </a:prstGeom>
          <a:solidFill>
            <a:srgbClr val="009E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914400" y="5740399"/>
            <a:ext cx="1651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 smtClean="0">
                <a:solidFill>
                  <a:srgbClr val="60636E"/>
                </a:solidFill>
                <a:latin typeface="Arial" panose="020B0604020202020204" pitchFamily="34" charset="0"/>
              </a:rPr>
              <a:t>верный </a:t>
            </a:r>
            <a:r>
              <a:rPr lang="en-US" sz="1300" smtClean="0">
                <a:solidFill>
                  <a:srgbClr val="60636E"/>
                </a:solidFill>
                <a:latin typeface="Arial" panose="020B0604020202020204" pitchFamily="34" charset="0"/>
              </a:rPr>
              <a:t>target</a:t>
            </a:r>
            <a:endParaRPr lang="ru-RU" sz="13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21000" y="5702299"/>
            <a:ext cx="2032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700" b="1" smtClean="0">
                <a:solidFill>
                  <a:srgbClr val="DE3047"/>
                </a:solidFill>
                <a:latin typeface="Arial" panose="020B0604020202020204" pitchFamily="34" charset="0"/>
              </a:rPr>
              <a:t>×</a:t>
            </a:r>
            <a:endParaRPr lang="ru-RU" sz="1700" b="1">
              <a:solidFill>
                <a:srgbClr val="DE3047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87700" y="5740399"/>
            <a:ext cx="114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 smtClean="0">
                <a:solidFill>
                  <a:srgbClr val="60636E"/>
                </a:solidFill>
                <a:latin typeface="Arial" panose="020B0604020202020204" pitchFamily="34" charset="0"/>
              </a:rPr>
              <a:t>ошибка</a:t>
            </a:r>
            <a:endParaRPr lang="ru-RU" sz="13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92900" y="5740399"/>
            <a:ext cx="48006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400" b="1" smtClean="0">
                <a:solidFill>
                  <a:srgbClr val="0A0A0E"/>
                </a:solidFill>
                <a:latin typeface="Arial" panose="020B0604020202020204" pitchFamily="34" charset="0"/>
              </a:rPr>
              <a:t>37 сигналов · 19 target-hit · без просмотра test</a:t>
            </a:r>
            <a:endParaRPr lang="ru-RU" sz="14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049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98500" y="279400"/>
            <a:ext cx="6604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 smtClean="0">
                <a:solidFill>
                  <a:srgbClr val="005CFF"/>
                </a:solidFill>
                <a:latin typeface="Arial" panose="020B0604020202020204" pitchFamily="34" charset="0"/>
              </a:rPr>
              <a:t>РИСКИ</a:t>
            </a:r>
            <a:endParaRPr lang="ru-RU" sz="10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3" name="slide-title"/>
          <p:cNvSpPr txBox="1"/>
          <p:nvPr/>
        </p:nvSpPr>
        <p:spPr>
          <a:xfrm>
            <a:off x="698500" y="609599"/>
            <a:ext cx="10795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500" b="1" smtClean="0">
                <a:solidFill>
                  <a:srgbClr val="0A0A0E"/>
                </a:solidFill>
                <a:latin typeface="Arial" panose="020B0604020202020204" pitchFamily="34" charset="0"/>
              </a:rPr>
              <a:t>Главный риск — оптимизировать не тот target</a:t>
            </a:r>
            <a:endParaRPr lang="ru-RU" sz="35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footer-rule"/>
          <p:cNvCxnSpPr/>
          <p:nvPr/>
        </p:nvCxnSpPr>
        <p:spPr>
          <a:xfrm>
            <a:off x="698500" y="6350000"/>
            <a:ext cx="10795000" cy="0"/>
          </a:xfrm>
          <a:prstGeom prst="line">
            <a:avLst/>
          </a:prstGeom>
          <a:ln w="10160">
            <a:solidFill>
              <a:srgbClr val="DE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98500" y="64389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 smtClean="0">
                <a:solidFill>
                  <a:srgbClr val="91949E"/>
                </a:solidFill>
                <a:latin typeface="Arial" panose="020B0604020202020204" pitchFamily="34" charset="0"/>
              </a:rPr>
              <a:t>CIS TRADING  /  </a:t>
            </a:r>
            <a:r>
              <a:rPr lang="ru-RU" sz="800" b="1" smtClean="0">
                <a:solidFill>
                  <a:srgbClr val="91949E"/>
                </a:solidFill>
                <a:latin typeface="Arial" panose="020B0604020202020204" pitchFamily="34" charset="0"/>
              </a:rPr>
              <a:t>ПРОМЕЖУТОЧНЫЙ СТАТУС</a:t>
            </a:r>
            <a:endParaRPr lang="ru-RU" sz="800" b="1">
              <a:solidFill>
                <a:srgbClr val="91949E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22000" y="6413500"/>
            <a:ext cx="5715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00" b="1" smtClean="0">
                <a:solidFill>
                  <a:srgbClr val="60636E"/>
                </a:solidFill>
                <a:latin typeface="Arial" panose="020B0604020202020204" pitchFamily="34" charset="0"/>
              </a:rPr>
              <a:t>12</a:t>
            </a:r>
            <a:endParaRPr lang="ru-RU" sz="900" b="1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8500" y="1778000"/>
            <a:ext cx="4445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00" b="1" smtClean="0">
                <a:solidFill>
                  <a:srgbClr val="EE0076"/>
                </a:solidFill>
                <a:latin typeface="Arial" panose="020B0604020202020204" pitchFamily="34" charset="0"/>
              </a:rPr>
              <a:t>МЕТРИКА И ДАННЫЕ</a:t>
            </a:r>
            <a:endParaRPr lang="ru-RU" sz="1100" b="1">
              <a:solidFill>
                <a:srgbClr val="EE0076"/>
              </a:solidFill>
              <a:latin typeface="Arial" panose="020B0604020202020204" pitchFamily="34" charset="0"/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698500" y="2324100"/>
            <a:ext cx="88900" cy="88900"/>
          </a:xfrm>
          <a:prstGeom prst="ellipse">
            <a:avLst/>
          </a:prstGeom>
          <a:solidFill>
            <a:srgbClr val="EE007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952500" y="2222499"/>
            <a:ext cx="45720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900" smtClean="0">
                <a:solidFill>
                  <a:srgbClr val="23242B"/>
                </a:solidFill>
                <a:latin typeface="Arial" panose="020B0604020202020204" pitchFamily="34" charset="0"/>
              </a:rPr>
              <a:t>target_good_now ≠ </a:t>
            </a:r>
            <a:r>
              <a:rPr lang="ru-RU" sz="1900" smtClean="0">
                <a:solidFill>
                  <a:srgbClr val="23242B"/>
                </a:solidFill>
                <a:latin typeface="Arial" panose="020B0604020202020204" pitchFamily="34" charset="0"/>
              </a:rPr>
              <a:t>гарантия </a:t>
            </a:r>
            <a:r>
              <a:rPr lang="en-US" sz="1900" smtClean="0">
                <a:solidFill>
                  <a:srgbClr val="23242B"/>
                </a:solidFill>
                <a:latin typeface="Arial" panose="020B0604020202020204" pitchFamily="34" charset="0"/>
              </a:rPr>
              <a:t>message_hit</a:t>
            </a:r>
            <a:endParaRPr lang="ru-RU" sz="1900">
              <a:solidFill>
                <a:srgbClr val="23242B"/>
              </a:solidFill>
              <a:latin typeface="Arial" panose="020B0604020202020204" pitchFamily="34" charset="0"/>
            </a:endParaRPr>
          </a:p>
        </p:txBody>
      </p:sp>
      <p:sp>
        <p:nvSpPr>
          <p:cNvPr id="10" name="Овал 9"/>
          <p:cNvSpPr/>
          <p:nvPr/>
        </p:nvSpPr>
        <p:spPr>
          <a:xfrm>
            <a:off x="698500" y="3213100"/>
            <a:ext cx="88900" cy="88900"/>
          </a:xfrm>
          <a:prstGeom prst="ellipse">
            <a:avLst/>
          </a:prstGeom>
          <a:solidFill>
            <a:srgbClr val="EE007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52500" y="3111499"/>
            <a:ext cx="45720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900" smtClean="0">
                <a:solidFill>
                  <a:srgbClr val="23242B"/>
                </a:solidFill>
                <a:latin typeface="Arial" panose="020B0604020202020204" pitchFamily="34" charset="0"/>
              </a:rPr>
              <a:t>Один коридор и ограниченный объём данных</a:t>
            </a:r>
            <a:endParaRPr lang="ru-RU" sz="1900">
              <a:solidFill>
                <a:srgbClr val="23242B"/>
              </a:solidFill>
              <a:latin typeface="Arial" panose="020B0604020202020204" pitchFamily="34" charset="0"/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698500" y="4102100"/>
            <a:ext cx="88900" cy="88900"/>
          </a:xfrm>
          <a:prstGeom prst="ellipse">
            <a:avLst/>
          </a:prstGeom>
          <a:solidFill>
            <a:srgbClr val="EE007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952500" y="4000499"/>
            <a:ext cx="45720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900" smtClean="0">
                <a:solidFill>
                  <a:srgbClr val="23242B"/>
                </a:solidFill>
                <a:latin typeface="Arial" panose="020B0604020202020204" pitchFamily="34" charset="0"/>
              </a:rPr>
              <a:t>Рыночные режимы меняются</a:t>
            </a:r>
            <a:endParaRPr lang="ru-RU" sz="1900">
              <a:solidFill>
                <a:srgbClr val="23242B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13500" y="1778000"/>
            <a:ext cx="4826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00" b="1" smtClean="0">
                <a:solidFill>
                  <a:srgbClr val="005CFF"/>
                </a:solidFill>
                <a:latin typeface="Arial" panose="020B0604020202020204" pitchFamily="34" charset="0"/>
              </a:rPr>
              <a:t>ВАЛИДАЦИЯ И ДОСТАВКА</a:t>
            </a:r>
            <a:endParaRPr lang="ru-RU" sz="11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6413500" y="2324100"/>
            <a:ext cx="88900" cy="88900"/>
          </a:xfrm>
          <a:prstGeom prst="ellipse">
            <a:avLst/>
          </a:prstGeom>
          <a:solidFill>
            <a:srgbClr val="00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6667500" y="2222499"/>
            <a:ext cx="46355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900" smtClean="0">
                <a:solidFill>
                  <a:srgbClr val="23242B"/>
                </a:solidFill>
                <a:latin typeface="Arial" panose="020B0604020202020204" pitchFamily="34" charset="0"/>
              </a:rPr>
              <a:t>Leakage в признаках или временном split</a:t>
            </a:r>
            <a:endParaRPr lang="ru-RU" sz="1900">
              <a:solidFill>
                <a:srgbClr val="23242B"/>
              </a:solidFill>
              <a:latin typeface="Arial" panose="020B0604020202020204" pitchFamily="34" charset="0"/>
            </a:endParaRPr>
          </a:p>
        </p:txBody>
      </p:sp>
      <p:sp>
        <p:nvSpPr>
          <p:cNvPr id="17" name="Овал 16"/>
          <p:cNvSpPr/>
          <p:nvPr/>
        </p:nvSpPr>
        <p:spPr>
          <a:xfrm>
            <a:off x="6413500" y="3213100"/>
            <a:ext cx="88900" cy="88900"/>
          </a:xfrm>
          <a:prstGeom prst="ellipse">
            <a:avLst/>
          </a:prstGeom>
          <a:solidFill>
            <a:srgbClr val="00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/>
          <p:cNvSpPr txBox="1"/>
          <p:nvPr/>
        </p:nvSpPr>
        <p:spPr>
          <a:xfrm>
            <a:off x="6667500" y="3111499"/>
            <a:ext cx="46355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900" smtClean="0">
                <a:solidFill>
                  <a:srgbClr val="23242B"/>
                </a:solidFill>
                <a:latin typeface="Arial" panose="020B0604020202020204" pitchFamily="34" charset="0"/>
              </a:rPr>
              <a:t>Сигналы могут идти сериями</a:t>
            </a:r>
            <a:endParaRPr lang="ru-RU" sz="1900">
              <a:solidFill>
                <a:srgbClr val="23242B"/>
              </a:solidFill>
              <a:latin typeface="Arial" panose="020B0604020202020204" pitchFamily="34" charset="0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413500" y="4102100"/>
            <a:ext cx="88900" cy="88900"/>
          </a:xfrm>
          <a:prstGeom prst="ellipse">
            <a:avLst/>
          </a:prstGeom>
          <a:solidFill>
            <a:srgbClr val="00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6667500" y="4000499"/>
            <a:ext cx="46355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900" smtClean="0">
                <a:solidFill>
                  <a:srgbClr val="23242B"/>
                </a:solidFill>
                <a:latin typeface="Arial" panose="020B0604020202020204" pitchFamily="34" charset="0"/>
              </a:rPr>
              <a:t>Высокий threshold → слишком редкие пуши</a:t>
            </a:r>
            <a:endParaRPr lang="ru-RU" sz="1900">
              <a:solidFill>
                <a:srgbClr val="23242B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8500" y="5486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000" b="1" smtClean="0">
                <a:solidFill>
                  <a:srgbClr val="0A0A0E"/>
                </a:solidFill>
                <a:latin typeface="Arial" panose="020B0604020202020204" pitchFamily="34" charset="0"/>
              </a:rPr>
              <a:t>Отдельно: курс ЦБ не равен фактическому банковскому курсу перевода.</a:t>
            </a:r>
            <a:endParaRPr lang="ru-RU" sz="20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978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98500" y="279400"/>
            <a:ext cx="6604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 smtClean="0">
                <a:solidFill>
                  <a:srgbClr val="005CFF"/>
                </a:solidFill>
                <a:latin typeface="Arial" panose="020B0604020202020204" pitchFamily="34" charset="0"/>
              </a:rPr>
              <a:t>ДО ФИНАЛЬНОЙ ЗАЩИТЫ</a:t>
            </a:r>
            <a:endParaRPr lang="ru-RU" sz="10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3" name="slide-title"/>
          <p:cNvSpPr txBox="1"/>
          <p:nvPr/>
        </p:nvSpPr>
        <p:spPr>
          <a:xfrm>
            <a:off x="698500" y="609599"/>
            <a:ext cx="10795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500" b="1" smtClean="0">
                <a:solidFill>
                  <a:srgbClr val="0A0A0E"/>
                </a:solidFill>
                <a:latin typeface="Arial" panose="020B0604020202020204" pitchFamily="34" charset="0"/>
              </a:rPr>
              <a:t>Следующий цикл: оптимизировать </a:t>
            </a:r>
            <a:r>
              <a:rPr lang="en-US" sz="3500" b="1" smtClean="0">
                <a:solidFill>
                  <a:srgbClr val="0A0A0E"/>
                </a:solidFill>
                <a:latin typeface="Arial" panose="020B0604020202020204" pitchFamily="34" charset="0"/>
              </a:rPr>
              <a:t>message_hit</a:t>
            </a:r>
            <a:endParaRPr lang="ru-RU" sz="35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footer-rule"/>
          <p:cNvCxnSpPr/>
          <p:nvPr/>
        </p:nvCxnSpPr>
        <p:spPr>
          <a:xfrm>
            <a:off x="698500" y="6350000"/>
            <a:ext cx="10795000" cy="0"/>
          </a:xfrm>
          <a:prstGeom prst="line">
            <a:avLst/>
          </a:prstGeom>
          <a:ln w="10160">
            <a:solidFill>
              <a:srgbClr val="DE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98500" y="64389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 smtClean="0">
                <a:solidFill>
                  <a:srgbClr val="91949E"/>
                </a:solidFill>
                <a:latin typeface="Arial" panose="020B0604020202020204" pitchFamily="34" charset="0"/>
              </a:rPr>
              <a:t>CIS TRADING  /  </a:t>
            </a:r>
            <a:r>
              <a:rPr lang="ru-RU" sz="800" b="1" smtClean="0">
                <a:solidFill>
                  <a:srgbClr val="91949E"/>
                </a:solidFill>
                <a:latin typeface="Arial" panose="020B0604020202020204" pitchFamily="34" charset="0"/>
              </a:rPr>
              <a:t>ПРОМЕЖУТОЧНЫЙ СТАТУС</a:t>
            </a:r>
            <a:endParaRPr lang="ru-RU" sz="800" b="1">
              <a:solidFill>
                <a:srgbClr val="91949E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22000" y="6413500"/>
            <a:ext cx="5715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00" b="1" smtClean="0">
                <a:solidFill>
                  <a:srgbClr val="60636E"/>
                </a:solidFill>
                <a:latin typeface="Arial" panose="020B0604020202020204" pitchFamily="34" charset="0"/>
              </a:rPr>
              <a:t>13</a:t>
            </a:r>
            <a:endParaRPr lang="ru-RU" sz="900" b="1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2171700" y="3035300"/>
            <a:ext cx="292100" cy="0"/>
          </a:xfrm>
          <a:prstGeom prst="line">
            <a:avLst/>
          </a:prstGeom>
          <a:ln w="16510">
            <a:solidFill>
              <a:srgbClr val="91949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98500" y="2057399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b="1" smtClean="0">
                <a:solidFill>
                  <a:srgbClr val="EE0076"/>
                </a:solidFill>
                <a:latin typeface="Arial" panose="020B0604020202020204" pitchFamily="34" charset="0"/>
              </a:rPr>
              <a:t>01</a:t>
            </a:r>
            <a:endParaRPr lang="ru-RU" sz="1200" b="1">
              <a:solidFill>
                <a:srgbClr val="EE0076"/>
              </a:solidFill>
              <a:latin typeface="Arial" panose="020B0604020202020204" pitchFamily="34" charset="0"/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698500" y="2527300"/>
            <a:ext cx="1473200" cy="0"/>
          </a:xfrm>
          <a:prstGeom prst="line">
            <a:avLst/>
          </a:prstGeom>
          <a:ln w="50800">
            <a:solidFill>
              <a:srgbClr val="EE00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8500" y="2768599"/>
            <a:ext cx="14732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 b="1" smtClean="0">
                <a:solidFill>
                  <a:srgbClr val="0A0A0E"/>
                </a:solidFill>
                <a:latin typeface="Arial" panose="020B0604020202020204" pitchFamily="34" charset="0"/>
              </a:rPr>
              <a:t>Уточнить </a:t>
            </a:r>
            <a:r>
              <a:rPr lang="en-US" sz="1600" b="1" smtClean="0">
                <a:solidFill>
                  <a:srgbClr val="0A0A0E"/>
                </a:solidFill>
                <a:latin typeface="Arial" panose="020B0604020202020204" pitchFamily="34" charset="0"/>
              </a:rPr>
              <a:t>ML-</a:t>
            </a:r>
            <a:r>
              <a:rPr lang="ru-RU" sz="1600" b="1" smtClean="0">
                <a:solidFill>
                  <a:srgbClr val="0A0A0E"/>
                </a:solidFill>
                <a:latin typeface="Arial" panose="020B0604020202020204" pitchFamily="34" charset="0"/>
              </a:rPr>
              <a:t>цель</a:t>
            </a:r>
            <a:endParaRPr lang="ru-RU" sz="16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8500" y="3530599"/>
            <a:ext cx="14732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 smtClean="0">
                <a:solidFill>
                  <a:srgbClr val="60636E"/>
                </a:solidFill>
                <a:latin typeface="Arial" panose="020B0604020202020204" pitchFamily="34" charset="0"/>
              </a:rPr>
              <a:t>фокус на </a:t>
            </a:r>
            <a:r>
              <a:rPr lang="en-US" sz="1400" smtClean="0">
                <a:solidFill>
                  <a:srgbClr val="60636E"/>
                </a:solidFill>
                <a:latin typeface="Arial" panose="020B0604020202020204" pitchFamily="34" charset="0"/>
              </a:rPr>
              <a:t>message_hit</a:t>
            </a:r>
            <a:endParaRPr lang="ru-RU" sz="14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4013200" y="3035300"/>
            <a:ext cx="292100" cy="0"/>
          </a:xfrm>
          <a:prstGeom prst="line">
            <a:avLst/>
          </a:prstGeom>
          <a:ln w="16510">
            <a:solidFill>
              <a:srgbClr val="91949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540000" y="2057399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b="1" smtClean="0">
                <a:solidFill>
                  <a:srgbClr val="005CFF"/>
                </a:solidFill>
                <a:latin typeface="Arial" panose="020B0604020202020204" pitchFamily="34" charset="0"/>
              </a:rPr>
              <a:t>02</a:t>
            </a:r>
            <a:endParaRPr lang="ru-RU" sz="12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2540000" y="2527300"/>
            <a:ext cx="1473200" cy="0"/>
          </a:xfrm>
          <a:prstGeom prst="line">
            <a:avLst/>
          </a:prstGeom>
          <a:ln w="50800">
            <a:solidFill>
              <a:srgbClr val="005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540000" y="2768599"/>
            <a:ext cx="14732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 b="1" smtClean="0">
                <a:solidFill>
                  <a:srgbClr val="0A0A0E"/>
                </a:solidFill>
                <a:latin typeface="Arial" panose="020B0604020202020204" pitchFamily="34" charset="0"/>
              </a:rPr>
              <a:t>Сравнить подходы</a:t>
            </a:r>
            <a:endParaRPr lang="ru-RU" sz="16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40000" y="3530599"/>
            <a:ext cx="14732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60636E"/>
                </a:solidFill>
                <a:latin typeface="Arial" panose="020B0604020202020204" pitchFamily="34" charset="0"/>
              </a:rPr>
              <a:t>2-stage + </a:t>
            </a:r>
            <a:r>
              <a:rPr lang="ru-RU" sz="1400" smtClean="0">
                <a:solidFill>
                  <a:srgbClr val="60636E"/>
                </a:solidFill>
                <a:latin typeface="Arial" panose="020B0604020202020204" pitchFamily="34" charset="0"/>
              </a:rPr>
              <a:t>сильные модели</a:t>
            </a:r>
            <a:endParaRPr lang="ru-RU" sz="14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5854700" y="3035300"/>
            <a:ext cx="292100" cy="0"/>
          </a:xfrm>
          <a:prstGeom prst="line">
            <a:avLst/>
          </a:prstGeom>
          <a:ln w="16510">
            <a:solidFill>
              <a:srgbClr val="91949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81500" y="2057399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b="1" smtClean="0">
                <a:solidFill>
                  <a:srgbClr val="005CFF"/>
                </a:solidFill>
                <a:latin typeface="Arial" panose="020B0604020202020204" pitchFamily="34" charset="0"/>
              </a:rPr>
              <a:t>03</a:t>
            </a:r>
            <a:endParaRPr lang="ru-RU" sz="12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>
            <a:off x="4381500" y="2527300"/>
            <a:ext cx="1473200" cy="0"/>
          </a:xfrm>
          <a:prstGeom prst="line">
            <a:avLst/>
          </a:prstGeom>
          <a:ln w="50800">
            <a:solidFill>
              <a:srgbClr val="005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381500" y="2768599"/>
            <a:ext cx="14732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 smtClean="0">
                <a:solidFill>
                  <a:srgbClr val="0A0A0E"/>
                </a:solidFill>
                <a:latin typeface="Arial" panose="020B0604020202020204" pitchFamily="34" charset="0"/>
              </a:rPr>
              <a:t>Walk-forward</a:t>
            </a:r>
            <a:endParaRPr lang="ru-RU" sz="16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81500" y="3530599"/>
            <a:ext cx="14732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 smtClean="0">
                <a:solidFill>
                  <a:srgbClr val="60636E"/>
                </a:solidFill>
                <a:latin typeface="Arial" panose="020B0604020202020204" pitchFamily="34" charset="0"/>
              </a:rPr>
              <a:t>несколько временных окон</a:t>
            </a:r>
            <a:endParaRPr lang="ru-RU" sz="14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7696200" y="3035300"/>
            <a:ext cx="292100" cy="0"/>
          </a:xfrm>
          <a:prstGeom prst="line">
            <a:avLst/>
          </a:prstGeom>
          <a:ln w="16510">
            <a:solidFill>
              <a:srgbClr val="91949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23000" y="2057399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b="1" smtClean="0">
                <a:solidFill>
                  <a:srgbClr val="005CFF"/>
                </a:solidFill>
                <a:latin typeface="Arial" panose="020B0604020202020204" pitchFamily="34" charset="0"/>
              </a:rPr>
              <a:t>04</a:t>
            </a:r>
            <a:endParaRPr lang="ru-RU" sz="12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cxnSp>
        <p:nvCxnSpPr>
          <p:cNvPr id="24" name="Прямая соединительная линия 23"/>
          <p:cNvCxnSpPr/>
          <p:nvPr/>
        </p:nvCxnSpPr>
        <p:spPr>
          <a:xfrm>
            <a:off x="6223000" y="2527300"/>
            <a:ext cx="1473200" cy="0"/>
          </a:xfrm>
          <a:prstGeom prst="line">
            <a:avLst/>
          </a:prstGeom>
          <a:ln w="50800">
            <a:solidFill>
              <a:srgbClr val="005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23000" y="2768599"/>
            <a:ext cx="14732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 b="1" smtClean="0">
                <a:solidFill>
                  <a:srgbClr val="0A0A0E"/>
                </a:solidFill>
                <a:latin typeface="Arial" panose="020B0604020202020204" pitchFamily="34" charset="0"/>
              </a:rPr>
              <a:t>Настроить </a:t>
            </a:r>
            <a:r>
              <a:rPr lang="en-US" sz="1600" b="1" smtClean="0">
                <a:solidFill>
                  <a:srgbClr val="0A0A0E"/>
                </a:solidFill>
                <a:latin typeface="Arial" panose="020B0604020202020204" pitchFamily="34" charset="0"/>
              </a:rPr>
              <a:t>policy</a:t>
            </a:r>
            <a:endParaRPr lang="ru-RU" sz="16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23000" y="3530599"/>
            <a:ext cx="14732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60636E"/>
                </a:solidFill>
                <a:latin typeface="Arial" panose="020B0604020202020204" pitchFamily="34" charset="0"/>
              </a:rPr>
              <a:t>threshold / frequency / cooldown</a:t>
            </a:r>
            <a:endParaRPr lang="ru-RU" sz="14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cxnSp>
        <p:nvCxnSpPr>
          <p:cNvPr id="27" name="Прямая соединительная линия 26"/>
          <p:cNvCxnSpPr/>
          <p:nvPr/>
        </p:nvCxnSpPr>
        <p:spPr>
          <a:xfrm>
            <a:off x="9537700" y="3035300"/>
            <a:ext cx="292100" cy="0"/>
          </a:xfrm>
          <a:prstGeom prst="line">
            <a:avLst/>
          </a:prstGeom>
          <a:ln w="16510">
            <a:solidFill>
              <a:srgbClr val="91949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064500" y="2057399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b="1" smtClean="0">
                <a:solidFill>
                  <a:srgbClr val="005CFF"/>
                </a:solidFill>
                <a:latin typeface="Arial" panose="020B0604020202020204" pitchFamily="34" charset="0"/>
              </a:rPr>
              <a:t>05</a:t>
            </a:r>
            <a:endParaRPr lang="ru-RU" sz="12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cxnSp>
        <p:nvCxnSpPr>
          <p:cNvPr id="29" name="Прямая соединительная линия 28"/>
          <p:cNvCxnSpPr/>
          <p:nvPr/>
        </p:nvCxnSpPr>
        <p:spPr>
          <a:xfrm>
            <a:off x="8064500" y="2527300"/>
            <a:ext cx="1473200" cy="0"/>
          </a:xfrm>
          <a:prstGeom prst="line">
            <a:avLst/>
          </a:prstGeom>
          <a:ln w="50800">
            <a:solidFill>
              <a:srgbClr val="005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064500" y="2768599"/>
            <a:ext cx="14732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 b="1" smtClean="0">
                <a:solidFill>
                  <a:srgbClr val="0A0A0E"/>
                </a:solidFill>
                <a:latin typeface="Arial" panose="020B0604020202020204" pitchFamily="34" charset="0"/>
              </a:rPr>
              <a:t>Добавить объяснение</a:t>
            </a:r>
            <a:endParaRPr lang="ru-RU" sz="16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64500" y="3530599"/>
            <a:ext cx="14732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 smtClean="0">
                <a:solidFill>
                  <a:srgbClr val="60636E"/>
                </a:solidFill>
                <a:latin typeface="Arial" panose="020B0604020202020204" pitchFamily="34" charset="0"/>
              </a:rPr>
              <a:t>факт + </a:t>
            </a:r>
            <a:r>
              <a:rPr lang="en-US" sz="1400" smtClean="0">
                <a:solidFill>
                  <a:srgbClr val="60636E"/>
                </a:solidFill>
                <a:latin typeface="Arial" panose="020B0604020202020204" pitchFamily="34" charset="0"/>
              </a:rPr>
              <a:t>reason code</a:t>
            </a:r>
            <a:endParaRPr lang="ru-RU" sz="14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906000" y="2057399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b="1" smtClean="0">
                <a:solidFill>
                  <a:srgbClr val="005CFF"/>
                </a:solidFill>
                <a:latin typeface="Arial" panose="020B0604020202020204" pitchFamily="34" charset="0"/>
              </a:rPr>
              <a:t>06</a:t>
            </a:r>
            <a:endParaRPr lang="ru-RU" sz="12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cxnSp>
        <p:nvCxnSpPr>
          <p:cNvPr id="33" name="Прямая соединительная линия 32"/>
          <p:cNvCxnSpPr/>
          <p:nvPr/>
        </p:nvCxnSpPr>
        <p:spPr>
          <a:xfrm>
            <a:off x="9906000" y="2527300"/>
            <a:ext cx="1473200" cy="0"/>
          </a:xfrm>
          <a:prstGeom prst="line">
            <a:avLst/>
          </a:prstGeom>
          <a:ln w="50800">
            <a:solidFill>
              <a:srgbClr val="005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906000" y="2768599"/>
            <a:ext cx="14732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 b="1" smtClean="0">
                <a:solidFill>
                  <a:srgbClr val="0A0A0E"/>
                </a:solidFill>
                <a:latin typeface="Arial" panose="020B0604020202020204" pitchFamily="34" charset="0"/>
              </a:rPr>
              <a:t>Собрать демо</a:t>
            </a:r>
            <a:endParaRPr lang="ru-RU" sz="16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906000" y="3530599"/>
            <a:ext cx="14732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 smtClean="0">
                <a:solidFill>
                  <a:srgbClr val="60636E"/>
                </a:solidFill>
                <a:latin typeface="Arial" panose="020B0604020202020204" pitchFamily="34" charset="0"/>
              </a:rPr>
              <a:t>сценарий и финальная оценка</a:t>
            </a:r>
            <a:endParaRPr lang="ru-RU" sz="14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36" name="Скругленный прямоугольник 35"/>
          <p:cNvSpPr/>
          <p:nvPr/>
        </p:nvSpPr>
        <p:spPr>
          <a:xfrm>
            <a:off x="698500" y="4838700"/>
            <a:ext cx="10795000" cy="825500"/>
          </a:xfrm>
          <a:prstGeom prst="roundRect">
            <a:avLst/>
          </a:prstGeom>
          <a:solidFill>
            <a:srgbClr val="0A0A0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/>
          <p:cNvSpPr txBox="1"/>
          <p:nvPr/>
        </p:nvSpPr>
        <p:spPr>
          <a:xfrm>
            <a:off x="977900" y="5105400"/>
            <a:ext cx="762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 smtClean="0">
                <a:solidFill>
                  <a:srgbClr val="EE0076"/>
                </a:solidFill>
                <a:latin typeface="Arial" panose="020B0604020202020204" pitchFamily="34" charset="0"/>
              </a:rPr>
              <a:t>GATE</a:t>
            </a:r>
            <a:endParaRPr lang="ru-RU" sz="1200" b="1">
              <a:solidFill>
                <a:srgbClr val="EE0076"/>
              </a:solidFill>
              <a:latin typeface="Arial" panose="020B060402020202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905000" y="5041899"/>
            <a:ext cx="9144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900" b="1" smtClean="0">
                <a:solidFill>
                  <a:srgbClr val="FFFFFF"/>
                </a:solidFill>
                <a:latin typeface="Arial" panose="020B0604020202020204" pitchFamily="34" charset="0"/>
              </a:rPr>
              <a:t>precision ≥ 90%  ·  message lift ≥ 1,3  ·  </a:t>
            </a:r>
            <a:r>
              <a:rPr lang="ru-RU" sz="1900" b="1" smtClean="0">
                <a:solidFill>
                  <a:srgbClr val="FFFFFF"/>
                </a:solidFill>
                <a:latin typeface="Arial" panose="020B0604020202020204" pitchFamily="34" charset="0"/>
              </a:rPr>
              <a:t>частота проверена после </a:t>
            </a:r>
            <a:r>
              <a:rPr lang="en-US" sz="1900" b="1" smtClean="0">
                <a:solidFill>
                  <a:srgbClr val="FFFFFF"/>
                </a:solidFill>
                <a:latin typeface="Arial" panose="020B0604020202020204" pitchFamily="34" charset="0"/>
              </a:rPr>
              <a:t>cooldown</a:t>
            </a:r>
            <a:endParaRPr lang="ru-RU" sz="19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598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98500" y="279400"/>
            <a:ext cx="6604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 smtClean="0">
                <a:solidFill>
                  <a:srgbClr val="005CFF"/>
                </a:solidFill>
                <a:latin typeface="Arial" panose="020B0604020202020204" pitchFamily="34" charset="0"/>
              </a:rPr>
              <a:t>КОМАНДА</a:t>
            </a:r>
            <a:endParaRPr lang="ru-RU" sz="10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3" name="slide-title"/>
          <p:cNvSpPr txBox="1"/>
          <p:nvPr/>
        </p:nvSpPr>
        <p:spPr>
          <a:xfrm>
            <a:off x="698500" y="609599"/>
            <a:ext cx="10795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500" b="1" smtClean="0">
                <a:solidFill>
                  <a:srgbClr val="0A0A0E"/>
                </a:solidFill>
                <a:latin typeface="Arial" panose="020B0604020202020204" pitchFamily="34" charset="0"/>
              </a:rPr>
              <a:t>Команда объединена критерием правдивости</a:t>
            </a:r>
            <a:endParaRPr lang="ru-RU" sz="35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footer-rule"/>
          <p:cNvCxnSpPr/>
          <p:nvPr/>
        </p:nvCxnSpPr>
        <p:spPr>
          <a:xfrm>
            <a:off x="698500" y="6350000"/>
            <a:ext cx="10795000" cy="0"/>
          </a:xfrm>
          <a:prstGeom prst="line">
            <a:avLst/>
          </a:prstGeom>
          <a:ln w="10160">
            <a:solidFill>
              <a:srgbClr val="DE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98500" y="64389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 smtClean="0">
                <a:solidFill>
                  <a:srgbClr val="91949E"/>
                </a:solidFill>
                <a:latin typeface="Arial" panose="020B0604020202020204" pitchFamily="34" charset="0"/>
              </a:rPr>
              <a:t>CIS TRADING  /  </a:t>
            </a:r>
            <a:r>
              <a:rPr lang="ru-RU" sz="800" b="1" smtClean="0">
                <a:solidFill>
                  <a:srgbClr val="91949E"/>
                </a:solidFill>
                <a:latin typeface="Arial" panose="020B0604020202020204" pitchFamily="34" charset="0"/>
              </a:rPr>
              <a:t>ПРОМЕЖУТОЧНЫЙ СТАТУС</a:t>
            </a:r>
            <a:endParaRPr lang="ru-RU" sz="800" b="1">
              <a:solidFill>
                <a:srgbClr val="91949E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22000" y="6413500"/>
            <a:ext cx="5715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00" b="1" smtClean="0">
                <a:solidFill>
                  <a:srgbClr val="60636E"/>
                </a:solidFill>
                <a:latin typeface="Arial" panose="020B0604020202020204" pitchFamily="34" charset="0"/>
              </a:rPr>
              <a:t>14</a:t>
            </a:r>
            <a:endParaRPr lang="ru-RU" sz="900" b="1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8500" y="1841499"/>
            <a:ext cx="3111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100" b="1" smtClean="0">
                <a:solidFill>
                  <a:srgbClr val="0A0A0E"/>
                </a:solidFill>
                <a:latin typeface="Arial" panose="020B0604020202020204" pitchFamily="34" charset="0"/>
              </a:rPr>
              <a:t>Обухов Илья</a:t>
            </a:r>
            <a:endParaRPr lang="ru-RU" sz="21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00500" y="1841499"/>
            <a:ext cx="1778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 smtClean="0">
                <a:solidFill>
                  <a:srgbClr val="EE0076"/>
                </a:solidFill>
                <a:latin typeface="Arial" panose="020B0604020202020204" pitchFamily="34" charset="0"/>
              </a:rPr>
              <a:t>AI Product</a:t>
            </a:r>
            <a:endParaRPr lang="ru-RU" sz="1500" b="1">
              <a:solidFill>
                <a:srgbClr val="EE0076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59500" y="1841499"/>
            <a:ext cx="4953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700" smtClean="0">
                <a:solidFill>
                  <a:srgbClr val="60636E"/>
                </a:solidFill>
                <a:latin typeface="Arial" panose="020B0604020202020204" pitchFamily="34" charset="0"/>
              </a:rPr>
              <a:t>контракт · сценарий · метрики · отправка</a:t>
            </a:r>
            <a:endParaRPr lang="ru-RU" sz="17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698500" y="2628900"/>
            <a:ext cx="10795000" cy="0"/>
          </a:xfrm>
          <a:prstGeom prst="line">
            <a:avLst/>
          </a:prstGeom>
          <a:ln w="12700">
            <a:solidFill>
              <a:srgbClr val="DE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8500" y="2984499"/>
            <a:ext cx="3111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100" b="1" smtClean="0">
                <a:solidFill>
                  <a:srgbClr val="0A0A0E"/>
                </a:solidFill>
                <a:latin typeface="Arial" panose="020B0604020202020204" pitchFamily="34" charset="0"/>
              </a:rPr>
              <a:t>Филиппова Дарья</a:t>
            </a:r>
            <a:endParaRPr lang="ru-RU" sz="21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00500" y="2984499"/>
            <a:ext cx="1778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 smtClean="0">
                <a:solidFill>
                  <a:srgbClr val="005CFF"/>
                </a:solidFill>
                <a:latin typeface="Arial" panose="020B0604020202020204" pitchFamily="34" charset="0"/>
              </a:rPr>
              <a:t>AI Engineer</a:t>
            </a:r>
            <a:endParaRPr lang="ru-RU" sz="15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59500" y="2984499"/>
            <a:ext cx="4953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smtClean="0">
                <a:solidFill>
                  <a:srgbClr val="60636E"/>
                </a:solidFill>
                <a:latin typeface="Arial" panose="020B0604020202020204" pitchFamily="34" charset="0"/>
              </a:rPr>
              <a:t>ML-</a:t>
            </a:r>
            <a:r>
              <a:rPr lang="ru-RU" sz="1700" smtClean="0">
                <a:solidFill>
                  <a:srgbClr val="60636E"/>
                </a:solidFill>
                <a:latin typeface="Arial" panose="020B0604020202020204" pitchFamily="34" charset="0"/>
              </a:rPr>
              <a:t>решение · эксперименты</a:t>
            </a:r>
            <a:endParaRPr lang="ru-RU" sz="17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698500" y="3771900"/>
            <a:ext cx="10795000" cy="0"/>
          </a:xfrm>
          <a:prstGeom prst="line">
            <a:avLst/>
          </a:prstGeom>
          <a:ln w="12700">
            <a:solidFill>
              <a:srgbClr val="DE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8500" y="4127499"/>
            <a:ext cx="3111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100" b="1" smtClean="0">
                <a:solidFill>
                  <a:srgbClr val="0A0A0E"/>
                </a:solidFill>
                <a:latin typeface="Arial" panose="020B0604020202020204" pitchFamily="34" charset="0"/>
              </a:rPr>
              <a:t>Соколов Дмитрий</a:t>
            </a:r>
            <a:endParaRPr lang="ru-RU" sz="2100" b="1">
              <a:solidFill>
                <a:srgbClr val="0A0A0E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00500" y="4127499"/>
            <a:ext cx="1778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 smtClean="0">
                <a:solidFill>
                  <a:srgbClr val="005CFF"/>
                </a:solidFill>
                <a:latin typeface="Arial" panose="020B0604020202020204" pitchFamily="34" charset="0"/>
              </a:rPr>
              <a:t>AI Engineer</a:t>
            </a:r>
            <a:endParaRPr lang="ru-RU" sz="1500" b="1">
              <a:solidFill>
                <a:srgbClr val="005CFF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59500" y="4127499"/>
            <a:ext cx="4953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700" smtClean="0">
                <a:solidFill>
                  <a:srgbClr val="60636E"/>
                </a:solidFill>
                <a:latin typeface="Arial" panose="020B0604020202020204" pitchFamily="34" charset="0"/>
              </a:rPr>
              <a:t>данные · признаки · обучение · проверка</a:t>
            </a:r>
            <a:endParaRPr lang="ru-RU" sz="1700">
              <a:solidFill>
                <a:srgbClr val="60636E"/>
              </a:solidFill>
              <a:latin typeface="Arial" panose="020B0604020202020204" pitchFamily="34" charset="0"/>
            </a:endParaRPr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698500" y="5321300"/>
            <a:ext cx="10795000" cy="660400"/>
          </a:xfrm>
          <a:prstGeom prst="roundRect">
            <a:avLst/>
          </a:prstGeom>
          <a:solidFill>
            <a:srgbClr val="00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/>
          <p:cNvSpPr txBox="1"/>
          <p:nvPr/>
        </p:nvSpPr>
        <p:spPr>
          <a:xfrm>
            <a:off x="939800" y="5486399"/>
            <a:ext cx="10287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2000" b="1" smtClean="0">
                <a:solidFill>
                  <a:srgbClr val="FFFFFF"/>
                </a:solidFill>
                <a:latin typeface="Arial" panose="020B0604020202020204" pitchFamily="34" charset="0"/>
              </a:rPr>
              <a:t>Pipeline собран. Сигнал есть. Продуктовую надёжность ещё нужно доказать.</a:t>
            </a:r>
            <a:endParaRPr lang="ru-RU" sz="2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1580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943</Words>
  <Application>Microsoft Office PowerPoint</Application>
  <PresentationFormat>Произвольный</PresentationFormat>
  <Paragraphs>254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1</cp:revision>
  <dcterms:created xsi:type="dcterms:W3CDTF">2026-09-03T12:57:16Z</dcterms:created>
  <dcterms:modified xsi:type="dcterms:W3CDTF">2026-09-03T12:57:16Z</dcterms:modified>
</cp:coreProperties>
</file>