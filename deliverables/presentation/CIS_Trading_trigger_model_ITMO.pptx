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e6963e6e0b4428" /><Relationship Type="http://schemas.openxmlformats.org/officeDocument/2006/relationships/extended-properties" Target="/docProps/app.xml" Id="Rb6dfd4918afa4a31" /><Relationship Type="http://schemas.openxmlformats.org/officeDocument/2006/relationships/officeDocument" Target="/ppt/presentation.xml" Id="R876dcf299be848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fdd6348dd94be8"/>
  </p:sldMasterIdLst>
  <p:notesMasterIdLst>
    <p:notesMasterId xmlns:r="http://schemas.openxmlformats.org/officeDocument/2006/relationships" r:id="R4ceaa871a4c74e48"/>
  </p:notesMasterIdLst>
  <p:sldIdLst>
    <p:sldId xmlns:r="http://schemas.openxmlformats.org/officeDocument/2006/relationships" id="256" r:id="R95a4513425724b0a"/>
    <p:sldId xmlns:r="http://schemas.openxmlformats.org/officeDocument/2006/relationships" id="257" r:id="R639719f998974bef"/>
    <p:sldId xmlns:r="http://schemas.openxmlformats.org/officeDocument/2006/relationships" id="258" r:id="Rbbc95593b45b46d4"/>
    <p:sldId xmlns:r="http://schemas.openxmlformats.org/officeDocument/2006/relationships" id="259" r:id="Rf25cda6b66fd4de0"/>
    <p:sldId xmlns:r="http://schemas.openxmlformats.org/officeDocument/2006/relationships" id="260" r:id="Re482ed6fc9f847ae"/>
    <p:sldId xmlns:r="http://schemas.openxmlformats.org/officeDocument/2006/relationships" id="261" r:id="R01e86fdd53264f9d"/>
    <p:sldId xmlns:r="http://schemas.openxmlformats.org/officeDocument/2006/relationships" id="262" r:id="Rfe870f58134c4dc0"/>
    <p:sldId xmlns:r="http://schemas.openxmlformats.org/officeDocument/2006/relationships" id="263" r:id="Rdbd57adcd2bf419e"/>
    <p:sldId xmlns:r="http://schemas.openxmlformats.org/officeDocument/2006/relationships" id="264" r:id="R4b3eaaa997424e04"/>
    <p:sldId xmlns:r="http://schemas.openxmlformats.org/officeDocument/2006/relationships" id="265" r:id="Rfcae946863644d4a"/>
    <p:sldId xmlns:r="http://schemas.openxmlformats.org/officeDocument/2006/relationships" id="266" r:id="R63e5fa2754b54b25"/>
    <p:sldId xmlns:r="http://schemas.openxmlformats.org/officeDocument/2006/relationships" id="267" r:id="R395bedb6a1dd4f8e"/>
    <p:sldId xmlns:r="http://schemas.openxmlformats.org/officeDocument/2006/relationships" id="268" r:id="Rb73c3a10d22a4d16"/>
    <p:sldId xmlns:r="http://schemas.openxmlformats.org/officeDocument/2006/relationships" id="269" r:id="Rd81a32675d3d468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714d2512f404284" /><Relationship Type="http://schemas.openxmlformats.org/officeDocument/2006/relationships/slideMaster" Target="/ppt/slideMasters/slideMaster1.xml" Id="R8efdd6348dd94be8" /><Relationship Type="http://schemas.openxmlformats.org/officeDocument/2006/relationships/notesMaster" Target="/ppt/notesMasters/notesMaster1.xml" Id="R4ceaa871a4c74e48" /><Relationship Type="http://schemas.openxmlformats.org/officeDocument/2006/relationships/presProps" Target="/ppt/presProps.xml" Id="Rfed06ad59cd9402d" /><Relationship Type="http://schemas.openxmlformats.org/officeDocument/2006/relationships/viewProps" Target="/ppt/viewProps.xml" Id="Rfdef4b124b014f7e" /><Relationship Type="http://schemas.openxmlformats.org/officeDocument/2006/relationships/tableStyles" Target="/ppt/tableStyles.xml" Id="R98759f70f177418f" /><Relationship Type="http://schemas.openxmlformats.org/officeDocument/2006/relationships/slide" Target="/ppt/slides/slide1.xml" Id="R95a4513425724b0a" /><Relationship Type="http://schemas.openxmlformats.org/officeDocument/2006/relationships/slide" Target="/ppt/slides/slide2.xml" Id="R639719f998974bef" /><Relationship Type="http://schemas.openxmlformats.org/officeDocument/2006/relationships/slide" Target="/ppt/slides/slide3.xml" Id="Rbbc95593b45b46d4" /><Relationship Type="http://schemas.openxmlformats.org/officeDocument/2006/relationships/slide" Target="/ppt/slides/slide4.xml" Id="Rf25cda6b66fd4de0" /><Relationship Type="http://schemas.openxmlformats.org/officeDocument/2006/relationships/slide" Target="/ppt/slides/slide5.xml" Id="Re482ed6fc9f847ae" /><Relationship Type="http://schemas.openxmlformats.org/officeDocument/2006/relationships/slide" Target="/ppt/slides/slide6.xml" Id="R01e86fdd53264f9d" /><Relationship Type="http://schemas.openxmlformats.org/officeDocument/2006/relationships/slide" Target="/ppt/slides/slide7.xml" Id="Rfe870f58134c4dc0" /><Relationship Type="http://schemas.openxmlformats.org/officeDocument/2006/relationships/slide" Target="/ppt/slides/slide8.xml" Id="Rdbd57adcd2bf419e" /><Relationship Type="http://schemas.openxmlformats.org/officeDocument/2006/relationships/slide" Target="/ppt/slides/slide9.xml" Id="R4b3eaaa997424e04" /><Relationship Type="http://schemas.openxmlformats.org/officeDocument/2006/relationships/slide" Target="/ppt/slides/slide10.xml" Id="Rfcae946863644d4a" /><Relationship Type="http://schemas.openxmlformats.org/officeDocument/2006/relationships/slide" Target="/ppt/slides/slide11.xml" Id="R63e5fa2754b54b25" /><Relationship Type="http://schemas.openxmlformats.org/officeDocument/2006/relationships/slide" Target="/ppt/slides/slide12.xml" Id="R395bedb6a1dd4f8e" /><Relationship Type="http://schemas.openxmlformats.org/officeDocument/2006/relationships/slide" Target="/ppt/slides/slide13.xml" Id="Rb73c3a10d22a4d16" /><Relationship Type="http://schemas.openxmlformats.org/officeDocument/2006/relationships/slide" Target="/ppt/slides/slide14.xml" Id="Rd81a32675d3d46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07fbf67c7a74b5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7efac3b964143c9" /><Relationship Type="http://schemas.openxmlformats.org/officeDocument/2006/relationships/notesMaster" Target="/ppt/notesMasters/notesMaster1.xml" Id="R380c0e20b9cb4ff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6753305b25c491a" /><Relationship Type="http://schemas.openxmlformats.org/officeDocument/2006/relationships/notesMaster" Target="/ppt/notesMasters/notesMaster1.xml" Id="R8a43e83140de4f2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ce3b6b5ae6045cc" /><Relationship Type="http://schemas.openxmlformats.org/officeDocument/2006/relationships/notesMaster" Target="/ppt/notesMasters/notesMaster1.xml" Id="R53b64eb1c93a492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8b49eb78f204bc3" /><Relationship Type="http://schemas.openxmlformats.org/officeDocument/2006/relationships/notesMaster" Target="/ppt/notesMasters/notesMaster1.xml" Id="R8f248f579d5e41b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85631e0bec441db" /><Relationship Type="http://schemas.openxmlformats.org/officeDocument/2006/relationships/notesMaster" Target="/ppt/notesMasters/notesMaster1.xml" Id="R60cb3801cdc54c1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9d7b59149174a94" /><Relationship Type="http://schemas.openxmlformats.org/officeDocument/2006/relationships/notesMaster" Target="/ppt/notesMasters/notesMaster1.xml" Id="R6eaa5f459a834a1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10b23c281c54d2f" /><Relationship Type="http://schemas.openxmlformats.org/officeDocument/2006/relationships/notesMaster" Target="/ppt/notesMasters/notesMaster1.xml" Id="R75070664ecfd454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4234c126ac846c1" /><Relationship Type="http://schemas.openxmlformats.org/officeDocument/2006/relationships/notesMaster" Target="/ppt/notesMasters/notesMaster1.xml" Id="R80e319afedb94bf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4db2bf586b944e0" /><Relationship Type="http://schemas.openxmlformats.org/officeDocument/2006/relationships/notesMaster" Target="/ppt/notesMasters/notesMaster1.xml" Id="R2a9a11e235be43d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1c82a6e712e408d" /><Relationship Type="http://schemas.openxmlformats.org/officeDocument/2006/relationships/notesMaster" Target="/ppt/notesMasters/notesMaster1.xml" Id="Re3fa9cae81a4499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6d1ccf335694f81" /><Relationship Type="http://schemas.openxmlformats.org/officeDocument/2006/relationships/notesMaster" Target="/ppt/notesMasters/notesMaster1.xml" Id="R3205a6fe1eff4bc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583cfe4ac3c4f29" /><Relationship Type="http://schemas.openxmlformats.org/officeDocument/2006/relationships/notesMaster" Target="/ppt/notesMasters/notesMaster1.xml" Id="R91dbf1da6a20454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26b818d41a6494e" /><Relationship Type="http://schemas.openxmlformats.org/officeDocument/2006/relationships/notesMaster" Target="/ppt/notesMasters/notesMaster1.xml" Id="Rc6949d12c3bf458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9067a9ad7184390" /><Relationship Type="http://schemas.openxmlformats.org/officeDocument/2006/relationships/notesMaster" Target="/ppt/notesMasters/notesMaster1.xml" Id="R10df6b0082de469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 brief in this Codex task.</a:t>
            </a:r>
            <a:endParaRPr/>
          </a:p>
          <a:p xmlns:a="http://schemas.openxmlformats.org/drawingml/2006/main">
            <a:r>
              <a:t>- Visual palette reference: AI Product Hack 2026 - интро.pptx.pdf (user-provided).</a:t>
            </a:r>
            <a:endParaRPr/>
          </a:p>
          <a:p xmlns:a="http://schemas.openxmlformats.org/drawingml/2006/main">
            <a:r>
              <a:t>- Project metrics retained from CIS_Traiding_status_ITMO.pptx (user-provided).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 brief in this Codex task.</a:t>
            </a:r>
          </a:p>
          <a:p xmlns:a="http://schemas.openxmlformats.org/drawingml/2006/main">
            <a:r>
              <a:t>- Visual palette reference: AI Product Hack 2026 - интро.pptx.pdf (user-provided).</a:t>
            </a:r>
            <a:endParaRPr/>
          </a:p>
          <a:p xmlns:a="http://schemas.openxmlformats.org/drawingml/2006/main">
            <a:r>
              <a:t>- Project metrics retained from CIS_Traiding_status_ITMO.pptx (user-provided).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 brief in this Codex task.</a:t>
            </a:r>
          </a:p>
          <a:p xmlns:a="http://schemas.openxmlformats.org/drawingml/2006/main">
            <a:r>
              <a:t>- Visual palette reference: AI Product Hack 2026 - интро.pptx.pdf (user-provided).</a:t>
            </a:r>
            <a:endParaRPr/>
          </a:p>
          <a:p xmlns:a="http://schemas.openxmlformats.org/drawingml/2006/main">
            <a:r>
              <a:t>- Project metrics retained from CIS_Traiding_status_ITMO.pptx (user-provided).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 brief in this Codex task.</a:t>
            </a:r>
          </a:p>
          <a:p xmlns:a="http://schemas.openxmlformats.org/drawingml/2006/main">
            <a:r>
              <a:t>- Visual palette reference: AI Product Hack 2026 - интро.pptx.pdf (user-provided).</a:t>
            </a:r>
            <a:endParaRPr/>
          </a:p>
          <a:p xmlns:a="http://schemas.openxmlformats.org/drawingml/2006/main">
            <a:r>
              <a:t>- Project metrics retained from CIS_Traiding_status_ITMO.pptx (user-provided).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 brief in this Codex task.</a:t>
            </a:r>
          </a:p>
          <a:p xmlns:a="http://schemas.openxmlformats.org/drawingml/2006/main">
            <a:r>
              <a:t>- Visual palette reference: AI Product Hack 2026 - интро.pptx.pdf (user-provided).</a:t>
            </a:r>
            <a:endParaRPr/>
          </a:p>
          <a:p xmlns:a="http://schemas.openxmlformats.org/drawingml/2006/main">
            <a:r>
              <a:t>- Project metrics retained from CIS_Traiding_status_ITMO.pptx (user-provided).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 brief in this Codex task.</a:t>
            </a:r>
          </a:p>
          <a:p xmlns:a="http://schemas.openxmlformats.org/drawingml/2006/main">
            <a:r>
              <a:t>- Visual palette reference: AI Product Hack 2026 - интро.pptx.pdf (user-provided).</a:t>
            </a:r>
          </a:p>
          <a:p xmlns:a="http://schemas.openxmlformats.org/drawingml/2006/main">
            <a:r>
              <a:t>- Project metrics retained from CIS_Traiding_status_ITMO.pptx (user-provided).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 brief in this Codex task.</a:t>
            </a:r>
          </a:p>
          <a:p xmlns:a="http://schemas.openxmlformats.org/drawingml/2006/main">
            <a:r>
              <a:t>- Visual palette reference: AI Product Hack 2026 - интро.pptx.pdf (user-provided).</a:t>
            </a:r>
          </a:p>
          <a:p xmlns:a="http://schemas.openxmlformats.org/drawingml/2006/main">
            <a:r>
              <a:t>- Project metrics retained from CIS_Traiding_status_ITMO.pptx (user-provided).</a:t>
            </a:r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 brief in this Codex task.</a:t>
            </a:r>
            <a:endParaRPr/>
          </a:p>
          <a:p xmlns:a="http://schemas.openxmlformats.org/drawingml/2006/main">
            <a:r>
              <a:t>- Visual palette reference: AI Product Hack 2026 - интро.pptx.pdf (user-provided).</a:t>
            </a:r>
            <a:endParaRPr/>
          </a:p>
          <a:p xmlns:a="http://schemas.openxmlformats.org/drawingml/2006/main">
            <a:r>
              <a:t>- Project metrics retained from CIS_Traiding_status_ITMO.pptx (user-provided).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 brief in this Codex task.</a:t>
            </a:r>
            <a:endParaRPr/>
          </a:p>
          <a:p xmlns:a="http://schemas.openxmlformats.org/drawingml/2006/main">
            <a:r>
              <a:t>- Visual palette reference: AI Product Hack 2026 - интро.pptx.pdf (user-provided).</a:t>
            </a:r>
            <a:endParaRPr/>
          </a:p>
          <a:p xmlns:a="http://schemas.openxmlformats.org/drawingml/2006/main">
            <a:r>
              <a:t>- Project metrics retained from CIS_Traiding_status_ITMO.pptx (user-provided).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 brief in this Codex task.</a:t>
            </a:r>
          </a:p>
          <a:p xmlns:a="http://schemas.openxmlformats.org/drawingml/2006/main">
            <a:r>
              <a:t>- Visual palette reference: AI Product Hack 2026 - интро.pptx.pdf (user-provided).</a:t>
            </a:r>
            <a:endParaRPr/>
          </a:p>
          <a:p xmlns:a="http://schemas.openxmlformats.org/drawingml/2006/main">
            <a:r>
              <a:t>- Project metrics retained from CIS_Traiding_status_ITMO.pptx (user-provided).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 brief in this Codex task.</a:t>
            </a:r>
          </a:p>
          <a:p xmlns:a="http://schemas.openxmlformats.org/drawingml/2006/main">
            <a:r>
              <a:t>- Visual palette reference: AI Product Hack 2026 - интро.pptx.pdf (user-provided).</a:t>
            </a:r>
          </a:p>
          <a:p xmlns:a="http://schemas.openxmlformats.org/drawingml/2006/main">
            <a:r>
              <a:t>- Project metrics retained from CIS_Traiding_status_ITMO.pptx (user-provided).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 brief in this Codex task.</a:t>
            </a:r>
          </a:p>
          <a:p xmlns:a="http://schemas.openxmlformats.org/drawingml/2006/main">
            <a:r>
              <a:t>- Visual palette reference: AI Product Hack 2026 - интро.pptx.pdf (user-provided).</a:t>
            </a:r>
            <a:endParaRPr/>
          </a:p>
          <a:p xmlns:a="http://schemas.openxmlformats.org/drawingml/2006/main">
            <a:r>
              <a:t>- Project metrics retained from CIS_Traiding_status_ITMO.pptx (user-provided).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 brief in this Codex task.</a:t>
            </a:r>
          </a:p>
          <a:p xmlns:a="http://schemas.openxmlformats.org/drawingml/2006/main">
            <a:r>
              <a:t>- Visual palette reference: AI Product Hack 2026 - интро.pptx.pdf (user-provided).</a:t>
            </a:r>
            <a:endParaRPr/>
          </a:p>
          <a:p xmlns:a="http://schemas.openxmlformats.org/drawingml/2006/main">
            <a:r>
              <a:t>- Project metrics retained from CIS_Traiding_status_ITMO.pptx (user-provided).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 brief in this Codex task.</a:t>
            </a:r>
          </a:p>
          <a:p xmlns:a="http://schemas.openxmlformats.org/drawingml/2006/main">
            <a:r>
              <a:t>- Visual palette reference: AI Product Hack 2026 - интро.pptx.pdf (user-provided).</a:t>
            </a:r>
            <a:endParaRPr/>
          </a:p>
          <a:p xmlns:a="http://schemas.openxmlformats.org/drawingml/2006/main">
            <a:r>
              <a:t>- Project metrics retained from CIS_Traiding_status_ITMO.pptx (user-provided).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64829ed2dc40f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05ee55c1a24c9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2cb2ea63004a1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56c8c36db2439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03d26859534f2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73e4ecc18b442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5b1ec672124ce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f5e72f21c840d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22b8ae23f6499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d5125786bb461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83e916172c416d" /></Relationships>
</file>

<file path=ppt/slideLayouts/slideLayout1.xml><?xml version="1.0" encoding="utf-8"?>
<p:sldLayout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AB30A033-AE9F-456C-A83F-E90A6EDFE30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Образец заголовка</a:t>
            </a:r>
            <a:endParaRPr/>
          </a:p>
        </p:txBody>
      </p:sp>
      <p:sp>
        <p:nvSpPr>
          <p:cNvPr id="3" name="Подзаголовок 2">
            <a:extLst xmlns:a="http://schemas.openxmlformats.org/drawingml/2006/main">
              <a:ext uri="{FF2B5EF4-FFF2-40B4-BE49-F238E27FC236}">
                <a16:creationId xmlns:a16="http://schemas.microsoft.com/office/drawing/2014/main" id="{CDC44492-998F-4E3E-81B0-04F4CF3B6CC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Образец подзаголовка</a:t>
            </a:r>
            <a:endParaRPr/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B32EE989-8A13-460B-B661-3CA781C5072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F4D8D20-F33B-4B9D-90ED-E006A8C8F7DE}" type="datetimeFigureOut">
              <a:t>03.09.2026</a:t>
            </a:fld>
            <a:endParaRPr/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9083A627-2D1F-4CB6-A6DA-A140D4DEC04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AC41C2D8-DD81-4D84-B926-D431E1FB44F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18A7ACB-2831-462E-B1CE-E04C15DBB38E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7915E801-0DC1-4D5A-9EBB-6FA95093D0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  <a:endParaRPr/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28EB4BB8-1011-45CA-A3C5-A9BCE9F6734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F93BE1E7-86AD-4AB7-94F9-D6CAA5FE910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F4D8D20-F33B-4B9D-90ED-E006A8C8F7DE}" type="datetimeFigureOut">
              <a:t>03.09.2026</a:t>
            </a:fld>
            <a:endParaRPr/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201A70B3-B433-48EA-9523-5E7D24563D9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7FED7308-5551-4F00-82F0-A69715303C1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18A7ACB-2831-462E-B1CE-E04C15DBB38E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B1C850AB-6596-4812-A12C-E08E27572F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Образец заголовка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16B74D2E-0BD1-4D44-A1ED-3DBE5898F76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1B6181-B4DE-4559-8537-9448721B4A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F4D8D20-F33B-4B9D-90ED-E006A8C8F7DE}" type="datetimeFigureOut">
              <a:t>03.09.2026</a:t>
            </a:fld>
            <a:endParaRPr/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2DD5EC39-0BE1-4D44-8010-47D126937C7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1584381D-DE95-44AF-AFB1-F6096121C51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18A7ACB-2831-462E-B1CE-E04C15DBB38E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116278D1-2C95-4A1F-81F9-2AFE814481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  <a:endParaRPr/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5720534A-9FC0-4F9E-8373-F0FDAA2F50E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4" name="Объект 3">
            <a:extLst xmlns:a="http://schemas.openxmlformats.org/drawingml/2006/main">
              <a:ext uri="{FF2B5EF4-FFF2-40B4-BE49-F238E27FC236}">
                <a16:creationId xmlns:a16="http://schemas.microsoft.com/office/drawing/2014/main" id="{BB4702DC-CA47-46B7-822C-2D4BB3AC990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5" name="Дата 4">
            <a:extLst xmlns:a="http://schemas.openxmlformats.org/drawingml/2006/main">
              <a:ext uri="{FF2B5EF4-FFF2-40B4-BE49-F238E27FC236}">
                <a16:creationId xmlns:a16="http://schemas.microsoft.com/office/drawing/2014/main" id="{E2FA4869-9530-46FF-A5ED-A698984BF43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F4D8D20-F33B-4B9D-90ED-E006A8C8F7DE}" type="datetimeFigureOut">
              <a:t>03.09.2026</a:t>
            </a:fld>
            <a:endParaRPr/>
          </a:p>
        </p:txBody>
      </p:sp>
      <p:sp>
        <p:nvSpPr>
          <p:cNvPr id="6" name="Нижний колонтитул 5">
            <a:extLst xmlns:a="http://schemas.openxmlformats.org/drawingml/2006/main">
              <a:ext uri="{FF2B5EF4-FFF2-40B4-BE49-F238E27FC236}">
                <a16:creationId xmlns:a16="http://schemas.microsoft.com/office/drawing/2014/main" id="{BEE0E67D-AF67-4F85-9C29-DA1B9BE035C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Номер слайда 6">
            <a:extLst xmlns:a="http://schemas.openxmlformats.org/drawingml/2006/main">
              <a:ext uri="{FF2B5EF4-FFF2-40B4-BE49-F238E27FC236}">
                <a16:creationId xmlns:a16="http://schemas.microsoft.com/office/drawing/2014/main" id="{675A627F-A938-453A-B6AC-0D32F8DD122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18A7ACB-2831-462E-B1CE-E04C15DBB38E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03000F6-FE96-40CD-8467-812768EF1A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C3961F6B-9514-46EC-9DD4-68323FDC16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4" name="Объект 3">
            <a:extLst xmlns:a="http://schemas.openxmlformats.org/drawingml/2006/main">
              <a:ext uri="{FF2B5EF4-FFF2-40B4-BE49-F238E27FC236}">
                <a16:creationId xmlns:a16="http://schemas.microsoft.com/office/drawing/2014/main" id="{68F7E60C-0581-4651-AF2B-B10D7EA6F31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66629833-C1FD-4214-9471-115FB010A20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6" name="Объект 5">
            <a:extLst xmlns:a="http://schemas.openxmlformats.org/drawingml/2006/main">
              <a:ext uri="{FF2B5EF4-FFF2-40B4-BE49-F238E27FC236}">
                <a16:creationId xmlns:a16="http://schemas.microsoft.com/office/drawing/2014/main" id="{D32CA286-E4ED-427D-8B27-A64972E54A5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7" name="Дата 6">
            <a:extLst xmlns:a="http://schemas.openxmlformats.org/drawingml/2006/main">
              <a:ext uri="{FF2B5EF4-FFF2-40B4-BE49-F238E27FC236}">
                <a16:creationId xmlns:a16="http://schemas.microsoft.com/office/drawing/2014/main" id="{9ADBE484-0562-49B1-9389-35C341F34B5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F4D8D20-F33B-4B9D-90ED-E006A8C8F7DE}" type="datetimeFigureOut">
              <a:t>03.09.2026</a:t>
            </a:fld>
            <a:endParaRPr/>
          </a:p>
        </p:txBody>
      </p:sp>
      <p:sp>
        <p:nvSpPr>
          <p:cNvPr id="8" name="Нижний колонтитул 7">
            <a:extLst xmlns:a="http://schemas.openxmlformats.org/drawingml/2006/main">
              <a:ext uri="{FF2B5EF4-FFF2-40B4-BE49-F238E27FC236}">
                <a16:creationId xmlns:a16="http://schemas.microsoft.com/office/drawing/2014/main" id="{774400D7-0B05-4AF0-96DC-2120922BF7B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Номер слайда 8">
            <a:extLst xmlns:a="http://schemas.openxmlformats.org/drawingml/2006/main">
              <a:ext uri="{FF2B5EF4-FFF2-40B4-BE49-F238E27FC236}">
                <a16:creationId xmlns:a16="http://schemas.microsoft.com/office/drawing/2014/main" id="{FD2995AF-11FF-441E-BD55-63A13A98031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18A7ACB-2831-462E-B1CE-E04C15DBB38E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15C0EE88-D79F-42D1-BCF8-835B049E93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  <a:endParaRPr/>
          </a:p>
        </p:txBody>
      </p:sp>
      <p:sp>
        <p:nvSpPr>
          <p:cNvPr id="3" name="Дата 2">
            <a:extLst xmlns:a="http://schemas.openxmlformats.org/drawingml/2006/main">
              <a:ext uri="{FF2B5EF4-FFF2-40B4-BE49-F238E27FC236}">
                <a16:creationId xmlns:a16="http://schemas.microsoft.com/office/drawing/2014/main" id="{574DE6F4-B5E5-413D-ABAF-D0D35E487D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F4D8D20-F33B-4B9D-90ED-E006A8C8F7DE}" type="datetimeFigureOut">
              <a:t>03.09.2026</a:t>
            </a:fld>
            <a:endParaRPr/>
          </a:p>
        </p:txBody>
      </p:sp>
      <p:sp>
        <p:nvSpPr>
          <p:cNvPr id="4" name="Нижний колонтитул 3">
            <a:extLst xmlns:a="http://schemas.openxmlformats.org/drawingml/2006/main">
              <a:ext uri="{FF2B5EF4-FFF2-40B4-BE49-F238E27FC236}">
                <a16:creationId xmlns:a16="http://schemas.microsoft.com/office/drawing/2014/main" id="{40117D1A-BB42-4FBA-8E4A-9E15E24B897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Номер слайда 4">
            <a:extLst xmlns:a="http://schemas.openxmlformats.org/drawingml/2006/main">
              <a:ext uri="{FF2B5EF4-FFF2-40B4-BE49-F238E27FC236}">
                <a16:creationId xmlns:a16="http://schemas.microsoft.com/office/drawing/2014/main" id="{C6B6470A-EC30-4A65-B55E-79CD1F4CB4D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18A7ACB-2831-462E-B1CE-E04C15DBB38E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Дата 1">
            <a:extLst xmlns:a="http://schemas.openxmlformats.org/drawingml/2006/main">
              <a:ext uri="{FF2B5EF4-FFF2-40B4-BE49-F238E27FC236}">
                <a16:creationId xmlns:a16="http://schemas.microsoft.com/office/drawing/2014/main" id="{D13104D8-790B-4D1B-B351-AC584ABB2DF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F4D8D20-F33B-4B9D-90ED-E006A8C8F7DE}" type="datetimeFigureOut">
              <a:t>03.09.2026</a:t>
            </a:fld>
            <a:endParaRPr/>
          </a:p>
        </p:txBody>
      </p:sp>
      <p:sp>
        <p:nvSpPr>
          <p:cNvPr id="3" name="Нижний колонтитул 2">
            <a:extLst xmlns:a="http://schemas.openxmlformats.org/drawingml/2006/main">
              <a:ext uri="{FF2B5EF4-FFF2-40B4-BE49-F238E27FC236}">
                <a16:creationId xmlns:a16="http://schemas.microsoft.com/office/drawing/2014/main" id="{43296D38-7F67-421D-BCAB-9F5DB6303FA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Номер слайда 3">
            <a:extLst xmlns:a="http://schemas.openxmlformats.org/drawingml/2006/main">
              <a:ext uri="{FF2B5EF4-FFF2-40B4-BE49-F238E27FC236}">
                <a16:creationId xmlns:a16="http://schemas.microsoft.com/office/drawing/2014/main" id="{37F24CFB-B641-4E05-8D98-390BDE91BFF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18A7ACB-2831-462E-B1CE-E04C15DBB38E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7B3F315-5C7E-4729-AFED-2C7E8FD902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Образец заголовка</a:t>
            </a:r>
            <a:endParaRPr/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08BD67AD-A139-4E66-83D9-211810D6E88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556BFDF0-3879-4DF9-9160-49BCC56AA14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5" name="Дата 4">
            <a:extLst xmlns:a="http://schemas.openxmlformats.org/drawingml/2006/main">
              <a:ext uri="{FF2B5EF4-FFF2-40B4-BE49-F238E27FC236}">
                <a16:creationId xmlns:a16="http://schemas.microsoft.com/office/drawing/2014/main" id="{440BE5B3-B487-45A7-83CE-05ADD89BD8A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F4D8D20-F33B-4B9D-90ED-E006A8C8F7DE}" type="datetimeFigureOut">
              <a:t>03.09.2026</a:t>
            </a:fld>
            <a:endParaRPr/>
          </a:p>
        </p:txBody>
      </p:sp>
      <p:sp>
        <p:nvSpPr>
          <p:cNvPr id="6" name="Нижний колонтитул 5">
            <a:extLst xmlns:a="http://schemas.openxmlformats.org/drawingml/2006/main">
              <a:ext uri="{FF2B5EF4-FFF2-40B4-BE49-F238E27FC236}">
                <a16:creationId xmlns:a16="http://schemas.microsoft.com/office/drawing/2014/main" id="{57766E2A-C03A-42F7-AC9C-10E12A5DF02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Номер слайда 6">
            <a:extLst xmlns:a="http://schemas.openxmlformats.org/drawingml/2006/main">
              <a:ext uri="{FF2B5EF4-FFF2-40B4-BE49-F238E27FC236}">
                <a16:creationId xmlns:a16="http://schemas.microsoft.com/office/drawing/2014/main" id="{97CFBB22-A697-4BF7-B99F-6BE866A5A66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18A7ACB-2831-462E-B1CE-E04C15DBB38E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CAD897CB-BEB8-4C59-A10B-911612E4DD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Образец заголовка</a:t>
            </a:r>
            <a:endParaRPr/>
          </a:p>
        </p:txBody>
      </p:sp>
      <p:sp>
        <p:nvSpPr>
          <p:cNvPr id="3" name="Рисунок 2">
            <a:extLst xmlns:a="http://schemas.openxmlformats.org/drawingml/2006/main">
              <a:ext uri="{FF2B5EF4-FFF2-40B4-BE49-F238E27FC236}">
                <a16:creationId xmlns:a16="http://schemas.microsoft.com/office/drawing/2014/main" id="{37F4CB03-5761-4363-BD47-5DE705A47AA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0A91A2CE-9E4E-4B54-ACD7-6370B757932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5" name="Дата 4">
            <a:extLst xmlns:a="http://schemas.openxmlformats.org/drawingml/2006/main">
              <a:ext uri="{FF2B5EF4-FFF2-40B4-BE49-F238E27FC236}">
                <a16:creationId xmlns:a16="http://schemas.microsoft.com/office/drawing/2014/main" id="{E20B537D-2BCB-414F-AAA1-E443B9B2AB5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F4D8D20-F33B-4B9D-90ED-E006A8C8F7DE}" type="datetimeFigureOut">
              <a:t>03.09.2026</a:t>
            </a:fld>
            <a:endParaRPr/>
          </a:p>
        </p:txBody>
      </p:sp>
      <p:sp>
        <p:nvSpPr>
          <p:cNvPr id="6" name="Нижний колонтитул 5">
            <a:extLst xmlns:a="http://schemas.openxmlformats.org/drawingml/2006/main">
              <a:ext uri="{FF2B5EF4-FFF2-40B4-BE49-F238E27FC236}">
                <a16:creationId xmlns:a16="http://schemas.microsoft.com/office/drawing/2014/main" id="{738B6B77-C845-4A79-8B36-C6B37C1544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Номер слайда 6">
            <a:extLst xmlns:a="http://schemas.openxmlformats.org/drawingml/2006/main">
              <a:ext uri="{FF2B5EF4-FFF2-40B4-BE49-F238E27FC236}">
                <a16:creationId xmlns:a16="http://schemas.microsoft.com/office/drawing/2014/main" id="{67C28D53-09A7-41D9-B848-2076543875B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18A7ACB-2831-462E-B1CE-E04C15DBB38E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E6A73617-48C4-43E3-AB9A-B95973851B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  <a:endParaRPr/>
          </a:p>
        </p:txBody>
      </p:sp>
      <p:sp>
        <p:nvSpPr>
          <p:cNvPr id="3" name="Вертикальный текст 2">
            <a:extLst xmlns:a="http://schemas.openxmlformats.org/drawingml/2006/main">
              <a:ext uri="{FF2B5EF4-FFF2-40B4-BE49-F238E27FC236}">
                <a16:creationId xmlns:a16="http://schemas.microsoft.com/office/drawing/2014/main" id="{DC874FA6-A4E4-447C-8C23-D37DB48763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4FF15D48-395C-4C8E-9D6E-C27F1A05D74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F4D8D20-F33B-4B9D-90ED-E006A8C8F7DE}" type="datetimeFigureOut">
              <a:t>03.09.2026</a:t>
            </a:fld>
            <a:endParaRPr/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255A787C-F5FF-4341-BDE0-FC5F78BD6A8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9239ED5D-A647-43F0-A3DA-34FDF970988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18A7ACB-2831-462E-B1CE-E04C15DBB38E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Вертикальный 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967E1D8D-41A1-4372-B8CB-6013DD7828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Образец заголовка</a:t>
            </a:r>
            <a:endParaRPr/>
          </a:p>
        </p:txBody>
      </p:sp>
      <p:sp>
        <p:nvSpPr>
          <p:cNvPr id="3" name="Вертикальный текст 2">
            <a:extLst xmlns:a="http://schemas.openxmlformats.org/drawingml/2006/main">
              <a:ext uri="{FF2B5EF4-FFF2-40B4-BE49-F238E27FC236}">
                <a16:creationId xmlns:a16="http://schemas.microsoft.com/office/drawing/2014/main" id="{F4F1EFA5-EAEF-4892-80D1-5618531F070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9539DE19-4EF6-4EA4-BFEB-4A0DC281431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F4D8D20-F33B-4B9D-90ED-E006A8C8F7DE}" type="datetimeFigureOut">
              <a:t>03.09.2026</a:t>
            </a:fld>
            <a:endParaRPr/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81767932-2F30-4895-961D-343B542BAA3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61BA0472-88C7-45DB-928D-E60604F9A94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18A7ACB-2831-462E-B1CE-E04C15DBB38E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101f1d7218f427b" /><Relationship Type="http://schemas.openxmlformats.org/officeDocument/2006/relationships/slideLayout" Target="/ppt/slideLayouts/slideLayout1.xml" Id="R3659454df6b742aa" /><Relationship Type="http://schemas.openxmlformats.org/officeDocument/2006/relationships/slideLayout" Target="/ppt/slideLayouts/slideLayout2.xml" Id="R52a19711967545fe" /><Relationship Type="http://schemas.openxmlformats.org/officeDocument/2006/relationships/slideLayout" Target="/ppt/slideLayouts/slideLayout3.xml" Id="R375dc6f550bb440d" /><Relationship Type="http://schemas.openxmlformats.org/officeDocument/2006/relationships/slideLayout" Target="/ppt/slideLayouts/slideLayout4.xml" Id="R22260d48b17f4f8c" /><Relationship Type="http://schemas.openxmlformats.org/officeDocument/2006/relationships/slideLayout" Target="/ppt/slideLayouts/slideLayout5.xml" Id="Rd642d9a76c3943a1" /><Relationship Type="http://schemas.openxmlformats.org/officeDocument/2006/relationships/slideLayout" Target="/ppt/slideLayouts/slideLayout6.xml" Id="Rf8a0f88a05774195" /><Relationship Type="http://schemas.openxmlformats.org/officeDocument/2006/relationships/slideLayout" Target="/ppt/slideLayouts/slideLayout7.xml" Id="R22334988f6cf4da0" /><Relationship Type="http://schemas.openxmlformats.org/officeDocument/2006/relationships/slideLayout" Target="/ppt/slideLayouts/slideLayout8.xml" Id="Rd56cb99296514369" /><Relationship Type="http://schemas.openxmlformats.org/officeDocument/2006/relationships/slideLayout" Target="/ppt/slideLayouts/slideLayout9.xml" Id="Rcb7eca1e245c499b" /><Relationship Type="http://schemas.openxmlformats.org/officeDocument/2006/relationships/slideLayout" Target="/ppt/slideLayouts/slideLayout10.xml" Id="R6a3948ad94c9469e" /><Relationship Type="http://schemas.openxmlformats.org/officeDocument/2006/relationships/slideLayout" Target="/ppt/slideLayouts/slideLayout11.xml" Id="Ra0930fab4dfc429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BDDBAFCE-562A-42A6-B498-EC4CEEC88E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A18B0C46-140B-4BC1-A1FB-2D7F289DEB5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25ADC715-92A6-47F7-85AB-AD051AFC907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F4D8D20-F33B-4B9D-90ED-E006A8C8F7DE}" type="datetimeFigureOut">
              <a:t>03.09.2026</a:t>
            </a:fld>
            <a:endParaRPr/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DFDB249B-41B7-49F9-AFB8-0068D50B177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315F9F35-8F30-4E94-A928-2F8AC55421B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D18A7ACB-2831-462E-B1CE-E04C15DBB38E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659454df6b742aa"/>
    <p:sldLayoutId xmlns:r="http://schemas.openxmlformats.org/officeDocument/2006/relationships" id="2147483650" r:id="R52a19711967545fe"/>
    <p:sldLayoutId xmlns:r="http://schemas.openxmlformats.org/officeDocument/2006/relationships" id="2147483651" r:id="R375dc6f550bb440d"/>
    <p:sldLayoutId xmlns:r="http://schemas.openxmlformats.org/officeDocument/2006/relationships" id="2147483652" r:id="R22260d48b17f4f8c"/>
    <p:sldLayoutId xmlns:r="http://schemas.openxmlformats.org/officeDocument/2006/relationships" id="2147483653" r:id="Rd642d9a76c3943a1"/>
    <p:sldLayoutId xmlns:r="http://schemas.openxmlformats.org/officeDocument/2006/relationships" id="2147483654" r:id="Rf8a0f88a05774195"/>
    <p:sldLayoutId xmlns:r="http://schemas.openxmlformats.org/officeDocument/2006/relationships" id="2147483655" r:id="R22334988f6cf4da0"/>
    <p:sldLayoutId xmlns:r="http://schemas.openxmlformats.org/officeDocument/2006/relationships" id="2147483656" r:id="Rd56cb99296514369"/>
    <p:sldLayoutId xmlns:r="http://schemas.openxmlformats.org/officeDocument/2006/relationships" id="2147483657" r:id="Rcb7eca1e245c499b"/>
    <p:sldLayoutId xmlns:r="http://schemas.openxmlformats.org/officeDocument/2006/relationships" id="2147483658" r:id="R6a3948ad94c9469e"/>
    <p:sldLayoutId xmlns:r="http://schemas.openxmlformats.org/officeDocument/2006/relationships" id="2147483659" r:id="Ra0930fab4dfc4297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1cf6866e51c4629" /><Relationship Type="http://schemas.openxmlformats.org/officeDocument/2006/relationships/notesSlide" Target="/ppt/notesSlides/notesSlide1.xml" Id="R0daed1416d2e46d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861b7656a4b419a" /><Relationship Type="http://schemas.openxmlformats.org/officeDocument/2006/relationships/notesSlide" Target="/ppt/notesSlides/notesSlide2.xml" Id="R6f588748a84e470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4e422057e7c48ce" /><Relationship Type="http://schemas.openxmlformats.org/officeDocument/2006/relationships/notesSlide" Target="/ppt/notesSlides/notesSlide3.xml" Id="R07cd9262d993431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07ba4062aa349bb" /><Relationship Type="http://schemas.openxmlformats.org/officeDocument/2006/relationships/notesSlide" Target="/ppt/notesSlides/notesSlide4.xml" Id="Rfd3269d32a574c9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bb4da50f47e4271" /><Relationship Type="http://schemas.openxmlformats.org/officeDocument/2006/relationships/notesSlide" Target="/ppt/notesSlides/notesSlide5.xml" Id="R2ab637daabbc42d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85552fd6fac45d3" /><Relationship Type="http://schemas.openxmlformats.org/officeDocument/2006/relationships/notesSlide" Target="/ppt/notesSlides/notesSlide6.xml" Id="Rb33ef5c648d3466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d9a9233106d4189" /><Relationship Type="http://schemas.openxmlformats.org/officeDocument/2006/relationships/notesSlide" Target="/ppt/notesSlides/notesSlide7.xml" Id="R0dcebba7a02a439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c7529819030493b" /><Relationship Type="http://schemas.openxmlformats.org/officeDocument/2006/relationships/notesSlide" Target="/ppt/notesSlides/notesSlide8.xml" Id="Rb5ad87cd3d46404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3fe0d2b579a4e8a" /><Relationship Type="http://schemas.openxmlformats.org/officeDocument/2006/relationships/notesSlide" Target="/ppt/notesSlides/notesSlide9.xml" Id="R23871eeb29274c0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2e3644e4be743ae" /><Relationship Type="http://schemas.openxmlformats.org/officeDocument/2006/relationships/notesSlide" Target="/ppt/notesSlides/notesSlide10.xml" Id="Ref37a9a60a58492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f1c4f2d8a134acd" /><Relationship Type="http://schemas.openxmlformats.org/officeDocument/2006/relationships/image" Target="/ppt/media/image.png" Id="Rcb3e3dc61b524f57" /><Relationship Type="http://schemas.openxmlformats.org/officeDocument/2006/relationships/notesSlide" Target="/ppt/notesSlides/notesSlide11.xml" Id="Rd3898a7d83d8432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be56ed099a849ff" /><Relationship Type="http://schemas.openxmlformats.org/officeDocument/2006/relationships/notesSlide" Target="/ppt/notesSlides/notesSlide12.xml" Id="R4f9a171ff83e4ee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9c66dfee83d4045" /><Relationship Type="http://schemas.openxmlformats.org/officeDocument/2006/relationships/notesSlide" Target="/ppt/notesSlides/notesSlide13.xml" Id="R8b70f232a4124d7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1eef0ca40ef4fac" /><Relationship Type="http://schemas.openxmlformats.org/officeDocument/2006/relationships/notesSlide" Target="/ppt/notesSlides/notesSlide14.xml" Id="R6980022bfded467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2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884015A3-CE61-4014-8D3A-5EA714083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7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581B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F3DA3FE9-CC10-4585-BB10-13C80512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800" y="0"/>
            <a:ext cx="889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9066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8696408-FCF3-41A8-8F4C-C41AA24B3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60399"/>
            <a:ext cx="444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>
                <a:solidFill>
                  <a:srgbClr val="FA581B"/>
                </a:solidFill>
              </a:defRPr>
            </a:pPr>
            <a:r>
              <a:rPr sz="1300" b="1">
                <a:solidFill>
                  <a:srgbClr val="FA581B"/>
                </a:solidFill>
                <a:latin typeface="Arial"/>
                <a:ea typeface="Arial"/>
                <a:cs typeface="Arial"/>
              </a:rPr>
              <a:t>CIS TRADING</a:t>
            </a:r>
            <a:endParaRPr sz="1300" b="1">
              <a:solidFill>
                <a:srgbClr val="005C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A1F57CC-4BF4-4E07-B19F-9E8BCF985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199"/>
            <a:ext cx="9144000" cy="184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5000" b="1">
                <a:solidFill>
                  <a:srgbClr val="0A0A0E"/>
                </a:solidFill>
                <a:latin typeface="Arial"/>
                <a:ea typeface="Arial"/>
                <a:cs typeface="Arial"/>
              </a:rPr>
              <a:t>Когда выгодно</a:t>
            </a:r>
            <a:endParaRPr sz="5000" b="1">
              <a:solidFill>
                <a:srgbClr val="0A0A0E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r>
              <a:rPr sz="5000" b="1">
                <a:solidFill>
                  <a:srgbClr val="0A0A0E"/>
                </a:solidFill>
                <a:latin typeface="Arial"/>
                <a:ea typeface="Arial"/>
                <a:cs typeface="Arial"/>
              </a:rPr>
              <a:t>перевести деньги</a:t>
            </a:r>
            <a:endParaRPr sz="5000" b="1">
              <a:solidFill>
                <a:srgbClr val="0A0A0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4F7AD43-66BB-4C94-872D-8B6873357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3873499"/>
            <a:ext cx="7112000" cy="431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B6B70"/>
                </a:solidFill>
              </a:defRPr>
            </a:pPr>
            <a:r>
              <a:rPr sz="2300">
                <a:solidFill>
                  <a:srgbClr val="6B6B70"/>
                </a:solidFill>
                <a:latin typeface="Arial"/>
                <a:ea typeface="Arial"/>
                <a:cs typeface="Arial"/>
              </a:rPr>
              <a:t>Триггерная модель: от сигнала к уместному пушу</a:t>
            </a:r>
            <a:endParaRPr sz="2300"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Прямая соединительная линия 6">
            <a:extLst xmlns:a="http://schemas.openxmlformats.org/drawingml/2006/main">
              <a:ext uri="{FF2B5EF4-FFF2-40B4-BE49-F238E27FC236}">
                <a16:creationId xmlns:a16="http://schemas.microsoft.com/office/drawing/2014/main" id="{D2DA059C-4082-4D58-99D2-4D2C30AB0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4787900"/>
            <a:ext cx="358140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C4731224-B64A-43DE-BB5B-E6E6A5FCC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5003799"/>
            <a:ext cx="558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B6B70"/>
                </a:solidFill>
              </a:defRPr>
            </a:pPr>
            <a:r>
              <a:rPr sz="1400" b="1">
                <a:solidFill>
                  <a:srgbClr val="6B6B70"/>
                </a:solidFill>
                <a:latin typeface="Arial"/>
                <a:ea typeface="Arial"/>
                <a:cs typeface="Arial"/>
              </a:rPr>
              <a:t>RUB → TJS  ·  03.09.2026</a:t>
            </a:r>
            <a:endParaRPr sz="1400" b="1"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Овал 8">
            <a:extLst xmlns:a="http://schemas.openxmlformats.org/drawingml/2006/main">
              <a:ext uri="{FF2B5EF4-FFF2-40B4-BE49-F238E27FC236}">
                <a16:creationId xmlns:a16="http://schemas.microsoft.com/office/drawing/2014/main" id="{C1750B8E-A367-424C-B4D1-7C8A1160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9500" y="1117600"/>
            <a:ext cx="939800" cy="939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581B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Овал 9">
            <a:extLst xmlns:a="http://schemas.openxmlformats.org/drawingml/2006/main">
              <a:ext uri="{FF2B5EF4-FFF2-40B4-BE49-F238E27FC236}">
                <a16:creationId xmlns:a16="http://schemas.microsoft.com/office/drawing/2014/main" id="{AEC739A0-3414-4E74-A8EA-1C5C8C33B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2600" y="1574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9066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4467B8B-5029-452E-B08A-FA6DF388A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7600" y="1346199"/>
            <a:ext cx="889000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>
                <a:solidFill>
                  <a:srgbClr val="FA581B"/>
                </a:solidFill>
              </a:defRPr>
            </a:pPr>
            <a:r>
              <a:rPr sz="1500" b="1">
                <a:solidFill>
                  <a:srgbClr val="FA581B"/>
                </a:solidFill>
                <a:latin typeface="Arial"/>
                <a:ea typeface="Arial"/>
                <a:cs typeface="Arial"/>
              </a:rPr>
              <a:t>ITMO</a:t>
            </a:r>
            <a:endParaRPr sz="15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712354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2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5AEB61EF-1487-43AA-89AA-E3C1CFF99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279400"/>
            <a:ext cx="660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00" b="1">
                <a:solidFill>
                  <a:srgbClr val="FA581B"/>
                </a:solidFill>
                <a:latin typeface="Arial"/>
                <a:ea typeface="Arial"/>
                <a:cs typeface="Arial"/>
              </a:rPr>
              <a:t>КЛИЕНТ</a:t>
            </a:r>
            <a:endParaRPr sz="1000" b="1">
              <a:solidFill>
                <a:srgbClr val="005C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EAC19AF-C859-4B68-BDE7-0155CB93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609599"/>
            <a:ext cx="10795000" cy="660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350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Редкий перевод требует точного момента</a:t>
            </a:r>
            <a:endParaRPr sz="3500" b="1">
              <a:solidFill>
                <a:srgbClr val="0A0A0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D3E0AFC-2B5C-4678-8BD6-A1A324FE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6350000"/>
            <a:ext cx="10795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6E5EB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FD7F09E-5F8B-4684-AE44-060A422CB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6438900"/>
            <a:ext cx="635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800" b="1">
                <a:solidFill>
                  <a:srgbClr val="6B6B70"/>
                </a:solidFill>
                <a:latin typeface="Arial"/>
                <a:ea typeface="Arial"/>
                <a:cs typeface="Arial"/>
              </a:rPr>
              <a:t>CIS TRADING  /  ТРИГГЕРНАЯ МОДЕЛЬ</a:t>
            </a:r>
            <a:endParaRPr sz="800" b="1">
              <a:solidFill>
                <a:srgbClr val="91949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80D8426-5E22-4374-BC06-4DA569176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0" y="6413500"/>
            <a:ext cx="5715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1">
                <a:solidFill>
                  <a:srgbClr val="6B6B70"/>
                </a:solidFill>
                <a:latin typeface="Arial"/>
                <a:ea typeface="Arial"/>
                <a:cs typeface="Arial"/>
              </a:rPr>
              <a:t>02</a:t>
            </a:r>
            <a:endParaRPr sz="900" b="1"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8A95EF4-F94D-449B-9406-0A718B1BF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1803399"/>
            <a:ext cx="7874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3400" b="1">
                <a:solidFill>
                  <a:srgbClr val="0A0A0E"/>
                </a:solidFill>
                <a:latin typeface="Arial"/>
                <a:ea typeface="Arial"/>
                <a:cs typeface="Arial"/>
              </a:rPr>
              <a:t>«Перевести сегодня — или подождать?»</a:t>
            </a:r>
            <a:endParaRPr sz="3400" b="1">
              <a:solidFill>
                <a:srgbClr val="0A0A0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171874F-B630-4FE8-8E5A-F970EC4A0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2984499"/>
            <a:ext cx="7112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900">
                <a:solidFill>
                  <a:srgbClr val="60636E"/>
                </a:solidFill>
                <a:latin typeface="Arial"/>
                <a:ea typeface="Arial"/>
                <a:cs typeface="Arial"/>
              </a:rPr>
              <a:t>Клиент переводит примерно 1–2 раза в месяц — плюс ситуативно перед праздниками. Постоянно следить за рынком он не хочет.</a:t>
            </a:r>
            <a:endParaRPr sz="1900"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Скругленный 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A8F45187-C5DD-4E5A-A1E8-BE2AAA78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65300"/>
            <a:ext cx="3111500" cy="2794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E4DD"/>
          </a:solidFill>
          <a:ln xmlns:a="http://schemas.openxmlformats.org/drawingml/2006/main" w="12700">
            <a:solidFill>
              <a:srgbClr val="DEE0E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750ADFA-C370-48C8-8B2A-30C6472A2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2200" y="2070099"/>
            <a:ext cx="241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>
                <a:solidFill>
                  <a:srgbClr val="FA581B"/>
                </a:solidFill>
              </a:defRPr>
            </a:pPr>
            <a:r>
              <a:rPr sz="1600" b="1">
                <a:solidFill>
                  <a:srgbClr val="FA581B"/>
                </a:solidFill>
                <a:latin typeface="Arial"/>
                <a:ea typeface="Arial"/>
                <a:cs typeface="Arial"/>
              </a:rPr>
              <a:t>Общая выгода</a:t>
            </a:r>
            <a:endParaRPr sz="1600" b="1">
              <a:solidFill>
                <a:srgbClr val="EE007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D4FC4D6-6390-4DC5-A2BB-4D993A273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2200" y="2578099"/>
            <a:ext cx="2349500" cy="172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700" b="1">
                <a:solidFill>
                  <a:srgbClr val="0A0A0E"/>
                </a:solidFill>
                <a:latin typeface="Arial"/>
                <a:ea typeface="Arial"/>
                <a:cs typeface="Arial"/>
              </a:rPr>
              <a:t>Клиент получает уместный момент, а банк сохраняет валютный перевод внутри своего канала.</a:t>
            </a:r>
            <a:endParaRPr sz="1700" b="1">
              <a:solidFill>
                <a:srgbClr val="0A0A0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DBBC0A7-42E8-40BF-ADC2-914E8A4D2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4851399"/>
            <a:ext cx="679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>
                <a:solidFill>
                  <a:srgbClr val="FA581B"/>
                </a:solidFill>
              </a:defRPr>
            </a:pPr>
            <a:r>
              <a:rPr sz="2300" b="1">
                <a:solidFill>
                  <a:srgbClr val="FA581B"/>
                </a:solidFill>
                <a:latin typeface="Arial"/>
                <a:ea typeface="Arial"/>
                <a:cs typeface="Arial"/>
              </a:rPr>
              <a:t>Поэтому уместность важнее охвата.</a:t>
            </a:r>
            <a:endParaRPr sz="2300" b="1">
              <a:solidFill>
                <a:srgbClr val="005C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52814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2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654DB5A6-AAAD-4125-950E-B633E4B4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279400"/>
            <a:ext cx="660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00" b="1">
                <a:solidFill>
                  <a:srgbClr val="FA581B"/>
                </a:solidFill>
                <a:latin typeface="Arial"/>
                <a:ea typeface="Arial"/>
                <a:cs typeface="Arial"/>
              </a:rPr>
              <a:t>ПОВЕДЕНИЕ</a:t>
            </a:r>
            <a:endParaRPr sz="1000" b="1">
              <a:solidFill>
                <a:srgbClr val="005C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663C466-957F-4B3D-8A67-344BE417D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609599"/>
            <a:ext cx="10795000" cy="660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350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Ищем редкие дни с объяснимой выгодой</a:t>
            </a:r>
            <a:endParaRPr sz="3500" b="1">
              <a:solidFill>
                <a:srgbClr val="0A0A0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9F30494-1B11-447B-BA53-CBCFCA31D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6350000"/>
            <a:ext cx="10795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6E5EB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26A835A-2128-4A73-A937-3730A9D22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6438900"/>
            <a:ext cx="635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800" b="1">
                <a:solidFill>
                  <a:srgbClr val="6B6B70"/>
                </a:solidFill>
                <a:latin typeface="Arial"/>
                <a:ea typeface="Arial"/>
                <a:cs typeface="Arial"/>
              </a:rPr>
              <a:t>CIS TRADING  /  ТРИГГЕРНАЯ МОДЕЛЬ</a:t>
            </a:r>
            <a:endParaRPr sz="800" b="1">
              <a:solidFill>
                <a:srgbClr val="91949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8421958-4C0F-4623-9964-00A83BE7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0" y="6413500"/>
            <a:ext cx="5715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1">
                <a:solidFill>
                  <a:srgbClr val="6B6B70"/>
                </a:solidFill>
                <a:latin typeface="Arial"/>
                <a:ea typeface="Arial"/>
                <a:cs typeface="Arial"/>
              </a:rPr>
              <a:t>03</a:t>
            </a:r>
            <a:endParaRPr sz="900" b="1"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6F48ED5-CBAB-4F80-9EF2-D3A59886D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1727199"/>
            <a:ext cx="6350000" cy="355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60636E"/>
                </a:solidFill>
                <a:latin typeface="Arial"/>
                <a:ea typeface="Arial"/>
                <a:cs typeface="Arial"/>
              </a:rPr>
              <a:t>Система отвечает на один вопрос:</a:t>
            </a:r>
            <a:endParaRPr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74378A1-0484-4CAF-9870-03971F48D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2222499"/>
            <a:ext cx="9842500" cy="1041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3400" b="1">
                <a:solidFill>
                  <a:srgbClr val="0A0A0E"/>
                </a:solidFill>
                <a:latin typeface="Arial"/>
                <a:ea typeface="Arial"/>
                <a:cs typeface="Arial"/>
              </a:rPr>
              <a:t>Есть ли сегодня достаточно сильный повод предложить перевод?</a:t>
            </a:r>
            <a:endParaRPr sz="3400" b="1">
              <a:solidFill>
                <a:srgbClr val="0A0A0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 xmlns:a="http://schemas.openxmlformats.org/drawingml/2006/main">
              <a:ext uri="{FF2B5EF4-FFF2-40B4-BE49-F238E27FC236}">
                <a16:creationId xmlns:a16="http://schemas.microsoft.com/office/drawing/2014/main" id="{B28FB598-C3E6-4E47-8598-28D26185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3835400"/>
            <a:ext cx="107950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DEE0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9F992F40-F852-4BC6-B4A6-7C397428C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4203699"/>
            <a:ext cx="3111500" cy="698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>
                <a:solidFill>
                  <a:srgbClr val="FA581B"/>
                </a:solidFill>
              </a:defRPr>
            </a:pPr>
            <a:r>
              <a:rPr sz="3400" b="1">
                <a:solidFill>
                  <a:srgbClr val="FA581B"/>
                </a:solidFill>
                <a:latin typeface="Arial"/>
                <a:ea typeface="Arial"/>
                <a:cs typeface="Arial"/>
              </a:rPr>
              <a:t>СЕГОДНЯ</a:t>
            </a:r>
            <a:endParaRPr sz="3400" b="1">
              <a:solidFill>
                <a:srgbClr val="005C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BA2D0F0-B915-4F36-9E89-97FA0E1D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4902199"/>
            <a:ext cx="3111500" cy="635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600">
                <a:solidFill>
                  <a:srgbClr val="60636E"/>
                </a:solidFill>
                <a:latin typeface="Arial"/>
                <a:ea typeface="Arial"/>
                <a:cs typeface="Arial"/>
              </a:rPr>
              <a:t>оценка только по прошлому и настоящему</a:t>
            </a:r>
            <a:endParaRPr sz="1600"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5A25CB3-EB7E-4FB2-9EA1-DEF4A6AD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203699"/>
            <a:ext cx="3111500" cy="698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>
                <a:solidFill>
                  <a:srgbClr val="FD9066"/>
                </a:solidFill>
              </a:defRPr>
            </a:pPr>
            <a:r>
              <a:rPr sz="3400" b="1">
                <a:solidFill>
                  <a:srgbClr val="FD9066"/>
                </a:solidFill>
                <a:latin typeface="Arial"/>
                <a:ea typeface="Arial"/>
                <a:cs typeface="Arial"/>
              </a:rPr>
              <a:t>ГОРИЗОНТ</a:t>
            </a:r>
            <a:endParaRPr sz="3400" b="1">
              <a:solidFill>
                <a:srgbClr val="EE007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7BD0690E-969C-434D-A31F-AC2D8F47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902199"/>
            <a:ext cx="3111500" cy="635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600">
                <a:solidFill>
                  <a:srgbClr val="60636E"/>
                </a:solidFill>
                <a:latin typeface="Arial"/>
                <a:ea typeface="Arial"/>
                <a:cs typeface="Arial"/>
              </a:rPr>
              <a:t>сколько дней вперед учитываем в решении</a:t>
            </a:r>
            <a:endParaRPr sz="1600"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1E37C444-0226-4456-9FA4-D95A2C327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500" y="4203699"/>
            <a:ext cx="3175000" cy="698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>
                <a:solidFill>
                  <a:srgbClr val="090909"/>
                </a:solidFill>
              </a:defRPr>
            </a:pPr>
            <a:r>
              <a:rPr sz="340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ТИШИНА</a:t>
            </a:r>
            <a:endParaRPr sz="3400" b="1">
              <a:solidFill>
                <a:srgbClr val="005C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521A932D-1C0D-4229-9CEF-06C8FD129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8500" y="4902199"/>
            <a:ext cx="3175000" cy="635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600">
                <a:solidFill>
                  <a:srgbClr val="60636E"/>
                </a:solidFill>
                <a:latin typeface="Arial"/>
                <a:ea typeface="Arial"/>
                <a:cs typeface="Arial"/>
              </a:rPr>
              <a:t>слабый сигнал не превращаем в пуш ради частоты</a:t>
            </a:r>
            <a:endParaRPr sz="1600"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355606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2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30F4B69D-AA07-4093-AC9D-E6C924CA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279400"/>
            <a:ext cx="660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00" b="1">
                <a:solidFill>
                  <a:srgbClr val="FA581B"/>
                </a:solidFill>
                <a:latin typeface="Arial"/>
                <a:ea typeface="Arial"/>
                <a:cs typeface="Arial"/>
              </a:rPr>
              <a:t>ПРОДУКТОВЫЙ КОНТРАКТ</a:t>
            </a:r>
            <a:endParaRPr sz="1000" b="1">
              <a:solidFill>
                <a:srgbClr val="005C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B0E7D49-187F-420B-83EB-D61E54614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609599"/>
            <a:ext cx="10795000" cy="660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350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Лояльность задаёт границы частоты</a:t>
            </a:r>
            <a:endParaRPr sz="3500" b="1">
              <a:solidFill>
                <a:srgbClr val="0A0A0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C6D3941-A5C1-486F-8060-148C040D9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6350000"/>
            <a:ext cx="10795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6E5EB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34393D7-7333-4A4B-9066-EA7F35C8C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6438900"/>
            <a:ext cx="635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800" b="1">
                <a:solidFill>
                  <a:srgbClr val="6B6B70"/>
                </a:solidFill>
                <a:latin typeface="Arial"/>
                <a:ea typeface="Arial"/>
                <a:cs typeface="Arial"/>
              </a:rPr>
              <a:t>CIS TRADING  /  ТРИГГЕРНАЯ МОДЕЛЬ</a:t>
            </a:r>
            <a:endParaRPr sz="800" b="1">
              <a:solidFill>
                <a:srgbClr val="91949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D95F982-6BE9-4BD5-8C6A-5E6247AE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0" y="6413500"/>
            <a:ext cx="5715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1">
                <a:solidFill>
                  <a:srgbClr val="6B6B70"/>
                </a:solidFill>
                <a:latin typeface="Arial"/>
                <a:ea typeface="Arial"/>
                <a:cs typeface="Arial"/>
              </a:rPr>
              <a:t>04</a:t>
            </a:r>
            <a:endParaRPr sz="900" b="1"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8835A51-9D03-4D46-862D-725EA3ABD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2095499"/>
            <a:ext cx="1841500" cy="838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>
                <a:solidFill>
                  <a:srgbClr val="FA581B"/>
                </a:solidFill>
              </a:defRPr>
            </a:pPr>
            <a:r>
              <a:rPr sz="3800" b="1">
                <a:solidFill>
                  <a:srgbClr val="FA581B"/>
                </a:solidFill>
                <a:latin typeface="Arial"/>
                <a:ea typeface="Arial"/>
                <a:cs typeface="Arial"/>
              </a:rPr>
              <a:t>1–2</a:t>
            </a:r>
            <a:endParaRPr sz="3800" b="1">
              <a:solidFill>
                <a:srgbClr val="005C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3FC8650-12FB-478B-8B17-3B033351E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3047999"/>
            <a:ext cx="1841500" cy="1168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600">
                <a:solidFill>
                  <a:srgbClr val="60636E"/>
                </a:solidFill>
                <a:latin typeface="Arial"/>
                <a:ea typeface="Arial"/>
                <a:cs typeface="Arial"/>
              </a:rPr>
              <a:t>пуша в месяц — не реже</a:t>
            </a:r>
            <a:endParaRPr sz="1600"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 xmlns:a="http://schemas.openxmlformats.org/drawingml/2006/main">
              <a:ext uri="{FF2B5EF4-FFF2-40B4-BE49-F238E27FC236}">
                <a16:creationId xmlns:a16="http://schemas.microsoft.com/office/drawing/2014/main" id="{E54548C4-1141-4ED6-BF79-363A44E19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3500" y="2095500"/>
            <a:ext cx="0" cy="241300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DEE0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44E59DC-B0E8-4D90-9229-4D9A9E6E6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95499"/>
            <a:ext cx="1841500" cy="838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>
                <a:solidFill>
                  <a:srgbClr val="FD9066"/>
                </a:solidFill>
              </a:defRPr>
            </a:pPr>
            <a:r>
              <a:rPr sz="3800" b="1">
                <a:solidFill>
                  <a:srgbClr val="FD9066"/>
                </a:solidFill>
                <a:latin typeface="Arial"/>
                <a:ea typeface="Arial"/>
                <a:cs typeface="Arial"/>
              </a:rPr>
              <a:t>1–2</a:t>
            </a:r>
            <a:endParaRPr sz="3800" b="1">
              <a:solidFill>
                <a:srgbClr val="EE007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BB60643-2E39-4A4F-8025-B5F85B726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47999"/>
            <a:ext cx="1841500" cy="1168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600">
                <a:solidFill>
                  <a:srgbClr val="60636E"/>
                </a:solidFill>
                <a:latin typeface="Arial"/>
                <a:ea typeface="Arial"/>
                <a:cs typeface="Arial"/>
              </a:rPr>
              <a:t>пуша в неделю — не чаще</a:t>
            </a:r>
            <a:endParaRPr sz="1600"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Прямая соединительная линия 11">
            <a:extLst xmlns:a="http://schemas.openxmlformats.org/drawingml/2006/main">
              <a:ext uri="{FF2B5EF4-FFF2-40B4-BE49-F238E27FC236}">
                <a16:creationId xmlns:a16="http://schemas.microsoft.com/office/drawing/2014/main" id="{989C97E3-6673-41E3-84C4-EB6FCC81D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95500"/>
            <a:ext cx="0" cy="241300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DEE0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E232E595-7919-45A6-8791-F9DC7DFF4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6500" y="2095499"/>
            <a:ext cx="1841500" cy="838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>
                <a:solidFill>
                  <a:srgbClr val="FA581B"/>
                </a:solidFill>
              </a:defRPr>
            </a:pPr>
            <a:r>
              <a:rPr sz="3800" b="1">
                <a:solidFill>
                  <a:srgbClr val="FA581B"/>
                </a:solidFill>
                <a:latin typeface="Arial"/>
                <a:ea typeface="Arial"/>
                <a:cs typeface="Arial"/>
              </a:rPr>
              <a:t>90%</a:t>
            </a:r>
            <a:endParaRPr sz="3800" b="1">
              <a:solidFill>
                <a:srgbClr val="005C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20700748-66C2-48AB-BE1A-66F76F727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6500" y="3047999"/>
            <a:ext cx="1841500" cy="1168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600">
                <a:solidFill>
                  <a:srgbClr val="60636E"/>
                </a:solidFill>
                <a:latin typeface="Arial"/>
                <a:ea typeface="Arial"/>
                <a:cs typeface="Arial"/>
              </a:rPr>
              <a:t>минимальная доля правдивых пушей</a:t>
            </a:r>
            <a:endParaRPr sz="1600"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Прямая соединительная линия 14">
            <a:extLst xmlns:a="http://schemas.openxmlformats.org/drawingml/2006/main">
              <a:ext uri="{FF2B5EF4-FFF2-40B4-BE49-F238E27FC236}">
                <a16:creationId xmlns:a16="http://schemas.microsoft.com/office/drawing/2014/main" id="{48B28FB0-AF08-42D6-8140-DF4DADA7D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1500" y="2095500"/>
            <a:ext cx="0" cy="241300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DEE0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C9BA0CE3-24B0-4B53-8609-1388881D6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5500" y="2095499"/>
            <a:ext cx="1841500" cy="838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>
                <a:solidFill>
                  <a:srgbClr val="FD9066"/>
                </a:solidFill>
              </a:defRPr>
            </a:pPr>
            <a:r>
              <a:rPr sz="3800" b="1">
                <a:solidFill>
                  <a:srgbClr val="FD9066"/>
                </a:solidFill>
                <a:latin typeface="Arial"/>
                <a:ea typeface="Arial"/>
                <a:cs typeface="Arial"/>
              </a:rPr>
              <a:t>4</a:t>
            </a:r>
            <a:endParaRPr sz="3800" b="1">
              <a:solidFill>
                <a:srgbClr val="EE007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757D3DC9-B426-493E-B172-F02FEA3A9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5500" y="3047999"/>
            <a:ext cx="1841500" cy="1168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600">
                <a:solidFill>
                  <a:srgbClr val="60636E"/>
                </a:solidFill>
                <a:latin typeface="Arial"/>
                <a:ea typeface="Arial"/>
                <a:cs typeface="Arial"/>
              </a:rPr>
              <a:t>дня cooldown после отправки</a:t>
            </a:r>
            <a:endParaRPr sz="1600"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Прямая соединительная линия 17">
            <a:extLst xmlns:a="http://schemas.openxmlformats.org/drawingml/2006/main">
              <a:ext uri="{FF2B5EF4-FFF2-40B4-BE49-F238E27FC236}">
                <a16:creationId xmlns:a16="http://schemas.microsoft.com/office/drawing/2014/main" id="{39E7D669-07AE-424F-9929-CB6DA8040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0500" y="2095500"/>
            <a:ext cx="0" cy="241300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DEE0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DE9FC4D0-5465-4DCC-9137-AC1CF669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95499"/>
            <a:ext cx="1841500" cy="838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>
                <a:solidFill>
                  <a:srgbClr val="FA581B"/>
                </a:solidFill>
              </a:defRPr>
            </a:pPr>
            <a:r>
              <a:rPr sz="3800" b="1">
                <a:solidFill>
                  <a:srgbClr val="FA581B"/>
                </a:solidFill>
                <a:latin typeface="Arial"/>
                <a:ea typeface="Arial"/>
                <a:cs typeface="Arial"/>
              </a:rPr>
              <a:t>0</a:t>
            </a:r>
            <a:endParaRPr sz="3800" b="1">
              <a:solidFill>
                <a:srgbClr val="005C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4C56E20B-9BC2-46F8-B85E-A4077ABF9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47999"/>
            <a:ext cx="1841500" cy="1168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600">
                <a:solidFill>
                  <a:srgbClr val="60636E"/>
                </a:solidFill>
                <a:latin typeface="Arial"/>
                <a:ea typeface="Arial"/>
                <a:cs typeface="Arial"/>
              </a:rPr>
              <a:t>давления и ложной срочности</a:t>
            </a:r>
            <a:endParaRPr sz="1600"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FADF919A-F6E6-4DF8-A201-E0A915578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5143499"/>
            <a:ext cx="10795000" cy="393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2200" b="1">
                <a:solidFill>
                  <a:srgbClr val="0A0A0E"/>
                </a:solidFill>
                <a:latin typeface="Arial"/>
                <a:ea typeface="Arial"/>
                <a:cs typeface="Arial"/>
              </a:rPr>
              <a:t>Редкий правдивый пуш лучше частой коммуникации без достаточного повода.</a:t>
            </a:r>
            <a:endParaRPr sz="2200" b="1">
              <a:solidFill>
                <a:srgbClr val="0A0A0E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761917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2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EEF515F7-2408-483D-B58B-FEE8D11D2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279400"/>
            <a:ext cx="660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00" b="1">
                <a:solidFill>
                  <a:srgbClr val="FA581B"/>
                </a:solidFill>
                <a:latin typeface="Arial"/>
                <a:ea typeface="Arial"/>
                <a:cs typeface="Arial"/>
              </a:rPr>
              <a:t>МОДЕЛЬ</a:t>
            </a:r>
            <a:endParaRPr sz="1000" b="1">
              <a:solidFill>
                <a:srgbClr val="005C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775B030-3116-47ED-8C28-986CD55F7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609599"/>
            <a:ext cx="10795000" cy="660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350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Тестируем закреплённые параметры модели</a:t>
            </a:r>
            <a:endParaRPr sz="3500" b="1">
              <a:solidFill>
                <a:srgbClr val="0A0A0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48473BB-1643-4A1B-BB0E-22AC7BDA7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6350000"/>
            <a:ext cx="10795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6E5EB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6F6B2C9-008F-4116-85D4-80C399E17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6438900"/>
            <a:ext cx="635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800" b="1">
                <a:solidFill>
                  <a:srgbClr val="6B6B70"/>
                </a:solidFill>
                <a:latin typeface="Arial"/>
                <a:ea typeface="Arial"/>
                <a:cs typeface="Arial"/>
              </a:rPr>
              <a:t>CIS TRADING  /  ТРИГГЕРНАЯ МОДЕЛЬ</a:t>
            </a:r>
            <a:endParaRPr sz="800" b="1">
              <a:solidFill>
                <a:srgbClr val="91949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59CDC2B-40B3-4DA5-ACA0-25E1554AA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0" y="6413500"/>
            <a:ext cx="5715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1">
                <a:solidFill>
                  <a:srgbClr val="6B6B70"/>
                </a:solidFill>
                <a:latin typeface="Arial"/>
                <a:ea typeface="Arial"/>
                <a:cs typeface="Arial"/>
              </a:rPr>
              <a:t>05</a:t>
            </a:r>
            <a:endParaRPr sz="900" b="1"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Прямая соединительная линия 6">
            <a:extLst xmlns:a="http://schemas.openxmlformats.org/drawingml/2006/main">
              <a:ext uri="{FF2B5EF4-FFF2-40B4-BE49-F238E27FC236}">
                <a16:creationId xmlns:a16="http://schemas.microsoft.com/office/drawing/2014/main" id="{9C05670E-6642-4234-B641-EF62943AD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0900" y="3009900"/>
            <a:ext cx="1905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FA581B"/>
            </a:solidFill>
            <a:prstDash val="solid"/>
            <a:tailEnd type="arrow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" name="Прямая соединительная линия 7">
            <a:extLst xmlns:a="http://schemas.openxmlformats.org/drawingml/2006/main">
              <a:ext uri="{FF2B5EF4-FFF2-40B4-BE49-F238E27FC236}">
                <a16:creationId xmlns:a16="http://schemas.microsoft.com/office/drawing/2014/main" id="{D0C9A203-35E5-4E51-B110-FE46940E4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009900"/>
            <a:ext cx="1905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FA581B"/>
            </a:solidFill>
            <a:prstDash val="solid"/>
            <a:tailEnd type="arrow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Прямая соединительная линия 8">
            <a:extLst xmlns:a="http://schemas.openxmlformats.org/drawingml/2006/main">
              <a:ext uri="{FF2B5EF4-FFF2-40B4-BE49-F238E27FC236}">
                <a16:creationId xmlns:a16="http://schemas.microsoft.com/office/drawing/2014/main" id="{AE3BE309-F767-4CFB-86FF-E1C7F2796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500" y="3009900"/>
            <a:ext cx="1905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FA581B"/>
            </a:solidFill>
            <a:prstDash val="solid"/>
            <a:tailEnd type="arrow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Прямая соединительная линия 9">
            <a:extLst xmlns:a="http://schemas.openxmlformats.org/drawingml/2006/main">
              <a:ext uri="{FF2B5EF4-FFF2-40B4-BE49-F238E27FC236}">
                <a16:creationId xmlns:a16="http://schemas.microsoft.com/office/drawing/2014/main" id="{27806979-51B0-4388-9E7F-1C15AD2A9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6800" y="3009900"/>
            <a:ext cx="1905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FA581B"/>
            </a:solidFill>
            <a:prstDash val="solid"/>
            <a:tailEnd type="arrow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Прямая соединительная линия 10">
            <a:extLst xmlns:a="http://schemas.openxmlformats.org/drawingml/2006/main">
              <a:ext uri="{FF2B5EF4-FFF2-40B4-BE49-F238E27FC236}">
                <a16:creationId xmlns:a16="http://schemas.microsoft.com/office/drawing/2014/main" id="{66265F88-531C-40D9-A47C-91185DC4D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009900"/>
            <a:ext cx="1905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FA581B"/>
            </a:solidFill>
            <a:prstDash val="solid"/>
            <a:tailEnd type="arrow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Скругленный 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0CAD71F1-5295-4F9C-8690-117D2574F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2349500"/>
            <a:ext cx="1422400" cy="1320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E4DD"/>
          </a:solidFill>
          <a:ln xmlns:a="http://schemas.openxmlformats.org/drawingml/2006/main" w="12700">
            <a:solidFill>
              <a:srgbClr val="DEE0E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13C0D672-2CB5-4635-AE8D-16C2B791D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2603499"/>
            <a:ext cx="1168400" cy="863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>
                <a:solidFill>
                  <a:srgbClr val="090909"/>
                </a:solidFill>
              </a:defRPr>
            </a:pPr>
            <a:r>
              <a:rPr sz="160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Горизонт</a:t>
            </a:r>
          </a:p>
        </p:txBody>
      </p:sp>
      <p:sp>
        <p:nvSpPr>
          <p:cNvPr id="14" name="Скругленный прямоугольник 13">
            <a:extLst xmlns:a="http://schemas.openxmlformats.org/drawingml/2006/main">
              <a:ext uri="{FF2B5EF4-FFF2-40B4-BE49-F238E27FC236}">
                <a16:creationId xmlns:a16="http://schemas.microsoft.com/office/drawing/2014/main" id="{02C7042D-B3AF-40BB-95A9-0FB328E0E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3800" y="2349500"/>
            <a:ext cx="1422400" cy="1320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E4DD"/>
          </a:solidFill>
          <a:ln xmlns:a="http://schemas.openxmlformats.org/drawingml/2006/main" w="12700">
            <a:solidFill>
              <a:srgbClr val="DEE0E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1414640F-7214-48EF-9658-C2376E05B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603499"/>
            <a:ext cx="1168400" cy="863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>
                <a:solidFill>
                  <a:srgbClr val="090909"/>
                </a:solidFill>
              </a:defRPr>
            </a:pPr>
            <a:r>
              <a:rPr sz="160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Порог</a:t>
            </a:r>
          </a:p>
          <a:p xmlns:a="http://schemas.openxmlformats.org/drawingml/2006/main">
            <a:pPr algn="ctr">
              <a:buNone/>
              <a:defRPr>
                <a:solidFill>
                  <a:srgbClr val="090909"/>
                </a:solidFill>
              </a:defRPr>
            </a:pPr>
            <a:r>
              <a:rPr sz="160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выгоды</a:t>
            </a:r>
            <a:endParaRPr sz="1600" b="1">
              <a:solidFill>
                <a:srgbClr val="0A0A0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Скругленный прямоугольник 15">
            <a:extLst xmlns:a="http://schemas.openxmlformats.org/drawingml/2006/main">
              <a:ext uri="{FF2B5EF4-FFF2-40B4-BE49-F238E27FC236}">
                <a16:creationId xmlns:a16="http://schemas.microsoft.com/office/drawing/2014/main" id="{C06AA3CE-3E36-44FE-B4E1-20A441451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49500"/>
            <a:ext cx="1422400" cy="1320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E4DD"/>
          </a:solidFill>
          <a:ln xmlns:a="http://schemas.openxmlformats.org/drawingml/2006/main" w="12700">
            <a:solidFill>
              <a:srgbClr val="DEE0E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63B1C81F-8D52-4E96-957D-C63B28C36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6100" y="2603499"/>
            <a:ext cx="1168400" cy="863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>
                <a:solidFill>
                  <a:srgbClr val="090909"/>
                </a:solidFill>
              </a:defRPr>
            </a:pPr>
            <a:r>
              <a:rPr sz="160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Окно</a:t>
            </a:r>
          </a:p>
          <a:p xmlns:a="http://schemas.openxmlformats.org/drawingml/2006/main">
            <a:pPr algn="ctr">
              <a:buNone/>
              <a:defRPr>
                <a:solidFill>
                  <a:srgbClr val="090909"/>
                </a:solidFill>
              </a:defRPr>
            </a:pPr>
            <a:r>
              <a:rPr sz="160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расчёта</a:t>
            </a:r>
            <a:endParaRPr sz="1600" b="1">
              <a:solidFill>
                <a:srgbClr val="0A0A0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Скругленный прямоугольник 17">
            <a:extLst xmlns:a="http://schemas.openxmlformats.org/drawingml/2006/main">
              <a:ext uri="{FF2B5EF4-FFF2-40B4-BE49-F238E27FC236}">
                <a16:creationId xmlns:a16="http://schemas.microsoft.com/office/drawing/2014/main" id="{C45DCF49-BBA3-4FD3-9ADB-927F86D7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4400" y="2349500"/>
            <a:ext cx="1422400" cy="1320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E4DD"/>
          </a:solidFill>
          <a:ln xmlns:a="http://schemas.openxmlformats.org/drawingml/2006/main" w="12700">
            <a:solidFill>
              <a:srgbClr val="DEE0E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D66D5A45-5A52-4CC5-8060-47110A57D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1400" y="2603499"/>
            <a:ext cx="1168400" cy="863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>
                <a:solidFill>
                  <a:srgbClr val="090909"/>
                </a:solidFill>
              </a:defRPr>
            </a:pPr>
            <a:r>
              <a:rPr sz="160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Портрет</a:t>
            </a:r>
          </a:p>
          <a:p xmlns:a="http://schemas.openxmlformats.org/drawingml/2006/main">
            <a:pPr algn="ctr">
              <a:buNone/>
              <a:defRPr>
                <a:solidFill>
                  <a:srgbClr val="090909"/>
                </a:solidFill>
              </a:defRPr>
            </a:pPr>
            <a:r>
              <a:rPr sz="160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клиента</a:t>
            </a:r>
            <a:endParaRPr sz="1600" b="1">
              <a:solidFill>
                <a:srgbClr val="0A0A0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Скругленный прямоугольник 19">
            <a:extLst xmlns:a="http://schemas.openxmlformats.org/drawingml/2006/main">
              <a:ext uri="{FF2B5EF4-FFF2-40B4-BE49-F238E27FC236}">
                <a16:creationId xmlns:a16="http://schemas.microsoft.com/office/drawing/2014/main" id="{F6E460D0-243E-4EB6-B0B7-95D6B831F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9700" y="2349500"/>
            <a:ext cx="1422400" cy="1320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E4DD"/>
          </a:solidFill>
          <a:ln xmlns:a="http://schemas.openxmlformats.org/drawingml/2006/main" w="12700">
            <a:solidFill>
              <a:srgbClr val="DEE0E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16E755A4-B6EB-4386-8A1C-E98099FD9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03499"/>
            <a:ext cx="1168400" cy="863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>
                <a:solidFill>
                  <a:srgbClr val="090909"/>
                </a:solidFill>
              </a:defRPr>
            </a:pPr>
            <a:r>
              <a:rPr sz="160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Тихий</a:t>
            </a:r>
          </a:p>
          <a:p xmlns:a="http://schemas.openxmlformats.org/drawingml/2006/main">
            <a:pPr algn="ctr">
              <a:buNone/>
              <a:defRPr>
                <a:solidFill>
                  <a:srgbClr val="090909"/>
                </a:solidFill>
              </a:defRPr>
            </a:pPr>
            <a:r>
              <a:rPr sz="160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месяц</a:t>
            </a:r>
            <a:endParaRPr sz="1600" b="1">
              <a:solidFill>
                <a:srgbClr val="0A0A0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Скругленный прямоугольник 21">
            <a:extLst xmlns:a="http://schemas.openxmlformats.org/drawingml/2006/main">
              <a:ext uri="{FF2B5EF4-FFF2-40B4-BE49-F238E27FC236}">
                <a16:creationId xmlns:a16="http://schemas.microsoft.com/office/drawing/2014/main" id="{20C03746-E983-45C4-B7A3-2EC5EB6C0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49500"/>
            <a:ext cx="1422400" cy="1320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0909"/>
          </a:solidFill>
          <a:ln xmlns:a="http://schemas.openxmlformats.org/drawingml/2006/main" w="12700">
            <a:solidFill>
              <a:srgbClr val="DEE0E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9F5BB42A-984B-44C1-B72E-C2522EF32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0" y="2603499"/>
            <a:ext cx="1168400" cy="863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Канал</a:t>
            </a:r>
          </a:p>
          <a:p xmlns:a="http://schemas.openxmlformats.org/drawingml/2006/main">
            <a:pPr algn="ctr">
              <a:buNone/>
              <a:defRPr>
                <a:solidFill>
                  <a:srgbClr val="FFFFFF"/>
                </a:solidFill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пуша</a:t>
            </a:r>
            <a:endParaRPr sz="16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F7167776-8318-4C2E-A669-9F623614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4343399"/>
            <a:ext cx="10795000" cy="431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>
                <a:solidFill>
                  <a:srgbClr val="FA581B"/>
                </a:solidFill>
              </a:defRPr>
            </a:pPr>
            <a:r>
              <a:rPr sz="2200" b="1">
                <a:solidFill>
                  <a:srgbClr val="FA581B"/>
                </a:solidFill>
                <a:latin typeface="Arial"/>
                <a:ea typeface="Arial"/>
                <a:cs typeface="Arial"/>
              </a:rPr>
              <a:t>Переменные закрепляем по очереди и в комбинациях.</a:t>
            </a:r>
            <a:endParaRPr sz="2200" b="1">
              <a:solidFill>
                <a:srgbClr val="EE007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E5BF8B48-B4AE-4193-967E-3A48DF83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4940299"/>
            <a:ext cx="1003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60636E"/>
                </a:solidFill>
                <a:latin typeface="Arial"/>
                <a:ea typeface="Arial"/>
                <a:cs typeface="Arial"/>
              </a:rPr>
              <a:t>Так отделяем вклад настройки от случайности и находим устойчивую policy отправки.</a:t>
            </a:r>
            <a:endParaRPr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1990836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2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17C75485-645D-400A-B43E-0B41179A5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279400"/>
            <a:ext cx="660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00" b="1">
                <a:solidFill>
                  <a:srgbClr val="FA581B"/>
                </a:solidFill>
                <a:latin typeface="Arial"/>
                <a:ea typeface="Arial"/>
                <a:cs typeface="Arial"/>
              </a:rPr>
              <a:t>ДАННЫЕ</a:t>
            </a:r>
            <a:endParaRPr sz="1000" b="1">
              <a:solidFill>
                <a:srgbClr val="005C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83F648A-D650-4212-B2AA-CA174EE66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609599"/>
            <a:ext cx="10795000" cy="660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350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10 лет данных → 2 462 полные метки</a:t>
            </a:r>
            <a:endParaRPr sz="3500" b="1">
              <a:solidFill>
                <a:srgbClr val="0A0A0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17BC63A-99D2-4695-A098-D2AC6F67A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6350000"/>
            <a:ext cx="10795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6E5EB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BEBDA3A-9F03-4441-B9B5-7DDABE641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6438900"/>
            <a:ext cx="635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800" b="1">
                <a:solidFill>
                  <a:srgbClr val="6B6B70"/>
                </a:solidFill>
                <a:latin typeface="Arial"/>
                <a:ea typeface="Arial"/>
                <a:cs typeface="Arial"/>
              </a:rPr>
              <a:t>CIS TRADING  /  ТРИГГЕРНАЯ МОДЕЛЬ</a:t>
            </a:r>
            <a:endParaRPr sz="800" b="1">
              <a:solidFill>
                <a:srgbClr val="91949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758C9BA-1AD4-42EB-AFA5-21A8430F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0" y="6413500"/>
            <a:ext cx="5715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1">
                <a:solidFill>
                  <a:srgbClr val="6B6B70"/>
                </a:solidFill>
                <a:latin typeface="Arial"/>
                <a:ea typeface="Arial"/>
                <a:cs typeface="Arial"/>
              </a:rPr>
              <a:t>06</a:t>
            </a:r>
            <a:endParaRPr sz="900" b="1"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2373CEB-BF6A-4A27-82CA-D2F7F417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1841499"/>
            <a:ext cx="2222500" cy="698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>
                <a:solidFill>
                  <a:srgbClr val="FA581B"/>
                </a:solidFill>
              </a:defRPr>
            </a:pPr>
            <a:r>
              <a:rPr sz="3400" b="1">
                <a:solidFill>
                  <a:srgbClr val="FA581B"/>
                </a:solidFill>
                <a:latin typeface="Arial"/>
                <a:ea typeface="Arial"/>
                <a:cs typeface="Arial"/>
              </a:rPr>
              <a:t>2 468</a:t>
            </a:r>
            <a:endParaRPr sz="3400" b="1">
              <a:solidFill>
                <a:srgbClr val="005C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C6AF3D7-9800-4876-BABA-A9D831EF4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2539999"/>
            <a:ext cx="2222500" cy="635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600">
                <a:solidFill>
                  <a:srgbClr val="60636E"/>
                </a:solidFill>
                <a:latin typeface="Arial"/>
                <a:ea typeface="Arial"/>
                <a:cs typeface="Arial"/>
              </a:rPr>
              <a:t>наблюдений</a:t>
            </a:r>
            <a:endParaRPr sz="1600"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42A348D-5A80-4F61-935C-8E5245E3F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3251199"/>
            <a:ext cx="2222500" cy="698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>
                <a:solidFill>
                  <a:srgbClr val="FD9066"/>
                </a:solidFill>
              </a:defRPr>
            </a:pPr>
            <a:r>
              <a:rPr sz="3400" b="1">
                <a:solidFill>
                  <a:srgbClr val="FD9066"/>
                </a:solidFill>
                <a:latin typeface="Arial"/>
                <a:ea typeface="Arial"/>
                <a:cs typeface="Arial"/>
              </a:rPr>
              <a:t>2 462</a:t>
            </a:r>
            <a:endParaRPr sz="3400" b="1">
              <a:solidFill>
                <a:srgbClr val="EE007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1567028-7706-49F0-BEF4-A96727EEA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3949699"/>
            <a:ext cx="2222500" cy="635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600">
                <a:solidFill>
                  <a:srgbClr val="60636E"/>
                </a:solidFill>
                <a:latin typeface="Arial"/>
                <a:ea typeface="Arial"/>
                <a:cs typeface="Arial"/>
              </a:rPr>
              <a:t>полные метки</a:t>
            </a:r>
            <a:endParaRPr sz="1600"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489761E0-253E-4059-B276-A4EE424DF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4660899"/>
            <a:ext cx="2540000" cy="698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>
                <a:solidFill>
                  <a:srgbClr val="FA581B"/>
                </a:solidFill>
              </a:defRPr>
            </a:pPr>
            <a:r>
              <a:rPr sz="3400" b="1">
                <a:solidFill>
                  <a:srgbClr val="FA581B"/>
                </a:solidFill>
                <a:latin typeface="Arial"/>
                <a:ea typeface="Arial"/>
                <a:cs typeface="Arial"/>
              </a:rPr>
              <a:t>29,5%</a:t>
            </a:r>
            <a:endParaRPr sz="3400" b="1">
              <a:solidFill>
                <a:srgbClr val="005C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C5DCB89-DC3F-4AC1-9547-3EBD06F6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5359399"/>
            <a:ext cx="2540000" cy="635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600">
                <a:solidFill>
                  <a:srgbClr val="60636E"/>
                </a:solidFill>
                <a:latin typeface="Arial"/>
                <a:ea typeface="Arial"/>
                <a:cs typeface="Arial"/>
              </a:rPr>
              <a:t>дней </a:t>
            </a:r>
            <a:r>
              <a:rPr sz="1600">
                <a:solidFill>
                  <a:srgbClr val="60636E"/>
                </a:solidFill>
                <a:latin typeface="Arial"/>
                <a:ea typeface="Arial"/>
                <a:cs typeface="Arial"/>
              </a:rPr>
              <a:t>target_good_now = 1</a:t>
            </a:r>
            <a:endParaRPr sz="1600"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EE4E8B06-E4EB-409A-BB7D-7D7A10886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0" y="1714499"/>
            <a:ext cx="6096000" cy="355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rgbClr val="60636E"/>
                </a:solidFill>
                <a:latin typeface="Arial"/>
                <a:ea typeface="Arial"/>
                <a:cs typeface="Arial"/>
              </a:rPr>
              <a:t>02.09.2016 — 02.09.2026</a:t>
            </a:r>
            <a:endParaRPr sz="1600" b="1"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Прямая соединительная линия 13">
            <a:extLst xmlns:a="http://schemas.openxmlformats.org/drawingml/2006/main">
              <a:ext uri="{FF2B5EF4-FFF2-40B4-BE49-F238E27FC236}">
                <a16:creationId xmlns:a16="http://schemas.microsoft.com/office/drawing/2014/main" id="{FEB176C0-9D11-4EED-8C6C-3E627D453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0" y="5080000"/>
            <a:ext cx="74295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DEE0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Прямая соединительная линия 14">
            <a:extLst xmlns:a="http://schemas.openxmlformats.org/drawingml/2006/main">
              <a:ext uri="{FF2B5EF4-FFF2-40B4-BE49-F238E27FC236}">
                <a16:creationId xmlns:a16="http://schemas.microsoft.com/office/drawing/2014/main" id="{F9986CDE-6FF9-472B-95AF-ADA25682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0" y="2349500"/>
            <a:ext cx="0" cy="273050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DEE0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Прямая соединительная линия 15">
            <a:extLst xmlns:a="http://schemas.openxmlformats.org/drawingml/2006/main">
              <a:ext uri="{FF2B5EF4-FFF2-40B4-BE49-F238E27FC236}">
                <a16:creationId xmlns:a16="http://schemas.microsoft.com/office/drawing/2014/main" id="{8F3B4FFB-70AE-4B8B-8EEC-54797DECC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0" y="3043867"/>
            <a:ext cx="104641" cy="229598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" name="Прямая соединительная линия 16">
            <a:extLst xmlns:a="http://schemas.openxmlformats.org/drawingml/2006/main">
              <a:ext uri="{FF2B5EF4-FFF2-40B4-BE49-F238E27FC236}">
                <a16:creationId xmlns:a16="http://schemas.microsoft.com/office/drawing/2014/main" id="{E5E997CD-F3F1-4176-852A-81C14840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168641" y="3221462"/>
            <a:ext cx="104641" cy="52003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Прямая соединительная линия 17">
            <a:extLst xmlns:a="http://schemas.openxmlformats.org/drawingml/2006/main">
              <a:ext uri="{FF2B5EF4-FFF2-40B4-BE49-F238E27FC236}">
                <a16:creationId xmlns:a16="http://schemas.microsoft.com/office/drawing/2014/main" id="{EA004DD9-F7F5-4C21-971D-771BB7D27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282" y="3221462"/>
            <a:ext cx="104641" cy="345718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9" name="Прямая соединительная линия 18">
            <a:extLst xmlns:a="http://schemas.openxmlformats.org/drawingml/2006/main">
              <a:ext uri="{FF2B5EF4-FFF2-40B4-BE49-F238E27FC236}">
                <a16:creationId xmlns:a16="http://schemas.microsoft.com/office/drawing/2014/main" id="{85F1580F-2343-40C5-A833-CAC094CC6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7923" y="3567180"/>
            <a:ext cx="104640" cy="421641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Прямая соединительная линия 19">
            <a:extLst xmlns:a="http://schemas.openxmlformats.org/drawingml/2006/main">
              <a:ext uri="{FF2B5EF4-FFF2-40B4-BE49-F238E27FC236}">
                <a16:creationId xmlns:a16="http://schemas.microsoft.com/office/drawing/2014/main" id="{3205CDC3-AF73-47A2-A670-8B21D1358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2563" y="3988821"/>
            <a:ext cx="104641" cy="261679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Прямая соединительная линия 20">
            <a:extLst xmlns:a="http://schemas.openxmlformats.org/drawingml/2006/main">
              <a:ext uri="{FF2B5EF4-FFF2-40B4-BE49-F238E27FC236}">
                <a16:creationId xmlns:a16="http://schemas.microsoft.com/office/drawing/2014/main" id="{091088E2-9582-4389-8AA7-558603E3D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87204" y="3944688"/>
            <a:ext cx="104641" cy="305812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2" name="Прямая соединительная линия 21">
            <a:extLst xmlns:a="http://schemas.openxmlformats.org/drawingml/2006/main">
              <a:ext uri="{FF2B5EF4-FFF2-40B4-BE49-F238E27FC236}">
                <a16:creationId xmlns:a16="http://schemas.microsoft.com/office/drawing/2014/main" id="{6B719FB1-0E05-43A8-AA01-33223A09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1845" y="3944688"/>
            <a:ext cx="104641" cy="159192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3" name="Прямая соединительная линия 22">
            <a:extLst xmlns:a="http://schemas.openxmlformats.org/drawingml/2006/main">
              <a:ext uri="{FF2B5EF4-FFF2-40B4-BE49-F238E27FC236}">
                <a16:creationId xmlns:a16="http://schemas.microsoft.com/office/drawing/2014/main" id="{5878B296-062C-491D-AA9E-7028A73A6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6486" y="4103880"/>
            <a:ext cx="104641" cy="79577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Прямая соединительная линия 23">
            <a:extLst xmlns:a="http://schemas.openxmlformats.org/drawingml/2006/main">
              <a:ext uri="{FF2B5EF4-FFF2-40B4-BE49-F238E27FC236}">
                <a16:creationId xmlns:a16="http://schemas.microsoft.com/office/drawing/2014/main" id="{C50B1C3C-B266-4AE3-9D26-EFC6A9F6A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901127" y="4075320"/>
            <a:ext cx="104641" cy="108137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5" name="Прямая соединительная линия 24">
            <a:extLst xmlns:a="http://schemas.openxmlformats.org/drawingml/2006/main">
              <a:ext uri="{FF2B5EF4-FFF2-40B4-BE49-F238E27FC236}">
                <a16:creationId xmlns:a16="http://schemas.microsoft.com/office/drawing/2014/main" id="{5FBC70E9-ED8E-4D7A-B844-5312B1477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5768" y="4075320"/>
            <a:ext cx="104641" cy="196347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Прямая соединительная линия 25">
            <a:extLst xmlns:a="http://schemas.openxmlformats.org/drawingml/2006/main">
              <a:ext uri="{FF2B5EF4-FFF2-40B4-BE49-F238E27FC236}">
                <a16:creationId xmlns:a16="http://schemas.microsoft.com/office/drawing/2014/main" id="{368739FD-83FD-400E-A797-DE5A44C5C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110409" y="4206430"/>
            <a:ext cx="104640" cy="65237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7" name="Прямая соединительная линия 26">
            <a:extLst xmlns:a="http://schemas.openxmlformats.org/drawingml/2006/main">
              <a:ext uri="{FF2B5EF4-FFF2-40B4-BE49-F238E27FC236}">
                <a16:creationId xmlns:a16="http://schemas.microsoft.com/office/drawing/2014/main" id="{42C34D04-1070-4E01-98D0-D7E073534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215049" y="3939507"/>
            <a:ext cx="104641" cy="266923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8" name="Прямая соединительная линия 27">
            <a:extLst xmlns:a="http://schemas.openxmlformats.org/drawingml/2006/main">
              <a:ext uri="{FF2B5EF4-FFF2-40B4-BE49-F238E27FC236}">
                <a16:creationId xmlns:a16="http://schemas.microsoft.com/office/drawing/2014/main" id="{5E3629F4-25A9-4DD2-BE10-3BA1341C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9690" y="3939507"/>
            <a:ext cx="104641" cy="36836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9" name="Прямая соединительная линия 28">
            <a:extLst xmlns:a="http://schemas.openxmlformats.org/drawingml/2006/main">
              <a:ext uri="{FF2B5EF4-FFF2-40B4-BE49-F238E27FC236}">
                <a16:creationId xmlns:a16="http://schemas.microsoft.com/office/drawing/2014/main" id="{3CB0BA84-7548-460D-8E60-0E05052FE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424331" y="3774390"/>
            <a:ext cx="104641" cy="201953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Прямая соединительная линия 29">
            <a:extLst xmlns:a="http://schemas.openxmlformats.org/drawingml/2006/main">
              <a:ext uri="{FF2B5EF4-FFF2-40B4-BE49-F238E27FC236}">
                <a16:creationId xmlns:a16="http://schemas.microsoft.com/office/drawing/2014/main" id="{4D1237CE-6424-49DC-8FD2-80A60C9B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8972" y="3774390"/>
            <a:ext cx="104641" cy="111099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Прямая соединительная линия 30">
            <a:extLst xmlns:a="http://schemas.openxmlformats.org/drawingml/2006/main">
              <a:ext uri="{FF2B5EF4-FFF2-40B4-BE49-F238E27FC236}">
                <a16:creationId xmlns:a16="http://schemas.microsoft.com/office/drawing/2014/main" id="{10574623-FAAB-4C2F-9050-F8C5AE540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633613" y="3840886"/>
            <a:ext cx="104641" cy="44603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Прямая соединительная линия 31">
            <a:extLst xmlns:a="http://schemas.openxmlformats.org/drawingml/2006/main">
              <a:ext uri="{FF2B5EF4-FFF2-40B4-BE49-F238E27FC236}">
                <a16:creationId xmlns:a16="http://schemas.microsoft.com/office/drawing/2014/main" id="{D3CEB0C5-5614-42C4-8184-618E2EAD5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8254" y="3840886"/>
            <a:ext cx="104641" cy="28210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3" name="Прямая соединительная линия 32">
            <a:extLst xmlns:a="http://schemas.openxmlformats.org/drawingml/2006/main">
              <a:ext uri="{FF2B5EF4-FFF2-40B4-BE49-F238E27FC236}">
                <a16:creationId xmlns:a16="http://schemas.microsoft.com/office/drawing/2014/main" id="{22C7507A-8C66-4003-9F3C-91C91AE0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895" y="3869096"/>
            <a:ext cx="104640" cy="163324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Прямая соединительная линия 33">
            <a:extLst xmlns:a="http://schemas.openxmlformats.org/drawingml/2006/main">
              <a:ext uri="{FF2B5EF4-FFF2-40B4-BE49-F238E27FC236}">
                <a16:creationId xmlns:a16="http://schemas.microsoft.com/office/drawing/2014/main" id="{A5DE840F-7212-4A86-B238-D0E82DB42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947535" y="3976292"/>
            <a:ext cx="104641" cy="56128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5" name="Прямая соединительная линия 34">
            <a:extLst xmlns:a="http://schemas.openxmlformats.org/drawingml/2006/main">
              <a:ext uri="{FF2B5EF4-FFF2-40B4-BE49-F238E27FC236}">
                <a16:creationId xmlns:a16="http://schemas.microsoft.com/office/drawing/2014/main" id="{79DD5FC5-A096-4E29-AC0F-3F56A0357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2176" y="3976292"/>
            <a:ext cx="104641" cy="62307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6" name="Прямая соединительная линия 35">
            <a:extLst xmlns:a="http://schemas.openxmlformats.org/drawingml/2006/main">
              <a:ext uri="{FF2B5EF4-FFF2-40B4-BE49-F238E27FC236}">
                <a16:creationId xmlns:a16="http://schemas.microsoft.com/office/drawing/2014/main" id="{6D8DAF94-FA8A-420C-B091-AB20ECAF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156817" y="4023280"/>
            <a:ext cx="104641" cy="15319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7" name="Прямая соединительная линия 36">
            <a:extLst xmlns:a="http://schemas.openxmlformats.org/drawingml/2006/main">
              <a:ext uri="{FF2B5EF4-FFF2-40B4-BE49-F238E27FC236}">
                <a16:creationId xmlns:a16="http://schemas.microsoft.com/office/drawing/2014/main" id="{C5C38A29-9326-43D6-A19E-86B450E32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458" y="4023280"/>
            <a:ext cx="104641" cy="88368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8" name="Прямая соединительная линия 37">
            <a:extLst xmlns:a="http://schemas.openxmlformats.org/drawingml/2006/main">
              <a:ext uri="{FF2B5EF4-FFF2-40B4-BE49-F238E27FC236}">
                <a16:creationId xmlns:a16="http://schemas.microsoft.com/office/drawing/2014/main" id="{651FEE3E-5028-4E0B-8FC3-984C8A489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366099" y="4099443"/>
            <a:ext cx="104641" cy="12205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9" name="Прямая соединительная линия 38">
            <a:extLst xmlns:a="http://schemas.openxmlformats.org/drawingml/2006/main">
              <a:ext uri="{FF2B5EF4-FFF2-40B4-BE49-F238E27FC236}">
                <a16:creationId xmlns:a16="http://schemas.microsoft.com/office/drawing/2014/main" id="{CF8983F2-4B1A-49D2-A335-15F17CF51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0740" y="4099443"/>
            <a:ext cx="104640" cy="106612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0" name="Прямая соединительная линия 39">
            <a:extLst xmlns:a="http://schemas.openxmlformats.org/drawingml/2006/main">
              <a:ext uri="{FF2B5EF4-FFF2-40B4-BE49-F238E27FC236}">
                <a16:creationId xmlns:a16="http://schemas.microsoft.com/office/drawing/2014/main" id="{BFC86C13-41B5-419E-98DE-8B507171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575380" y="3094243"/>
            <a:ext cx="104641" cy="1111812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Прямая соединительная линия 40">
            <a:extLst xmlns:a="http://schemas.openxmlformats.org/drawingml/2006/main">
              <a:ext uri="{FF2B5EF4-FFF2-40B4-BE49-F238E27FC236}">
                <a16:creationId xmlns:a16="http://schemas.microsoft.com/office/drawing/2014/main" id="{CC84F3FD-BACB-48E5-8C44-021D8654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0021" y="3094243"/>
            <a:ext cx="104641" cy="748734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2" name="Прямая соединительная линия 41">
            <a:extLst xmlns:a="http://schemas.openxmlformats.org/drawingml/2006/main">
              <a:ext uri="{FF2B5EF4-FFF2-40B4-BE49-F238E27FC236}">
                <a16:creationId xmlns:a16="http://schemas.microsoft.com/office/drawing/2014/main" id="{9A553964-F85C-4F19-BE5A-C351C09F6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4662" y="3842977"/>
            <a:ext cx="104641" cy="110572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3" name="Прямая соединительная линия 42">
            <a:extLst xmlns:a="http://schemas.openxmlformats.org/drawingml/2006/main">
              <a:ext uri="{FF2B5EF4-FFF2-40B4-BE49-F238E27FC236}">
                <a16:creationId xmlns:a16="http://schemas.microsoft.com/office/drawing/2014/main" id="{AF87E4E8-A1F3-4445-B94B-682C11158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889303" y="3689454"/>
            <a:ext cx="104641" cy="264095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4" name="Прямая соединительная линия 43">
            <a:extLst xmlns:a="http://schemas.openxmlformats.org/drawingml/2006/main">
              <a:ext uri="{FF2B5EF4-FFF2-40B4-BE49-F238E27FC236}">
                <a16:creationId xmlns:a16="http://schemas.microsoft.com/office/drawing/2014/main" id="{CCA6A8FF-C85F-4FC3-8D30-56A0289D5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993944" y="3530586"/>
            <a:ext cx="104641" cy="158868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5" name="Прямая соединительная линия 44">
            <a:extLst xmlns:a="http://schemas.openxmlformats.org/drawingml/2006/main">
              <a:ext uri="{FF2B5EF4-FFF2-40B4-BE49-F238E27FC236}">
                <a16:creationId xmlns:a16="http://schemas.microsoft.com/office/drawing/2014/main" id="{3B09B9EE-3F09-43F4-B3F1-951F94732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8585" y="3530586"/>
            <a:ext cx="104640" cy="626371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6" name="Прямая соединительная линия 45">
            <a:extLst xmlns:a="http://schemas.openxmlformats.org/drawingml/2006/main">
              <a:ext uri="{FF2B5EF4-FFF2-40B4-BE49-F238E27FC236}">
                <a16:creationId xmlns:a16="http://schemas.microsoft.com/office/drawing/2014/main" id="{3B2471EF-A665-4A00-982C-1D1AF37C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203225" y="4112697"/>
            <a:ext cx="104641" cy="44260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7" name="Прямая соединительная линия 46">
            <a:extLst xmlns:a="http://schemas.openxmlformats.org/drawingml/2006/main">
              <a:ext uri="{FF2B5EF4-FFF2-40B4-BE49-F238E27FC236}">
                <a16:creationId xmlns:a16="http://schemas.microsoft.com/office/drawing/2014/main" id="{20822170-A007-46E2-9462-681AB625E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307866" y="4078403"/>
            <a:ext cx="104641" cy="34294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8" name="Прямая соединительная линия 47">
            <a:extLst xmlns:a="http://schemas.openxmlformats.org/drawingml/2006/main">
              <a:ext uri="{FF2B5EF4-FFF2-40B4-BE49-F238E27FC236}">
                <a16:creationId xmlns:a16="http://schemas.microsoft.com/office/drawing/2014/main" id="{AE813D36-7091-4587-A349-7AE27EDBD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2507" y="4078403"/>
            <a:ext cx="104641" cy="122065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9" name="Прямая соединительная линия 48">
            <a:extLst xmlns:a="http://schemas.openxmlformats.org/drawingml/2006/main">
              <a:ext uri="{FF2B5EF4-FFF2-40B4-BE49-F238E27FC236}">
                <a16:creationId xmlns:a16="http://schemas.microsoft.com/office/drawing/2014/main" id="{CEAB14CB-124B-46AF-BD76-FAA225944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7148" y="4200468"/>
            <a:ext cx="104641" cy="35825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0" name="Прямая соединительная линия 49">
            <a:extLst xmlns:a="http://schemas.openxmlformats.org/drawingml/2006/main">
              <a:ext uri="{FF2B5EF4-FFF2-40B4-BE49-F238E27FC236}">
                <a16:creationId xmlns:a16="http://schemas.microsoft.com/office/drawing/2014/main" id="{37189C03-BC20-4AAF-B240-7E618F756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621789" y="4198382"/>
            <a:ext cx="104641" cy="37911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1" name="Прямая соединительная линия 50">
            <a:extLst xmlns:a="http://schemas.openxmlformats.org/drawingml/2006/main">
              <a:ext uri="{FF2B5EF4-FFF2-40B4-BE49-F238E27FC236}">
                <a16:creationId xmlns:a16="http://schemas.microsoft.com/office/drawing/2014/main" id="{48F014AE-C6E1-47ED-9284-30BD3746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430" y="4198382"/>
            <a:ext cx="104640" cy="98272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2" name="Прямая соединительная линия 51">
            <a:extLst xmlns:a="http://schemas.openxmlformats.org/drawingml/2006/main">
              <a:ext uri="{FF2B5EF4-FFF2-40B4-BE49-F238E27FC236}">
                <a16:creationId xmlns:a16="http://schemas.microsoft.com/office/drawing/2014/main" id="{FDBCA5DB-8756-4ECE-B41F-D1D11884E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831070" y="4159710"/>
            <a:ext cx="104641" cy="136944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3" name="Прямая соединительная линия 52">
            <a:extLst xmlns:a="http://schemas.openxmlformats.org/drawingml/2006/main">
              <a:ext uri="{FF2B5EF4-FFF2-40B4-BE49-F238E27FC236}">
                <a16:creationId xmlns:a16="http://schemas.microsoft.com/office/drawing/2014/main" id="{40CCCA1B-9F9D-4D04-B4C8-EAD67EC7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935711" y="3881720"/>
            <a:ext cx="104641" cy="277990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4" name="Прямая соединительная линия 53">
            <a:extLst xmlns:a="http://schemas.openxmlformats.org/drawingml/2006/main">
              <a:ext uri="{FF2B5EF4-FFF2-40B4-BE49-F238E27FC236}">
                <a16:creationId xmlns:a16="http://schemas.microsoft.com/office/drawing/2014/main" id="{6E86C264-2FE2-42A7-BE8F-DEC10362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040352" y="2626301"/>
            <a:ext cx="104641" cy="1255419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5" name="Прямая соединительная линия 54">
            <a:extLst xmlns:a="http://schemas.openxmlformats.org/drawingml/2006/main">
              <a:ext uri="{FF2B5EF4-FFF2-40B4-BE49-F238E27FC236}">
                <a16:creationId xmlns:a16="http://schemas.microsoft.com/office/drawing/2014/main" id="{AEA9B470-9CEC-473A-94B1-E35A3D3E3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4993" y="2626301"/>
            <a:ext cx="104641" cy="2453699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6" name="Прямая соединительная линия 55">
            <a:extLst xmlns:a="http://schemas.openxmlformats.org/drawingml/2006/main">
              <a:ext uri="{FF2B5EF4-FFF2-40B4-BE49-F238E27FC236}">
                <a16:creationId xmlns:a16="http://schemas.microsoft.com/office/drawing/2014/main" id="{EBE6EB34-D164-4E58-BF7D-CBF0C5659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249634" y="4995166"/>
            <a:ext cx="104641" cy="84834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7" name="Прямая соединительная линия 56">
            <a:extLst xmlns:a="http://schemas.openxmlformats.org/drawingml/2006/main">
              <a:ext uri="{FF2B5EF4-FFF2-40B4-BE49-F238E27FC236}">
                <a16:creationId xmlns:a16="http://schemas.microsoft.com/office/drawing/2014/main" id="{86EC51EB-9433-4CC8-BF95-86A5872F3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354275" y="4620735"/>
            <a:ext cx="104640" cy="374431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8" name="Прямая соединительная линия 57">
            <a:extLst xmlns:a="http://schemas.openxmlformats.org/drawingml/2006/main">
              <a:ext uri="{FF2B5EF4-FFF2-40B4-BE49-F238E27FC236}">
                <a16:creationId xmlns:a16="http://schemas.microsoft.com/office/drawing/2014/main" id="{1A48BA0F-78DE-4BCD-A617-A806A9F34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458915" y="4448613"/>
            <a:ext cx="104641" cy="172122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9" name="Прямая соединительная линия 58">
            <a:extLst xmlns:a="http://schemas.openxmlformats.org/drawingml/2006/main">
              <a:ext uri="{FF2B5EF4-FFF2-40B4-BE49-F238E27FC236}">
                <a16:creationId xmlns:a16="http://schemas.microsoft.com/office/drawing/2014/main" id="{557E0A98-AFE5-4015-8905-78F4C02C4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3556" y="4448613"/>
            <a:ext cx="104641" cy="73685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0" name="Прямая соединительная линия 59">
            <a:extLst xmlns:a="http://schemas.openxmlformats.org/drawingml/2006/main">
              <a:ext uri="{FF2B5EF4-FFF2-40B4-BE49-F238E27FC236}">
                <a16:creationId xmlns:a16="http://schemas.microsoft.com/office/drawing/2014/main" id="{0DFF84C9-A88B-4EC2-B078-1FFAA142F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668197" y="4069739"/>
            <a:ext cx="104641" cy="452559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1" name="Прямая соединительная линия 60">
            <a:extLst xmlns:a="http://schemas.openxmlformats.org/drawingml/2006/main">
              <a:ext uri="{FF2B5EF4-FFF2-40B4-BE49-F238E27FC236}">
                <a16:creationId xmlns:a16="http://schemas.microsoft.com/office/drawing/2014/main" id="{CAE04C4F-9A5C-48AB-96C8-0ECDDD433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772838" y="3862523"/>
            <a:ext cx="104641" cy="207216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2" name="Прямая соединительная линия 61">
            <a:extLst xmlns:a="http://schemas.openxmlformats.org/drawingml/2006/main">
              <a:ext uri="{FF2B5EF4-FFF2-40B4-BE49-F238E27FC236}">
                <a16:creationId xmlns:a16="http://schemas.microsoft.com/office/drawing/2014/main" id="{62739EDA-06DA-4A47-8FC8-56B7BFDF9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877479" y="3857699"/>
            <a:ext cx="104641" cy="4824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3" name="Прямая соединительная линия 62">
            <a:extLst xmlns:a="http://schemas.openxmlformats.org/drawingml/2006/main">
              <a:ext uri="{FF2B5EF4-FFF2-40B4-BE49-F238E27FC236}">
                <a16:creationId xmlns:a16="http://schemas.microsoft.com/office/drawing/2014/main" id="{D1031335-9019-47A5-B7B0-901B12A1E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982120" y="3255469"/>
            <a:ext cx="104641" cy="602230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4" name="Прямая соединительная линия 63">
            <a:extLst xmlns:a="http://schemas.openxmlformats.org/drawingml/2006/main">
              <a:ext uri="{FF2B5EF4-FFF2-40B4-BE49-F238E27FC236}">
                <a16:creationId xmlns:a16="http://schemas.microsoft.com/office/drawing/2014/main" id="{A15347A0-A444-485C-9FBA-49010B241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086761" y="2887611"/>
            <a:ext cx="104641" cy="367858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5" name="Прямая соединительная линия 64">
            <a:extLst xmlns:a="http://schemas.openxmlformats.org/drawingml/2006/main">
              <a:ext uri="{FF2B5EF4-FFF2-40B4-BE49-F238E27FC236}">
                <a16:creationId xmlns:a16="http://schemas.microsoft.com/office/drawing/2014/main" id="{4762B767-6352-4FA0-9FC7-DA5B74185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191402" y="2544995"/>
            <a:ext cx="104640" cy="342616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6" name="Прямая соединительная линия 65">
            <a:extLst xmlns:a="http://schemas.openxmlformats.org/drawingml/2006/main">
              <a:ext uri="{FF2B5EF4-FFF2-40B4-BE49-F238E27FC236}">
                <a16:creationId xmlns:a16="http://schemas.microsoft.com/office/drawing/2014/main" id="{64FBFFDC-D6B9-41A3-A78A-7944F59CD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042" y="2544995"/>
            <a:ext cx="104641" cy="625977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7" name="Прямая соединительная линия 66">
            <a:extLst xmlns:a="http://schemas.openxmlformats.org/drawingml/2006/main">
              <a:ext uri="{FF2B5EF4-FFF2-40B4-BE49-F238E27FC236}">
                <a16:creationId xmlns:a16="http://schemas.microsoft.com/office/drawing/2014/main" id="{FDEBD663-B3AD-4201-A5E3-027E13B79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0683" y="3170972"/>
            <a:ext cx="104641" cy="49257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8" name="Прямая соединительная линия 67">
            <a:extLst xmlns:a="http://schemas.openxmlformats.org/drawingml/2006/main">
              <a:ext uri="{FF2B5EF4-FFF2-40B4-BE49-F238E27FC236}">
                <a16:creationId xmlns:a16="http://schemas.microsoft.com/office/drawing/2014/main" id="{B2DED088-E285-40E9-9696-5EB2C365D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505324" y="3013235"/>
            <a:ext cx="104641" cy="206994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9" name="Прямая соединительная линия 68">
            <a:extLst xmlns:a="http://schemas.openxmlformats.org/drawingml/2006/main">
              <a:ext uri="{FF2B5EF4-FFF2-40B4-BE49-F238E27FC236}">
                <a16:creationId xmlns:a16="http://schemas.microsoft.com/office/drawing/2014/main" id="{B4B4ACCB-9233-4EAF-B95A-3EB77DFCF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609965" y="2986588"/>
            <a:ext cx="104640" cy="26647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0" name="Прямая соединительная линия 69">
            <a:extLst xmlns:a="http://schemas.openxmlformats.org/drawingml/2006/main">
              <a:ext uri="{FF2B5EF4-FFF2-40B4-BE49-F238E27FC236}">
                <a16:creationId xmlns:a16="http://schemas.microsoft.com/office/drawing/2014/main" id="{9FB384AD-7B5E-4028-85AA-CADC20DCF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4605" y="2986588"/>
            <a:ext cx="104641" cy="104985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1" name="Прямая соединительная линия 70">
            <a:extLst xmlns:a="http://schemas.openxmlformats.org/drawingml/2006/main">
              <a:ext uri="{FF2B5EF4-FFF2-40B4-BE49-F238E27FC236}">
                <a16:creationId xmlns:a16="http://schemas.microsoft.com/office/drawing/2014/main" id="{99B1F4F6-F538-43E3-8B68-391D6A1BD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819246" y="2947051"/>
            <a:ext cx="104641" cy="144522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2" name="Прямая соединительная линия 71">
            <a:extLst xmlns:a="http://schemas.openxmlformats.org/drawingml/2006/main">
              <a:ext uri="{FF2B5EF4-FFF2-40B4-BE49-F238E27FC236}">
                <a16:creationId xmlns:a16="http://schemas.microsoft.com/office/drawing/2014/main" id="{C721A86F-6E7B-40AA-AD49-99AB7DB5C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923887" y="2685881"/>
            <a:ext cx="104641" cy="261170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3" name="Прямая соединительная линия 72">
            <a:extLst xmlns:a="http://schemas.openxmlformats.org/drawingml/2006/main">
              <a:ext uri="{FF2B5EF4-FFF2-40B4-BE49-F238E27FC236}">
                <a16:creationId xmlns:a16="http://schemas.microsoft.com/office/drawing/2014/main" id="{17A80658-A690-4C99-8FB5-27023F6AF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028528" y="2349500"/>
            <a:ext cx="104641" cy="336381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4" name="Прямая соединительная линия 73">
            <a:extLst xmlns:a="http://schemas.openxmlformats.org/drawingml/2006/main">
              <a:ext uri="{FF2B5EF4-FFF2-40B4-BE49-F238E27FC236}">
                <a16:creationId xmlns:a16="http://schemas.microsoft.com/office/drawing/2014/main" id="{4F783946-E2CB-406D-8556-CA4498ABE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3169" y="2349500"/>
            <a:ext cx="104641" cy="30257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5" name="Прямая соединительная линия 74">
            <a:extLst xmlns:a="http://schemas.openxmlformats.org/drawingml/2006/main">
              <a:ext uri="{FF2B5EF4-FFF2-40B4-BE49-F238E27FC236}">
                <a16:creationId xmlns:a16="http://schemas.microsoft.com/office/drawing/2014/main" id="{F03EFF54-C09F-4D51-9575-1AEF65A2C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7810" y="2379757"/>
            <a:ext cx="104641" cy="761447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6" name="Прямая соединительная линия 75">
            <a:extLst xmlns:a="http://schemas.openxmlformats.org/drawingml/2006/main">
              <a:ext uri="{FF2B5EF4-FFF2-40B4-BE49-F238E27FC236}">
                <a16:creationId xmlns:a16="http://schemas.microsoft.com/office/drawing/2014/main" id="{D5E3049F-9A3E-440F-9F3E-5B79F7985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2451" y="3141204"/>
            <a:ext cx="104641" cy="244097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7" name="Прямая соединительная линия 76">
            <a:extLst xmlns:a="http://schemas.openxmlformats.org/drawingml/2006/main">
              <a:ext uri="{FF2B5EF4-FFF2-40B4-BE49-F238E27FC236}">
                <a16:creationId xmlns:a16="http://schemas.microsoft.com/office/drawing/2014/main" id="{1340D126-566D-4DA6-9EDF-9532348F7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447092" y="3297708"/>
            <a:ext cx="104641" cy="87593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8" name="Прямая соединительная линия 77">
            <a:extLst xmlns:a="http://schemas.openxmlformats.org/drawingml/2006/main">
              <a:ext uri="{FF2B5EF4-FFF2-40B4-BE49-F238E27FC236}">
                <a16:creationId xmlns:a16="http://schemas.microsoft.com/office/drawing/2014/main" id="{CC454A95-5227-48D1-B5EB-6F1C7A3B1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551733" y="2921504"/>
            <a:ext cx="104641" cy="376204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9" name="Прямая соединительная линия 78">
            <a:extLst xmlns:a="http://schemas.openxmlformats.org/drawingml/2006/main">
              <a:ext uri="{FF2B5EF4-FFF2-40B4-BE49-F238E27FC236}">
                <a16:creationId xmlns:a16="http://schemas.microsoft.com/office/drawing/2014/main" id="{253744D3-A76C-4F5A-BC4E-726B42B8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656374" y="2719907"/>
            <a:ext cx="104640" cy="201597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0" name="Прямая соединительная линия 79">
            <a:extLst xmlns:a="http://schemas.openxmlformats.org/drawingml/2006/main">
              <a:ext uri="{FF2B5EF4-FFF2-40B4-BE49-F238E27FC236}">
                <a16:creationId xmlns:a16="http://schemas.microsoft.com/office/drawing/2014/main" id="{594DC63F-E6CE-4F69-971B-CD121FD97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1014" y="2719907"/>
            <a:ext cx="104641" cy="54170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1" name="Прямая соединительная линия 80">
            <a:extLst xmlns:a="http://schemas.openxmlformats.org/drawingml/2006/main">
              <a:ext uri="{FF2B5EF4-FFF2-40B4-BE49-F238E27FC236}">
                <a16:creationId xmlns:a16="http://schemas.microsoft.com/office/drawing/2014/main" id="{E219828A-F676-48E4-BBCD-B245CFF5A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5655" y="2774077"/>
            <a:ext cx="104641" cy="247224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2" name="Прямая соединительная линия 81">
            <a:extLst xmlns:a="http://schemas.openxmlformats.org/drawingml/2006/main">
              <a:ext uri="{FF2B5EF4-FFF2-40B4-BE49-F238E27FC236}">
                <a16:creationId xmlns:a16="http://schemas.microsoft.com/office/drawing/2014/main" id="{0AD4AF22-8F42-4506-96F8-97C10A62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0296" y="3021301"/>
            <a:ext cx="104640" cy="90238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3" name="Прямая соединительная линия 82">
            <a:extLst xmlns:a="http://schemas.openxmlformats.org/drawingml/2006/main">
              <a:ext uri="{FF2B5EF4-FFF2-40B4-BE49-F238E27FC236}">
                <a16:creationId xmlns:a16="http://schemas.microsoft.com/office/drawing/2014/main" id="{F876DDC2-3904-4AB0-BD07-6C744F7EC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4936" y="3111539"/>
            <a:ext cx="104641" cy="174067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4" name="Прямая соединительная линия 83">
            <a:extLst xmlns:a="http://schemas.openxmlformats.org/drawingml/2006/main">
              <a:ext uri="{FF2B5EF4-FFF2-40B4-BE49-F238E27FC236}">
                <a16:creationId xmlns:a16="http://schemas.microsoft.com/office/drawing/2014/main" id="{A83BD56E-9663-400A-850D-1477059F3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9577" y="3285606"/>
            <a:ext cx="104641" cy="25972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5" name="Прямая соединительная линия 84">
            <a:extLst xmlns:a="http://schemas.openxmlformats.org/drawingml/2006/main">
              <a:ext uri="{FF2B5EF4-FFF2-40B4-BE49-F238E27FC236}">
                <a16:creationId xmlns:a16="http://schemas.microsoft.com/office/drawing/2014/main" id="{A446EB6F-3FAA-45DE-A10F-5CAC52824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284218" y="2676765"/>
            <a:ext cx="104641" cy="634813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6" name="Прямая соединительная линия 85">
            <a:extLst xmlns:a="http://schemas.openxmlformats.org/drawingml/2006/main">
              <a:ext uri="{FF2B5EF4-FFF2-40B4-BE49-F238E27FC236}">
                <a16:creationId xmlns:a16="http://schemas.microsoft.com/office/drawing/2014/main" id="{24045F1D-F780-4A2A-B25C-E53D86AC0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388859" y="2361762"/>
            <a:ext cx="104641" cy="315003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7" name="TextBox 86">
            <a:extLst xmlns:a="http://schemas.openxmlformats.org/drawingml/2006/main">
              <a:ext uri="{FF2B5EF4-FFF2-40B4-BE49-F238E27FC236}">
                <a16:creationId xmlns:a16="http://schemas.microsoft.com/office/drawing/2014/main" id="{9EED5256-1E78-4FB7-B568-BBBFAE89C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0" y="52070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91949E"/>
                </a:solidFill>
                <a:latin typeface="Arial"/>
                <a:ea typeface="Arial"/>
                <a:cs typeface="Arial"/>
              </a:rPr>
              <a:t>2016</a:t>
            </a:r>
            <a:endParaRPr sz="1000">
              <a:solidFill>
                <a:srgbClr val="91949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8" name="TextBox 87">
            <a:extLst xmlns:a="http://schemas.openxmlformats.org/drawingml/2006/main">
              <a:ext uri="{FF2B5EF4-FFF2-40B4-BE49-F238E27FC236}">
                <a16:creationId xmlns:a16="http://schemas.microsoft.com/office/drawing/2014/main" id="{8910F91E-6433-4C21-8249-5B9BF2C89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1500" y="52070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000">
                <a:solidFill>
                  <a:srgbClr val="91949E"/>
                </a:solidFill>
                <a:latin typeface="Arial"/>
                <a:ea typeface="Arial"/>
                <a:cs typeface="Arial"/>
              </a:rPr>
              <a:t>2026</a:t>
            </a:r>
            <a:endParaRPr sz="1000">
              <a:solidFill>
                <a:srgbClr val="91949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9" name="TextBox 88">
            <a:extLst xmlns:a="http://schemas.openxmlformats.org/drawingml/2006/main">
              <a:ext uri="{FF2B5EF4-FFF2-40B4-BE49-F238E27FC236}">
                <a16:creationId xmlns:a16="http://schemas.microsoft.com/office/drawing/2014/main" id="{CFEC7C30-7BD6-4A8D-A266-F950D368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4000" y="5600700"/>
            <a:ext cx="5461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60636E"/>
                </a:solidFill>
                <a:latin typeface="Arial"/>
                <a:ea typeface="Arial"/>
                <a:cs typeface="Arial"/>
              </a:rPr>
              <a:t>RUB за 1 TJS · ниже — выгоднее</a:t>
            </a:r>
            <a:endParaRPr sz="1200"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352341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2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B66F8E88-9555-433F-A509-A2898F19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279400"/>
            <a:ext cx="660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00" b="1">
                <a:solidFill>
                  <a:srgbClr val="FA581B"/>
                </a:solidFill>
                <a:latin typeface="Arial"/>
                <a:ea typeface="Arial"/>
                <a:cs typeface="Arial"/>
              </a:rPr>
              <a:t>ПЛАН ТЕСТА</a:t>
            </a:r>
            <a:endParaRPr sz="1000" b="1">
              <a:solidFill>
                <a:srgbClr val="005C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637EA5E-F229-46A4-BC61-E1CD4C1A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609599"/>
            <a:ext cx="10795000" cy="660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350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Перебираем параметры по одному и вместе</a:t>
            </a:r>
            <a:endParaRPr sz="3500" b="1">
              <a:solidFill>
                <a:srgbClr val="0A0A0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D63350E-A595-443B-9873-968A91A51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6350000"/>
            <a:ext cx="10795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6E5EB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05884D5-123F-44B5-BE15-3DA2441A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6438900"/>
            <a:ext cx="635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800" b="1">
                <a:solidFill>
                  <a:srgbClr val="6B6B70"/>
                </a:solidFill>
                <a:latin typeface="Arial"/>
                <a:ea typeface="Arial"/>
                <a:cs typeface="Arial"/>
              </a:rPr>
              <a:t>CIS TRADING  /  ТРИГГЕРНАЯ МОДЕЛЬ</a:t>
            </a:r>
            <a:endParaRPr sz="800" b="1">
              <a:solidFill>
                <a:srgbClr val="91949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1371519-9F1F-4CDA-977E-2028059A5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0" y="6413500"/>
            <a:ext cx="5715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1">
                <a:solidFill>
                  <a:srgbClr val="6B6B70"/>
                </a:solidFill>
                <a:latin typeface="Arial"/>
                <a:ea typeface="Arial"/>
                <a:cs typeface="Arial"/>
              </a:rPr>
              <a:t>07</a:t>
            </a:r>
            <a:endParaRPr sz="900" b="1"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Прямая соединительная линия 6">
            <a:extLst xmlns:a="http://schemas.openxmlformats.org/drawingml/2006/main">
              <a:ext uri="{FF2B5EF4-FFF2-40B4-BE49-F238E27FC236}">
                <a16:creationId xmlns:a16="http://schemas.microsoft.com/office/drawing/2014/main" id="{57B58A8B-3E13-44EF-AF9F-117F3B23A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5700" y="1866900"/>
            <a:ext cx="0" cy="37846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E6E5EB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" name="Овал 7">
            <a:extLst xmlns:a="http://schemas.openxmlformats.org/drawingml/2006/main">
              <a:ext uri="{FF2B5EF4-FFF2-40B4-BE49-F238E27FC236}">
                <a16:creationId xmlns:a16="http://schemas.microsoft.com/office/drawing/2014/main" id="{A2676437-E223-431C-A2BA-C9E898AA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03400"/>
            <a:ext cx="330200" cy="330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581B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357EE69-068A-4814-AB6F-4F0992433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100" y="1828800"/>
            <a:ext cx="203200" cy="215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>
                <a:solidFill>
                  <a:srgbClr val="FA581B"/>
                </a:solidFill>
              </a:defRPr>
            </a:pPr>
            <a:r>
              <a:rPr sz="1300" b="1">
                <a:solidFill>
                  <a:srgbClr val="FA581B"/>
                </a:solidFill>
                <a:latin typeface="Arial"/>
                <a:ea typeface="Arial"/>
                <a:cs typeface="Arial"/>
              </a:rPr>
              <a:t>✓</a:t>
            </a:r>
            <a:endParaRPr sz="13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470BB51-DF76-4D5C-AC84-E639531EB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500" y="1790699"/>
            <a:ext cx="889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23242B"/>
                </a:solidFill>
                <a:latin typeface="Arial"/>
                <a:ea typeface="Arial"/>
                <a:cs typeface="Arial"/>
              </a:rPr>
              <a:t>Зафиксировать горизонт и окно расчёта</a:t>
            </a:r>
            <a:endParaRPr>
              <a:solidFill>
                <a:srgbClr val="23242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Овал 10">
            <a:extLst xmlns:a="http://schemas.openxmlformats.org/drawingml/2006/main">
              <a:ext uri="{FF2B5EF4-FFF2-40B4-BE49-F238E27FC236}">
                <a16:creationId xmlns:a16="http://schemas.microsoft.com/office/drawing/2014/main" id="{C9464ACD-5313-48FE-8DDE-1671148DE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76500"/>
            <a:ext cx="330200" cy="330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9066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EA5BE646-CFB9-4DB0-8C5D-0BC2DE0E3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100" y="2501900"/>
            <a:ext cx="203200" cy="215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>
                <a:solidFill>
                  <a:srgbClr val="FD9066"/>
                </a:solidFill>
              </a:defRPr>
            </a:pPr>
            <a:r>
              <a:rPr sz="1300" b="1">
                <a:solidFill>
                  <a:srgbClr val="FD9066"/>
                </a:solidFill>
                <a:latin typeface="Arial"/>
                <a:ea typeface="Arial"/>
                <a:cs typeface="Arial"/>
              </a:rPr>
              <a:t>✓</a:t>
            </a:r>
            <a:endParaRPr sz="13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F44E6D4C-0BEB-4E4C-AF1C-4B15072F1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500" y="2463799"/>
            <a:ext cx="889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23242B"/>
                </a:solidFill>
                <a:latin typeface="Arial"/>
                <a:ea typeface="Arial"/>
                <a:cs typeface="Arial"/>
              </a:rPr>
              <a:t>Перебрать порог экономической выгоды</a:t>
            </a:r>
            <a:endParaRPr>
              <a:solidFill>
                <a:srgbClr val="23242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Овал 13">
            <a:extLst xmlns:a="http://schemas.openxmlformats.org/drawingml/2006/main">
              <a:ext uri="{FF2B5EF4-FFF2-40B4-BE49-F238E27FC236}">
                <a16:creationId xmlns:a16="http://schemas.microsoft.com/office/drawing/2014/main" id="{678012BC-9080-404F-B787-52189B2E0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49600"/>
            <a:ext cx="330200" cy="330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581B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8DD7CB6D-1679-4BFC-BA1E-B229DC530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100" y="3175000"/>
            <a:ext cx="203200" cy="215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>
                <a:solidFill>
                  <a:srgbClr val="FA581B"/>
                </a:solidFill>
              </a:defRPr>
            </a:pPr>
            <a:r>
              <a:rPr sz="1300" b="1">
                <a:solidFill>
                  <a:srgbClr val="FA581B"/>
                </a:solidFill>
                <a:latin typeface="Arial"/>
                <a:ea typeface="Arial"/>
                <a:cs typeface="Arial"/>
              </a:rPr>
              <a:t>✓</a:t>
            </a:r>
            <a:endParaRPr sz="13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5545CE5E-2F28-4D66-8889-09066BD98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500" y="3136899"/>
            <a:ext cx="889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23242B"/>
                </a:solidFill>
                <a:latin typeface="Arial"/>
                <a:ea typeface="Arial"/>
                <a:cs typeface="Arial"/>
              </a:rPr>
              <a:t>Разделить портреты клиентов</a:t>
            </a:r>
            <a:endParaRPr>
              <a:solidFill>
                <a:srgbClr val="23242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Овал 16">
            <a:extLst xmlns:a="http://schemas.openxmlformats.org/drawingml/2006/main">
              <a:ext uri="{FF2B5EF4-FFF2-40B4-BE49-F238E27FC236}">
                <a16:creationId xmlns:a16="http://schemas.microsoft.com/office/drawing/2014/main" id="{B2C6567E-A5FF-46CB-885A-61BBECC1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22700"/>
            <a:ext cx="330200" cy="330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9066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0175E25F-EF45-4570-852E-27B22CDA6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100" y="3848100"/>
            <a:ext cx="203200" cy="215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>
                <a:solidFill>
                  <a:srgbClr val="FD9066"/>
                </a:solidFill>
              </a:defRPr>
            </a:pPr>
            <a:r>
              <a:rPr sz="1300" b="1">
                <a:solidFill>
                  <a:srgbClr val="FD9066"/>
                </a:solidFill>
                <a:latin typeface="Arial"/>
                <a:ea typeface="Arial"/>
                <a:cs typeface="Arial"/>
              </a:rPr>
              <a:t>✓</a:t>
            </a:r>
            <a:endParaRPr sz="13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B424CEC9-A3F3-423D-B9E0-B5BE5AF1E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500" y="3809999"/>
            <a:ext cx="889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23242B"/>
                </a:solidFill>
                <a:latin typeface="Arial"/>
                <a:ea typeface="Arial"/>
                <a:cs typeface="Arial"/>
              </a:rPr>
              <a:t>Задать поведение в тихий месяц</a:t>
            </a:r>
            <a:endParaRPr>
              <a:solidFill>
                <a:srgbClr val="23242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Овал 19">
            <a:extLst xmlns:a="http://schemas.openxmlformats.org/drawingml/2006/main">
              <a:ext uri="{FF2B5EF4-FFF2-40B4-BE49-F238E27FC236}">
                <a16:creationId xmlns:a16="http://schemas.microsoft.com/office/drawing/2014/main" id="{D80C22C8-5629-446C-A318-88A0E3198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95800"/>
            <a:ext cx="330200" cy="330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581B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51A825D3-2AB2-4F07-86FB-6B9AEA7DA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100" y="4521200"/>
            <a:ext cx="203200" cy="215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>
                <a:solidFill>
                  <a:srgbClr val="FA581B"/>
                </a:solidFill>
              </a:defRPr>
            </a:pPr>
            <a:r>
              <a:rPr sz="1300" b="1">
                <a:solidFill>
                  <a:srgbClr val="FA581B"/>
                </a:solidFill>
                <a:latin typeface="Arial"/>
                <a:ea typeface="Arial"/>
                <a:cs typeface="Arial"/>
              </a:rPr>
              <a:t>✓</a:t>
            </a:r>
            <a:endParaRPr sz="13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B69F2B78-0984-40CB-8D6B-02564006D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500" y="4483099"/>
            <a:ext cx="889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23242B"/>
                </a:solidFill>
                <a:latin typeface="Arial"/>
                <a:ea typeface="Arial"/>
                <a:cs typeface="Arial"/>
              </a:rPr>
              <a:t>Сравнить push и in-app каналы</a:t>
            </a:r>
            <a:endParaRPr>
              <a:solidFill>
                <a:srgbClr val="23242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Овал 22">
            <a:extLst xmlns:a="http://schemas.openxmlformats.org/drawingml/2006/main">
              <a:ext uri="{FF2B5EF4-FFF2-40B4-BE49-F238E27FC236}">
                <a16:creationId xmlns:a16="http://schemas.microsoft.com/office/drawing/2014/main" id="{AA91D2EB-BC2A-46D8-963E-3DD661294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68900"/>
            <a:ext cx="330200" cy="330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9066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E1D35761-2DF6-4400-8743-7ADC076F8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100" y="5194300"/>
            <a:ext cx="203200" cy="215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>
                <a:solidFill>
                  <a:srgbClr val="FD9066"/>
                </a:solidFill>
              </a:defRPr>
            </a:pPr>
            <a:r>
              <a:rPr sz="1300" b="1">
                <a:solidFill>
                  <a:srgbClr val="FD9066"/>
                </a:solidFill>
                <a:latin typeface="Arial"/>
                <a:ea typeface="Arial"/>
                <a:cs typeface="Arial"/>
              </a:rPr>
              <a:t>✓</a:t>
            </a:r>
            <a:endParaRPr sz="13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395474A0-C7C7-45BC-9DB7-59E072FDC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500" y="5156199"/>
            <a:ext cx="889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rgbClr val="23242B"/>
                </a:solidFill>
                <a:latin typeface="Arial"/>
                <a:ea typeface="Arial"/>
                <a:cs typeface="Arial"/>
              </a:rPr>
              <a:t>Проверить валютные каналы отдельно</a:t>
            </a:r>
            <a:endParaRPr b="1">
              <a:solidFill>
                <a:srgbClr val="23242B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215242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2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19507255-8286-4C45-9191-E37CCB77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279400"/>
            <a:ext cx="660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00" b="1">
                <a:solidFill>
                  <a:srgbClr val="FA581B"/>
                </a:solidFill>
                <a:latin typeface="Arial"/>
                <a:ea typeface="Arial"/>
                <a:cs typeface="Arial"/>
              </a:rPr>
              <a:t>КРИТЕРИЙ</a:t>
            </a:r>
            <a:endParaRPr sz="1000" b="1">
              <a:solidFill>
                <a:srgbClr val="005C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4E84E0D-B80F-45B0-AB6B-C6037323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609599"/>
            <a:ext cx="10795000" cy="660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350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Baseline: случайный день без утечки будущего</a:t>
            </a:r>
            <a:endParaRPr sz="3500" b="1">
              <a:solidFill>
                <a:srgbClr val="0A0A0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8F94CBA4-AC1D-4730-9750-426CEB1D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6350000"/>
            <a:ext cx="10795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6E5EB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BD218A9-CFB5-4345-B6A5-E1E7A530B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6438900"/>
            <a:ext cx="635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800" b="1">
                <a:solidFill>
                  <a:srgbClr val="6B6B70"/>
                </a:solidFill>
                <a:latin typeface="Arial"/>
                <a:ea typeface="Arial"/>
                <a:cs typeface="Arial"/>
              </a:rPr>
              <a:t>CIS TRADING  /  ТРИГГЕРНАЯ МОДЕЛЬ</a:t>
            </a:r>
            <a:endParaRPr sz="800" b="1">
              <a:solidFill>
                <a:srgbClr val="91949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81F1749-C3D4-4B7A-A6C9-3D487DBF1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0" y="6413500"/>
            <a:ext cx="5715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1">
                <a:solidFill>
                  <a:srgbClr val="6B6B70"/>
                </a:solidFill>
                <a:latin typeface="Arial"/>
                <a:ea typeface="Arial"/>
                <a:cs typeface="Arial"/>
              </a:rPr>
              <a:t>08</a:t>
            </a:r>
            <a:endParaRPr sz="900" b="1"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342EAF9-6486-468A-A04F-6D3CCDF5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1765299"/>
            <a:ext cx="1651000" cy="825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>
                <a:solidFill>
                  <a:srgbClr val="FA581B"/>
                </a:solidFill>
              </a:defRPr>
            </a:pPr>
            <a:r>
              <a:rPr sz="4200" b="1">
                <a:solidFill>
                  <a:srgbClr val="FA581B"/>
                </a:solidFill>
                <a:latin typeface="Arial"/>
                <a:ea typeface="Arial"/>
                <a:cs typeface="Arial"/>
              </a:rPr>
              <a:t>26</a:t>
            </a:r>
            <a:endParaRPr sz="4200" b="1">
              <a:solidFill>
                <a:srgbClr val="005C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B4784C2-8CCA-41B0-BB88-2B57A935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2565399"/>
            <a:ext cx="3175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60636E"/>
                </a:solidFill>
                <a:latin typeface="Arial"/>
                <a:ea typeface="Arial"/>
                <a:cs typeface="Arial"/>
              </a:rPr>
              <a:t>признаков курса, динамики, диапазона, волатильности и календаря</a:t>
            </a:r>
            <a:endParaRPr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636F996-3FAC-4F95-9BC3-C98CF6206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4216399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>
                <a:solidFill>
                  <a:srgbClr val="FA581B"/>
                </a:solidFill>
              </a:defRPr>
            </a:pPr>
            <a:r>
              <a:rPr b="1">
                <a:solidFill>
                  <a:srgbClr val="FA581B"/>
                </a:solidFill>
                <a:latin typeface="Arial"/>
                <a:ea typeface="Arial"/>
                <a:cs typeface="Arial"/>
              </a:rPr>
              <a:t>X</a:t>
            </a:r>
            <a:endParaRPr b="1">
              <a:solidFill>
                <a:srgbClr val="EE007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98F0AA1-A251-4CDD-96DF-48C216862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500" y="4216399"/>
            <a:ext cx="279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rgbClr val="0A0A0E"/>
                </a:solidFill>
                <a:latin typeface="Arial"/>
                <a:ea typeface="Arial"/>
                <a:cs typeface="Arial"/>
              </a:rPr>
              <a:t>текущий и прошлый курс</a:t>
            </a:r>
            <a:endParaRPr b="1">
              <a:solidFill>
                <a:srgbClr val="0A0A0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0170001E-C9C3-47D5-888C-FE35B602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4762499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>
                <a:solidFill>
                  <a:srgbClr val="FD9066"/>
                </a:solidFill>
              </a:defRPr>
            </a:pPr>
            <a:r>
              <a:rPr b="1">
                <a:solidFill>
                  <a:srgbClr val="FD9066"/>
                </a:solidFill>
                <a:latin typeface="Arial"/>
                <a:ea typeface="Arial"/>
                <a:cs typeface="Arial"/>
              </a:rPr>
              <a:t>y</a:t>
            </a:r>
            <a:endParaRPr b="1">
              <a:solidFill>
                <a:srgbClr val="EE007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DBD1121-D2F3-4E4F-80C7-D53082AE1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500" y="4762499"/>
            <a:ext cx="279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rgbClr val="0A0A0E"/>
                </a:solidFill>
                <a:latin typeface="Arial"/>
                <a:ea typeface="Arial"/>
                <a:cs typeface="Arial"/>
              </a:rPr>
              <a:t>target_good_now</a:t>
            </a:r>
            <a:endParaRPr b="1">
              <a:solidFill>
                <a:srgbClr val="0A0A0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Прямая соединительная линия 12">
            <a:extLst xmlns:a="http://schemas.openxmlformats.org/drawingml/2006/main">
              <a:ext uri="{FF2B5EF4-FFF2-40B4-BE49-F238E27FC236}">
                <a16:creationId xmlns:a16="http://schemas.microsoft.com/office/drawing/2014/main" id="{873A455E-D7CB-4D92-A44D-98A81E16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3048000"/>
            <a:ext cx="6731000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DEE0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Прямоугольник 13">
            <a:extLst xmlns:a="http://schemas.openxmlformats.org/drawingml/2006/main">
              <a:ext uri="{FF2B5EF4-FFF2-40B4-BE49-F238E27FC236}">
                <a16:creationId xmlns:a16="http://schemas.microsoft.com/office/drawing/2014/main" id="{1FE7D4EC-6814-4174-AAC9-2C18508D8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2908300"/>
            <a:ext cx="2603500" cy="27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581B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C12A94EC-56E9-4C67-B79E-93FF1F4C3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3492500"/>
            <a:ext cx="26035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>
                <a:solidFill>
                  <a:srgbClr val="FA581B"/>
                </a:solidFill>
              </a:defRPr>
            </a:pPr>
            <a:r>
              <a:rPr sz="1400" b="1">
                <a:solidFill>
                  <a:srgbClr val="FA581B"/>
                </a:solidFill>
                <a:latin typeface="Arial"/>
                <a:ea typeface="Arial"/>
                <a:cs typeface="Arial"/>
              </a:rPr>
              <a:t>TRAIN</a:t>
            </a:r>
            <a:endParaRPr sz="1400" b="1">
              <a:solidFill>
                <a:srgbClr val="005C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D63FAE60-1967-4C02-88BB-FD06A96C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3873499"/>
            <a:ext cx="260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0A0A0E"/>
                </a:solidFill>
                <a:latin typeface="Arial"/>
                <a:ea typeface="Arial"/>
                <a:cs typeface="Arial"/>
              </a:rPr>
              <a:t>1 556 строк</a:t>
            </a:r>
            <a:endParaRPr sz="1900" b="1">
              <a:solidFill>
                <a:srgbClr val="0A0A0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E5A3231B-6FE2-45C3-9FD0-5983B5D22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4292600"/>
            <a:ext cx="26035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60636E"/>
                </a:solidFill>
                <a:latin typeface="Arial"/>
                <a:ea typeface="Arial"/>
                <a:cs typeface="Arial"/>
              </a:rPr>
              <a:t>2016–2022</a:t>
            </a:r>
            <a:endParaRPr sz="1400"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Прямоугольник 17">
            <a:extLst xmlns:a="http://schemas.openxmlformats.org/drawingml/2006/main">
              <a:ext uri="{FF2B5EF4-FFF2-40B4-BE49-F238E27FC236}">
                <a16:creationId xmlns:a16="http://schemas.microsoft.com/office/drawing/2014/main" id="{1B6A2E4D-C2FC-4DD1-AA10-F6B46E91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2500" y="2908300"/>
            <a:ext cx="2222500" cy="27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9066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7C4F676D-AB84-4C93-A7AA-1C670BA04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2500" y="3492500"/>
            <a:ext cx="22225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>
                <a:solidFill>
                  <a:srgbClr val="FD9066"/>
                </a:solidFill>
              </a:defRPr>
            </a:pPr>
            <a:r>
              <a:rPr sz="1400" b="1">
                <a:solidFill>
                  <a:srgbClr val="FD9066"/>
                </a:solidFill>
                <a:latin typeface="Arial"/>
                <a:ea typeface="Arial"/>
                <a:cs typeface="Arial"/>
              </a:rPr>
              <a:t>VALIDATION</a:t>
            </a:r>
            <a:endParaRPr sz="1400" b="1">
              <a:solidFill>
                <a:srgbClr val="EE007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4CB7075A-3D93-4C4F-A72E-AE9BE74C8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2500" y="3873499"/>
            <a:ext cx="222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0A0A0E"/>
                </a:solidFill>
                <a:latin typeface="Arial"/>
                <a:ea typeface="Arial"/>
                <a:cs typeface="Arial"/>
              </a:rPr>
              <a:t>492 строки</a:t>
            </a:r>
            <a:endParaRPr sz="1900" b="1">
              <a:solidFill>
                <a:srgbClr val="0A0A0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92640F1B-7ED3-4899-8A69-1B3F7A039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2500" y="4292600"/>
            <a:ext cx="22225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60636E"/>
                </a:solidFill>
                <a:latin typeface="Arial"/>
                <a:ea typeface="Arial"/>
                <a:cs typeface="Arial"/>
              </a:rPr>
              <a:t>2023–2024</a:t>
            </a:r>
            <a:endParaRPr sz="1400"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Прямоугольник 21">
            <a:extLst xmlns:a="http://schemas.openxmlformats.org/drawingml/2006/main">
              <a:ext uri="{FF2B5EF4-FFF2-40B4-BE49-F238E27FC236}">
                <a16:creationId xmlns:a16="http://schemas.microsoft.com/office/drawing/2014/main" id="{639EA3BF-A108-4AAC-93CD-1E911491C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000" y="2908300"/>
            <a:ext cx="1397000" cy="27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0909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AF593BCB-9E77-446B-AF87-18CF767C4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000" y="3492500"/>
            <a:ext cx="1397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0A0A0E"/>
                </a:solidFill>
                <a:latin typeface="Arial"/>
                <a:ea typeface="Arial"/>
                <a:cs typeface="Arial"/>
              </a:rPr>
              <a:t>TEST</a:t>
            </a:r>
            <a:endParaRPr sz="1400" b="1">
              <a:solidFill>
                <a:srgbClr val="0A0A0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07D30A71-4272-491D-8207-03289818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000" y="3873499"/>
            <a:ext cx="139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0A0A0E"/>
                </a:solidFill>
                <a:latin typeface="Arial"/>
                <a:ea typeface="Arial"/>
                <a:cs typeface="Arial"/>
              </a:rPr>
              <a:t>406 строк</a:t>
            </a:r>
            <a:endParaRPr sz="1900" b="1">
              <a:solidFill>
                <a:srgbClr val="0A0A0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55013C28-A981-41BF-A56C-9043E358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000" y="4292600"/>
            <a:ext cx="1397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60636E"/>
                </a:solidFill>
                <a:latin typeface="Arial"/>
                <a:ea typeface="Arial"/>
                <a:cs typeface="Arial"/>
              </a:rPr>
              <a:t>2025–2026</a:t>
            </a:r>
            <a:endParaRPr sz="1400"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FEDBBC3B-52D4-4219-9537-22A7D0DAB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5041899"/>
            <a:ext cx="6731000" cy="635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700">
                <a:solidFill>
                  <a:srgbClr val="60636E"/>
                </a:solidFill>
                <a:latin typeface="Arial"/>
                <a:ea typeface="Arial"/>
                <a:cs typeface="Arial"/>
              </a:rPr>
              <a:t>Побеждает вариант, который лучше случайного дня. Threshold выбираем только на validation.</a:t>
            </a:r>
            <a:endParaRPr sz="1700"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940350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2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0E8D4C03-8C64-437A-8CF4-CDC8AD581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279400"/>
            <a:ext cx="660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00" b="1">
                <a:solidFill>
                  <a:srgbClr val="FA581B"/>
                </a:solidFill>
                <a:latin typeface="Arial"/>
                <a:ea typeface="Arial"/>
                <a:cs typeface="Arial"/>
              </a:rPr>
              <a:t>ТЕКУЩИЙ BASELINE</a:t>
            </a:r>
            <a:endParaRPr sz="1000" b="1">
              <a:solidFill>
                <a:srgbClr val="005C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D854526-E7F5-4E8E-93FA-1F7FA1211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609599"/>
            <a:ext cx="10795000" cy="660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350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Сигнал есть, но 90% precision пока нет</a:t>
            </a:r>
            <a:endParaRPr sz="3500" b="1">
              <a:solidFill>
                <a:srgbClr val="0A0A0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47BDA0A-55A8-4F09-B542-AF3C6AE63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6350000"/>
            <a:ext cx="10795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6E5EB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2D76BCF-87E9-4196-AD29-82E6E23B7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6438900"/>
            <a:ext cx="635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800" b="1">
                <a:solidFill>
                  <a:srgbClr val="6B6B70"/>
                </a:solidFill>
                <a:latin typeface="Arial"/>
                <a:ea typeface="Arial"/>
                <a:cs typeface="Arial"/>
              </a:rPr>
              <a:t>CIS TRADING  /  ТРИГГЕРНАЯ МОДЕЛЬ</a:t>
            </a:r>
            <a:endParaRPr sz="800" b="1">
              <a:solidFill>
                <a:srgbClr val="91949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1E7D520-47FC-4763-8CA4-F2F867565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0" y="6413500"/>
            <a:ext cx="5715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1">
                <a:solidFill>
                  <a:srgbClr val="6B6B70"/>
                </a:solidFill>
                <a:latin typeface="Arial"/>
                <a:ea typeface="Arial"/>
                <a:cs typeface="Arial"/>
              </a:rPr>
              <a:t>09</a:t>
            </a:r>
            <a:endParaRPr sz="900" b="1"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ADB4086-D7A0-4E31-8A5E-36124E11B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1651000"/>
            <a:ext cx="317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>
                <a:solidFill>
                  <a:srgbClr val="FA581B"/>
                </a:solidFill>
              </a:defRPr>
            </a:pPr>
            <a:r>
              <a:rPr sz="1100" b="1">
                <a:solidFill>
                  <a:srgbClr val="FA581B"/>
                </a:solidFill>
                <a:latin typeface="Arial"/>
                <a:ea typeface="Arial"/>
                <a:cs typeface="Arial"/>
              </a:rPr>
              <a:t>РАНЖИРОВАНИЕ</a:t>
            </a:r>
            <a:endParaRPr sz="1100" b="1">
              <a:solidFill>
                <a:srgbClr val="005C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234A9B99-6834-4AA1-8A2D-1F21FFAE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1993899"/>
            <a:ext cx="2413000" cy="698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>
                <a:solidFill>
                  <a:srgbClr val="FA581B"/>
                </a:solidFill>
              </a:defRPr>
            </a:pPr>
            <a:r>
              <a:rPr sz="3400" b="1">
                <a:solidFill>
                  <a:srgbClr val="FA581B"/>
                </a:solidFill>
                <a:latin typeface="Arial"/>
                <a:ea typeface="Arial"/>
                <a:cs typeface="Arial"/>
              </a:rPr>
              <a:t>0,831</a:t>
            </a:r>
            <a:endParaRPr sz="3400" b="1">
              <a:solidFill>
                <a:srgbClr val="005C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0EB5F8C-709A-4836-A8F1-B369C4BA7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2692399"/>
            <a:ext cx="2413000" cy="635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600">
                <a:solidFill>
                  <a:srgbClr val="60636E"/>
                </a:solidFill>
                <a:latin typeface="Arial"/>
                <a:ea typeface="Arial"/>
                <a:cs typeface="Arial"/>
              </a:rPr>
              <a:t>ROC AUC · validation</a:t>
            </a:r>
            <a:endParaRPr sz="1600"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612189C-8DC3-423B-A73F-AEDA2BE4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993899"/>
            <a:ext cx="2159000" cy="698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>
                <a:solidFill>
                  <a:srgbClr val="FD9066"/>
                </a:solidFill>
              </a:defRPr>
            </a:pPr>
            <a:r>
              <a:rPr sz="3400" b="1">
                <a:solidFill>
                  <a:srgbClr val="FD9066"/>
                </a:solidFill>
                <a:latin typeface="Arial"/>
                <a:ea typeface="Arial"/>
                <a:cs typeface="Arial"/>
              </a:rPr>
              <a:t>0,779</a:t>
            </a:r>
            <a:endParaRPr sz="3400" b="1">
              <a:solidFill>
                <a:srgbClr val="EE007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7250911-0CC3-4F75-AC80-09DE1AA3B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92399"/>
            <a:ext cx="2159000" cy="635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600">
                <a:solidFill>
                  <a:srgbClr val="60636E"/>
                </a:solidFill>
                <a:latin typeface="Arial"/>
                <a:ea typeface="Arial"/>
                <a:cs typeface="Arial"/>
              </a:rPr>
              <a:t>ROC AUC · test</a:t>
            </a:r>
            <a:endParaRPr sz="1600"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Прямая соединительная линия 11">
            <a:extLst xmlns:a="http://schemas.openxmlformats.org/drawingml/2006/main">
              <a:ext uri="{FF2B5EF4-FFF2-40B4-BE49-F238E27FC236}">
                <a16:creationId xmlns:a16="http://schemas.microsoft.com/office/drawing/2014/main" id="{379533D6-B8A9-4A92-9ACA-A5709FF76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14500"/>
            <a:ext cx="0" cy="400050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DEE0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052A1CFA-E656-49E1-BD46-C666252D0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651000"/>
            <a:ext cx="463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>
                <a:solidFill>
                  <a:srgbClr val="FA581B"/>
                </a:solidFill>
              </a:defRPr>
            </a:pPr>
            <a:r>
              <a:rPr sz="1100" b="1">
                <a:solidFill>
                  <a:srgbClr val="FA581B"/>
                </a:solidFill>
                <a:latin typeface="Arial"/>
                <a:ea typeface="Arial"/>
                <a:cs typeface="Arial"/>
              </a:rPr>
              <a:t>ПРОДУКТОВАЯ ПРОВЕРКА · </a:t>
            </a:r>
            <a:r>
              <a:rPr sz="1100" b="1">
                <a:solidFill>
                  <a:srgbClr val="FA581B"/>
                </a:solidFill>
                <a:latin typeface="Arial"/>
                <a:ea typeface="Arial"/>
                <a:cs typeface="Arial"/>
              </a:rPr>
              <a:t>TEST</a:t>
            </a:r>
            <a:endParaRPr sz="1100" b="1">
              <a:solidFill>
                <a:srgbClr val="EE007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EC1FD52F-856F-4152-B7E2-B51396665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031999"/>
            <a:ext cx="1905000" cy="673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>
                <a:solidFill>
                  <a:srgbClr val="FD9066"/>
                </a:solidFill>
              </a:defRPr>
            </a:pPr>
            <a:r>
              <a:rPr sz="3400" b="1">
                <a:solidFill>
                  <a:srgbClr val="FD9066"/>
                </a:solidFill>
                <a:latin typeface="Arial"/>
                <a:ea typeface="Arial"/>
                <a:cs typeface="Arial"/>
              </a:rPr>
              <a:t>51,4%</a:t>
            </a:r>
            <a:endParaRPr sz="3400" b="1">
              <a:solidFill>
                <a:srgbClr val="DE304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2E59238A-AD3B-42A3-A788-165ECA2E4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717799"/>
            <a:ext cx="2159000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60636E"/>
                </a:solidFill>
                <a:latin typeface="Arial"/>
                <a:ea typeface="Arial"/>
                <a:cs typeface="Arial"/>
              </a:rPr>
              <a:t>target precision</a:t>
            </a:r>
            <a:endParaRPr sz="1500"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Прямоугольник 15">
            <a:extLst xmlns:a="http://schemas.openxmlformats.org/drawingml/2006/main">
              <a:ext uri="{FF2B5EF4-FFF2-40B4-BE49-F238E27FC236}">
                <a16:creationId xmlns:a16="http://schemas.microsoft.com/office/drawing/2014/main" id="{5C3DC1B9-4DC3-41A5-BC53-3CF2BCB31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3263900"/>
            <a:ext cx="4508500" cy="17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0E6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FFC2ACBD-C8E4-43CB-B676-9EB203845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3263900"/>
            <a:ext cx="2317369" cy="17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581B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Прямая соединительная линия 17">
            <a:extLst xmlns:a="http://schemas.openxmlformats.org/drawingml/2006/main">
              <a:ext uri="{FF2B5EF4-FFF2-40B4-BE49-F238E27FC236}">
                <a16:creationId xmlns:a16="http://schemas.microsoft.com/office/drawing/2014/main" id="{5F5ED948-B5C8-4A16-BBE5-8DF74965F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1150" y="3136900"/>
            <a:ext cx="0" cy="44450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0A0A0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A6FFBE7B-1372-44C3-BA79-AAC07DCBE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1100" y="3632200"/>
            <a:ext cx="88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1">
                <a:solidFill>
                  <a:srgbClr val="0A0A0E"/>
                </a:solidFill>
                <a:latin typeface="Arial"/>
                <a:ea typeface="Arial"/>
                <a:cs typeface="Arial"/>
              </a:rPr>
              <a:t>цель 90%</a:t>
            </a:r>
            <a:endParaRPr sz="1100" b="1">
              <a:solidFill>
                <a:srgbClr val="0A0A0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F9B2574C-9049-4D38-B96C-2990C4D4B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4190999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>
                <a:solidFill>
                  <a:srgbClr val="FA581B"/>
                </a:solidFill>
              </a:defRPr>
            </a:pPr>
            <a:r>
              <a:rPr sz="2600" b="1">
                <a:solidFill>
                  <a:srgbClr val="FA581B"/>
                </a:solidFill>
                <a:latin typeface="Arial"/>
                <a:ea typeface="Arial"/>
                <a:cs typeface="Arial"/>
              </a:rPr>
              <a:t>2,22×</a:t>
            </a:r>
            <a:endParaRPr sz="2600" b="1">
              <a:solidFill>
                <a:srgbClr val="005C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A5F986F9-AF9B-4514-A2B1-CA87B61B8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4711700"/>
            <a:ext cx="1651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60636E"/>
                </a:solidFill>
                <a:latin typeface="Arial"/>
                <a:ea typeface="Arial"/>
                <a:cs typeface="Arial"/>
              </a:rPr>
              <a:t>target lift</a:t>
            </a:r>
            <a:endParaRPr sz="1400"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693F5240-23B4-4B15-A7F6-472A89DA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9500" y="4190999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>
                <a:solidFill>
                  <a:srgbClr val="FD9066"/>
                </a:solidFill>
              </a:defRPr>
            </a:pPr>
            <a:r>
              <a:rPr sz="2600" b="1">
                <a:solidFill>
                  <a:srgbClr val="FD9066"/>
                </a:solidFill>
                <a:latin typeface="Arial"/>
                <a:ea typeface="Arial"/>
                <a:cs typeface="Arial"/>
              </a:rPr>
              <a:t>0,95×</a:t>
            </a:r>
            <a:endParaRPr sz="2600" b="1">
              <a:solidFill>
                <a:srgbClr val="DE304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2673DB08-0047-49BC-95F8-E4B6A990A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9500" y="4711700"/>
            <a:ext cx="1651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60636E"/>
                </a:solidFill>
                <a:latin typeface="Arial"/>
                <a:ea typeface="Arial"/>
                <a:cs typeface="Arial"/>
              </a:rPr>
              <a:t>message lift</a:t>
            </a:r>
            <a:endParaRPr sz="1400"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27A66786-939E-4D42-92AB-A7A9C54FB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5206999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700" b="1">
                <a:solidFill>
                  <a:srgbClr val="0A0A0E"/>
                </a:solidFill>
                <a:latin typeface="Arial"/>
                <a:ea typeface="Arial"/>
                <a:cs typeface="Arial"/>
              </a:rPr>
              <a:t>Порог 0,606 · 37 сигналов · 0,44 в неделю</a:t>
            </a:r>
            <a:endParaRPr sz="1700" b="1">
              <a:solidFill>
                <a:srgbClr val="0A0A0E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127070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2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A6489163-CFAD-4699-ADAE-98D314E14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279400"/>
            <a:ext cx="660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00" b="1">
                <a:solidFill>
                  <a:srgbClr val="FA581B"/>
                </a:solidFill>
                <a:latin typeface="Arial"/>
                <a:ea typeface="Arial"/>
                <a:cs typeface="Arial"/>
              </a:rPr>
              <a:t>БЕНЕФИЦИАР И РИСК</a:t>
            </a:r>
            <a:endParaRPr sz="1000" b="1">
              <a:solidFill>
                <a:srgbClr val="005C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74DAA0C-6E30-46D1-8D4A-E759A2E0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609599"/>
            <a:ext cx="10795000" cy="660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350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Выгода банка не должна стоить доверия клиента</a:t>
            </a:r>
            <a:endParaRPr sz="3500" b="1">
              <a:solidFill>
                <a:srgbClr val="0A0A0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59B36BDC-350B-4B8B-A32F-CB9840F58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6350000"/>
            <a:ext cx="10795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6E5EB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B0EDE74-19E8-41FD-BC98-64066A568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6438900"/>
            <a:ext cx="635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800" b="1">
                <a:solidFill>
                  <a:srgbClr val="6B6B70"/>
                </a:solidFill>
                <a:latin typeface="Arial"/>
                <a:ea typeface="Arial"/>
                <a:cs typeface="Arial"/>
              </a:rPr>
              <a:t>CIS TRADING  /  ТРИГГЕРНАЯ МОДЕЛЬ</a:t>
            </a:r>
            <a:endParaRPr sz="800" b="1">
              <a:solidFill>
                <a:srgbClr val="91949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92A512F-93D4-49F9-82A5-242F48A3D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0" y="6413500"/>
            <a:ext cx="5715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1">
                <a:solidFill>
                  <a:srgbClr val="6B6B70"/>
                </a:solidFill>
                <a:latin typeface="Arial"/>
                <a:ea typeface="Arial"/>
                <a:cs typeface="Arial"/>
              </a:rPr>
              <a:t>10</a:t>
            </a:r>
            <a:endParaRPr sz="900" b="1"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Скругленный 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1258DCCA-799B-4EEC-980B-50C720513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1803400"/>
            <a:ext cx="4953000" cy="3505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E4DD"/>
          </a:solidFill>
          <a:ln xmlns:a="http://schemas.openxmlformats.org/drawingml/2006/main" w="12700">
            <a:solidFill>
              <a:srgbClr val="DEE0E6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5D84B72-5870-4B99-A671-AB3A39A4C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2146300"/>
            <a:ext cx="3556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>
                <a:solidFill>
                  <a:srgbClr val="FA581B"/>
                </a:solidFill>
              </a:defRPr>
            </a:pPr>
            <a:r>
              <a:rPr sz="1200" b="1">
                <a:solidFill>
                  <a:srgbClr val="FA581B"/>
                </a:solidFill>
                <a:latin typeface="Arial"/>
                <a:ea typeface="Arial"/>
                <a:cs typeface="Arial"/>
              </a:rPr>
              <a:t>ЦЕННОСТЬ ДЛЯ БАНКА</a:t>
            </a:r>
            <a:endParaRPr sz="1200" b="1">
              <a:solidFill>
                <a:srgbClr val="005C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54A3722-BC44-4E8D-B450-378CCEE29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2679699"/>
            <a:ext cx="3810000" cy="393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2200" b="1">
                <a:solidFill>
                  <a:srgbClr val="0A0A0E"/>
                </a:solidFill>
                <a:latin typeface="Arial"/>
                <a:ea typeface="Arial"/>
                <a:cs typeface="Arial"/>
              </a:rPr>
              <a:t>Перевод остаётся в канале</a:t>
            </a:r>
            <a:endParaRPr sz="2200" b="1">
              <a:solidFill>
                <a:srgbClr val="0A0A0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1AEE7088-3800-4057-81CE-DEC91C71F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3289299"/>
            <a:ext cx="4000500" cy="101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60636E"/>
                </a:solidFill>
                <a:latin typeface="Arial"/>
                <a:ea typeface="Arial"/>
                <a:cs typeface="Arial"/>
              </a:rPr>
              <a:t>Уместный сигнал повышает вероятность, что клиент проведёт валютный перевод через банк.</a:t>
            </a:r>
            <a:endParaRPr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BA56A2E-F854-45BC-A482-9633033E9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" y="4533899"/>
            <a:ext cx="3810000" cy="355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>
                <a:solidFill>
                  <a:srgbClr val="FA581B"/>
                </a:solidFill>
              </a:defRPr>
            </a:pPr>
            <a:r>
              <a:rPr b="1">
                <a:solidFill>
                  <a:srgbClr val="FA581B"/>
                </a:solidFill>
                <a:latin typeface="Arial"/>
                <a:ea typeface="Arial"/>
                <a:cs typeface="Arial"/>
              </a:rPr>
              <a:t>Экономический эффект должен быть инкрементальным.</a:t>
            </a:r>
            <a:endParaRPr b="1">
              <a:solidFill>
                <a:srgbClr val="005C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Скругленный 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74204BE6-FF69-4CBA-B7F2-E9D744B64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000" y="1803400"/>
            <a:ext cx="5524500" cy="3505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0909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6C8CD462-B0A5-47E7-93D1-2DCA28A44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2146300"/>
            <a:ext cx="4572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>
                <a:solidFill>
                  <a:srgbClr val="FD9066"/>
                </a:solidFill>
              </a:defRPr>
            </a:pPr>
            <a:r>
              <a:rPr sz="1200" b="1">
                <a:solidFill>
                  <a:srgbClr val="FD9066"/>
                </a:solidFill>
                <a:latin typeface="Arial"/>
                <a:ea typeface="Arial"/>
                <a:cs typeface="Arial"/>
              </a:rPr>
              <a:t>ОГРАНИЧЕНИЕ</a:t>
            </a:r>
            <a:endParaRPr sz="1200" b="1">
              <a:solidFill>
                <a:srgbClr val="EE007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23DD869E-3AE2-4A20-87B6-D178FEDD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2679699"/>
            <a:ext cx="444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Лишний пуш разрушает доверие</a:t>
            </a:r>
            <a:endParaRPr sz="24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D9C4AF33-03F1-43C8-88DA-348CE5B64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3568699"/>
            <a:ext cx="4508500" cy="1422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  <a:latin typeface="Arial"/>
                <a:ea typeface="Arial"/>
                <a:cs typeface="Arial"/>
              </a:rPr>
              <a:t>Поэтому частота ограничена, причина прозрачна, а слабый сигнал остаётся без коммуникации.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2423540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F2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1C1459C2-E86E-4841-B538-C7D6F775A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279400"/>
            <a:ext cx="660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00" b="1">
                <a:solidFill>
                  <a:srgbClr val="FA581B"/>
                </a:solidFill>
                <a:latin typeface="Arial"/>
                <a:ea typeface="Arial"/>
                <a:cs typeface="Arial"/>
              </a:rPr>
              <a:t>ИНТЕРФЕЙС</a:t>
            </a:r>
            <a:endParaRPr sz="1000" b="1">
              <a:solidFill>
                <a:srgbClr val="005C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D3F64E8-C6C3-4AF0-9656-883524A95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609599"/>
            <a:ext cx="10795000" cy="660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350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Инспектор показывает пуш и сообщение на любой день</a:t>
            </a:r>
            <a:endParaRPr sz="3500" b="1">
              <a:solidFill>
                <a:srgbClr val="0A0A0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6A4759F-A9B2-48E6-A82D-15351F355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6350000"/>
            <a:ext cx="10795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6E5EB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08216FC-B67B-4E7B-99BC-35FF4D918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6438900"/>
            <a:ext cx="635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800" b="1">
                <a:solidFill>
                  <a:srgbClr val="6B6B70"/>
                </a:solidFill>
                <a:latin typeface="Arial"/>
                <a:ea typeface="Arial"/>
                <a:cs typeface="Arial"/>
              </a:rPr>
              <a:t>CIS TRADING  /  ТРИГГЕРНАЯ МОДЕЛЬ</a:t>
            </a:r>
            <a:endParaRPr sz="800" b="1">
              <a:solidFill>
                <a:srgbClr val="91949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745FBAC-B23E-404E-96DD-ADC060ABE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0" y="6413500"/>
            <a:ext cx="5715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1">
                <a:solidFill>
                  <a:srgbClr val="6B6B70"/>
                </a:solidFill>
                <a:latin typeface="Arial"/>
                <a:ea typeface="Arial"/>
                <a:cs typeface="Arial"/>
              </a:rPr>
              <a:t>11</a:t>
            </a:r>
            <a:endParaRPr sz="900" b="1"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5" name="notebook-signal-char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3e3dc61b524f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8500" y="1676400"/>
            <a:ext cx="10795000" cy="38735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DEE0E6"/>
            </a:solidFill>
          </a:ln>
        </p:spPr>
      </p:pic>
      <p:sp>
        <p:nvSpPr>
          <p:cNvPr id="8" name="Овал 7">
            <a:extLst xmlns:a="http://schemas.openxmlformats.org/drawingml/2006/main">
              <a:ext uri="{FF2B5EF4-FFF2-40B4-BE49-F238E27FC236}">
                <a16:creationId xmlns:a16="http://schemas.microsoft.com/office/drawing/2014/main" id="{32F3B1CC-EC65-492A-8233-D9F4749B4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5829300"/>
            <a:ext cx="114300" cy="1143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891BF29-8C3F-4004-921A-1F5EC3D9B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40399"/>
            <a:ext cx="1651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300">
                <a:solidFill>
                  <a:srgbClr val="60636E"/>
                </a:solidFill>
                <a:latin typeface="Arial"/>
                <a:ea typeface="Arial"/>
                <a:cs typeface="Arial"/>
              </a:rPr>
              <a:t/>
            </a:r>
            <a:endParaRPr sz="1300"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EEC402F-2C9F-43C2-82F1-7103E818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1000" y="5702299"/>
            <a:ext cx="203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DE3047"/>
                </a:solidFill>
                <a:latin typeface="Arial"/>
                <a:ea typeface="Arial"/>
                <a:cs typeface="Arial"/>
              </a:rPr>
              <a:t/>
            </a:r>
            <a:endParaRPr sz="1700" b="1">
              <a:solidFill>
                <a:srgbClr val="DE3047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BD8694E-4B50-4F00-9339-14E013EC1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7700" y="5740399"/>
            <a:ext cx="1143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300">
                <a:solidFill>
                  <a:srgbClr val="60636E"/>
                </a:solidFill>
                <a:latin typeface="Arial"/>
                <a:ea typeface="Arial"/>
                <a:cs typeface="Arial"/>
              </a:rPr>
              <a:t/>
            </a:r>
            <a:endParaRPr sz="1300"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FE5F9AC9-49CA-4171-B796-DF0E21288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900" y="5740399"/>
            <a:ext cx="48006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400" b="1">
                <a:solidFill>
                  <a:srgbClr val="0A0A0E"/>
                </a:solidFill>
                <a:latin typeface="Arial"/>
                <a:ea typeface="Arial"/>
                <a:cs typeface="Arial"/>
              </a:rPr>
              <a:t/>
            </a:r>
            <a:endParaRPr sz="1400" b="1">
              <a:solidFill>
                <a:srgbClr val="0A0A0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inspector-shell">
            <a:extLst xmlns:a="http://schemas.openxmlformats.org/drawingml/2006/main">
              <a:ext uri="{FF2B5EF4-FFF2-40B4-BE49-F238E27FC236}">
                <a16:creationId xmlns:a16="http://schemas.microsoft.com/office/drawing/2014/main" id="{5815CBC9-F582-4F99-8213-6F91D57CA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10782300" cy="4191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0" tIns="238125" rIns="285750" bIns="0" anchor="t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6B6B70"/>
                </a:solidFill>
              </a:defRPr>
            </a:pPr>
            <a:r>
              <a:rPr sz="1125" b="1">
                <a:solidFill>
                  <a:srgbClr val="6B6B70"/>
                </a:solidFill>
              </a:rPr>
              <a:t>TRIGGER INSPECTOR</a:t>
            </a:r>
          </a:p>
        </p:txBody>
      </p:sp>
      <p:sp>
        <p:nvSpPr>
          <p:cNvPr id="15" name="date-label">
            <a:extLst xmlns:a="http://schemas.openxmlformats.org/drawingml/2006/main">
              <a:ext uri="{FF2B5EF4-FFF2-40B4-BE49-F238E27FC236}">
                <a16:creationId xmlns:a16="http://schemas.microsoft.com/office/drawing/2014/main" id="{B98BEBAF-507C-4826-971A-0A00424A6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860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B6B70"/>
                </a:solidFill>
              </a:defRPr>
            </a:pPr>
            <a:r>
              <a:rPr sz="1125" b="1">
                <a:solidFill>
                  <a:srgbClr val="6B6B70"/>
                </a:solidFill>
              </a:rPr>
              <a:t>Дата</a:t>
            </a:r>
          </a:p>
        </p:txBody>
      </p:sp>
      <p:sp>
        <p:nvSpPr>
          <p:cNvPr id="16" name="date-field">
            <a:extLst xmlns:a="http://schemas.openxmlformats.org/drawingml/2006/main">
              <a:ext uri="{FF2B5EF4-FFF2-40B4-BE49-F238E27FC236}">
                <a16:creationId xmlns:a16="http://schemas.microsoft.com/office/drawing/2014/main" id="{F00EBBC4-2ED0-4365-AB8E-D890E0C35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71750"/>
            <a:ext cx="31432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3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date-value">
            <a:extLst xmlns:a="http://schemas.openxmlformats.org/drawingml/2006/main">
              <a:ext uri="{FF2B5EF4-FFF2-40B4-BE49-F238E27FC236}">
                <a16:creationId xmlns:a16="http://schemas.microsoft.com/office/drawing/2014/main" id="{555F1754-B697-41E4-9487-CD977EC1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860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90909"/>
                </a:solidFill>
              </a:defRPr>
            </a:pPr>
            <a:r>
              <a:rPr sz="1500" b="0">
                <a:solidFill>
                  <a:srgbClr val="090909"/>
                </a:solidFill>
              </a:rPr>
              <a:t>18 декабря 2026</a:t>
            </a:r>
          </a:p>
        </p:txBody>
      </p:sp>
      <p:sp>
        <p:nvSpPr>
          <p:cNvPr id="18" name="channel-label">
            <a:extLst xmlns:a="http://schemas.openxmlformats.org/drawingml/2006/main">
              <a:ext uri="{FF2B5EF4-FFF2-40B4-BE49-F238E27FC236}">
                <a16:creationId xmlns:a16="http://schemas.microsoft.com/office/drawing/2014/main" id="{D458FC8A-7E9F-4A5F-B414-FEDA668B1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B6B70"/>
                </a:solidFill>
              </a:defRPr>
            </a:pPr>
            <a:r>
              <a:rPr sz="1125" b="1">
                <a:solidFill>
                  <a:srgbClr val="6B6B70"/>
                </a:solidFill>
              </a:rPr>
              <a:t>Валютный канал</a:t>
            </a:r>
          </a:p>
        </p:txBody>
      </p:sp>
      <p:sp>
        <p:nvSpPr>
          <p:cNvPr id="19" name="channel-field">
            <a:extLst xmlns:a="http://schemas.openxmlformats.org/drawingml/2006/main">
              <a:ext uri="{FF2B5EF4-FFF2-40B4-BE49-F238E27FC236}">
                <a16:creationId xmlns:a16="http://schemas.microsoft.com/office/drawing/2014/main" id="{CE086CDC-3840-415F-A31A-353A8D020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57600"/>
            <a:ext cx="31432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3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hannel-value">
            <a:extLst xmlns:a="http://schemas.openxmlformats.org/drawingml/2006/main">
              <a:ext uri="{FF2B5EF4-FFF2-40B4-BE49-F238E27FC236}">
                <a16:creationId xmlns:a16="http://schemas.microsoft.com/office/drawing/2014/main" id="{55E0EE33-D250-4193-9517-E01A33847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7190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90909"/>
                </a:solidFill>
              </a:defRPr>
            </a:pPr>
            <a:r>
              <a:rPr sz="1500" b="0">
                <a:solidFill>
                  <a:srgbClr val="090909"/>
                </a:solidFill>
              </a:rPr>
              <a:t>RUB → TJS</a:t>
            </a:r>
          </a:p>
        </p:txBody>
      </p:sp>
      <p:sp>
        <p:nvSpPr>
          <p:cNvPr id="21" name="check-button">
            <a:extLst xmlns:a="http://schemas.openxmlformats.org/drawingml/2006/main">
              <a:ext uri="{FF2B5EF4-FFF2-40B4-BE49-F238E27FC236}">
                <a16:creationId xmlns:a16="http://schemas.microsoft.com/office/drawing/2014/main" id="{84BD29E6-F699-418D-B8B5-B9885385D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29150"/>
            <a:ext cx="314325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A581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heck-button-text">
            <a:extLst xmlns:a="http://schemas.openxmlformats.org/drawingml/2006/main">
              <a:ext uri="{FF2B5EF4-FFF2-40B4-BE49-F238E27FC236}">
                <a16:creationId xmlns:a16="http://schemas.microsoft.com/office/drawing/2014/main" id="{B03C8D91-0041-4066-A700-D1211A530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720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Проверить день</a:t>
            </a:r>
          </a:p>
        </p:txBody>
      </p:sp>
      <p:sp>
        <p:nvSpPr>
          <p:cNvPr id="23" name="ui-divider">
            <a:extLst xmlns:a="http://schemas.openxmlformats.org/drawingml/2006/main">
              <a:ext uri="{FF2B5EF4-FFF2-40B4-BE49-F238E27FC236}">
                <a16:creationId xmlns:a16="http://schemas.microsoft.com/office/drawing/2014/main" id="{83CDE228-8124-4DD3-A244-78179B8A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52625"/>
            <a:ext cx="0" cy="3314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6E5EB"/>
            </a:solidFill>
            <a:prstDash val="solid"/>
          </a:ln>
        </p:spPr>
      </p:sp>
      <p:sp>
        <p:nvSpPr>
          <p:cNvPr id="24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D88F1259-965D-495F-AAD4-C044A596F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478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B6B70"/>
                </a:solidFill>
              </a:defRPr>
            </a:pPr>
            <a:r>
              <a:rPr sz="1125" b="1">
                <a:solidFill>
                  <a:srgbClr val="6B6B70"/>
                </a:solidFill>
              </a:rPr>
              <a:t>РЕЗУЛЬТАТ</a:t>
            </a:r>
          </a:p>
        </p:txBody>
      </p:sp>
      <p:sp>
        <p:nvSpPr>
          <p:cNvPr id="25" name="result-card">
            <a:extLst xmlns:a="http://schemas.openxmlformats.org/drawingml/2006/main">
              <a:ext uri="{FF2B5EF4-FFF2-40B4-BE49-F238E27FC236}">
                <a16:creationId xmlns:a16="http://schemas.microsoft.com/office/drawing/2014/main" id="{C8D7E83F-09FC-4147-A301-89A3432B0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00300"/>
            <a:ext cx="5619750" cy="781050"/>
          </a:xfrm>
          <a:prstGeom xmlns:a="http://schemas.openxmlformats.org/drawingml/2006/main" prst="roundRect">
            <a:avLst>
              <a:gd name="adj" fmla="val 21951"/>
            </a:avLst>
          </a:prstGeom>
          <a:solidFill xmlns:a="http://schemas.openxmlformats.org/drawingml/2006/main">
            <a:srgbClr val="09090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685800" tIns="0" rIns="190500" bIns="0" anchor="ctr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Пуш будет отправлен</a:t>
            </a:r>
          </a:p>
        </p:txBody>
      </p:sp>
      <p:sp>
        <p:nvSpPr>
          <p:cNvPr id="26" name="status-dot">
            <a:extLst xmlns:a="http://schemas.openxmlformats.org/drawingml/2006/main">
              <a:ext uri="{FF2B5EF4-FFF2-40B4-BE49-F238E27FC236}">
                <a16:creationId xmlns:a16="http://schemas.microsoft.com/office/drawing/2014/main" id="{69487D75-3144-4788-989C-815177937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647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9B9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message-label">
            <a:extLst xmlns:a="http://schemas.openxmlformats.org/drawingml/2006/main">
              <a:ext uri="{FF2B5EF4-FFF2-40B4-BE49-F238E27FC236}">
                <a16:creationId xmlns:a16="http://schemas.microsoft.com/office/drawing/2014/main" id="{B17AF397-C116-4ADB-84F2-F57FEF708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5242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B6B70"/>
                </a:solidFill>
              </a:defRPr>
            </a:pPr>
            <a:r>
              <a:rPr sz="1125" b="1">
                <a:solidFill>
                  <a:srgbClr val="6B6B70"/>
                </a:solidFill>
              </a:rPr>
              <a:t>СООБЩЕНИЕ</a:t>
            </a:r>
          </a:p>
        </p:txBody>
      </p:sp>
      <p:sp>
        <p:nvSpPr>
          <p:cNvPr id="28" name="message-card">
            <a:extLst xmlns:a="http://schemas.openxmlformats.org/drawingml/2006/main">
              <a:ext uri="{FF2B5EF4-FFF2-40B4-BE49-F238E27FC236}">
                <a16:creationId xmlns:a16="http://schemas.microsoft.com/office/drawing/2014/main" id="{113C2321-65AA-48F4-A503-382096ABC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876675"/>
            <a:ext cx="561975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3F2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04800" tIns="152400" rIns="304800" bIns="1524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90909"/>
                </a:solidFill>
              </a:defRPr>
            </a:pPr>
            <a:r>
              <a:rPr sz="1650">
                <a:solidFill>
                  <a:srgbClr val="090909"/>
                </a:solidFill>
              </a:rPr>
              <a:t>Если планировали перевод к праздникам, сегодня стоит проверить условия.</a:t>
            </a:r>
          </a:p>
        </p:txBody>
      </p:sp>
      <p:sp>
        <p:nvSpPr>
          <p:cNvPr id="29" name="reason-code">
            <a:extLst xmlns:a="http://schemas.openxmlformats.org/drawingml/2006/main">
              <a:ext uri="{FF2B5EF4-FFF2-40B4-BE49-F238E27FC236}">
                <a16:creationId xmlns:a16="http://schemas.microsoft.com/office/drawing/2014/main" id="{78472A11-B6F5-4D36-B711-1F0D6FDDA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21970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6B70"/>
                </a:solidFill>
              </a:defRPr>
            </a:pPr>
            <a:r>
              <a:rPr sz="1200" b="0">
                <a:solidFill>
                  <a:srgbClr val="6B6B70"/>
                </a:solidFill>
              </a:rPr>
              <a:t>Причина: порог пройден · frequency cap соблюдён</a:t>
            </a:r>
          </a:p>
        </p:txBody>
      </p:sp>
    </p:spTree>
    <p:extLst>
      <p:ext uri="{BB962C8B-B14F-4D97-AF65-F5344CB8AC3E}">
        <p14:creationId xmlns:p14="http://schemas.microsoft.com/office/powerpoint/2010/main" val="110204964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3F2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A97FD618-D72E-455A-8892-13C41F20C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279400"/>
            <a:ext cx="660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00" b="1">
                <a:solidFill>
                  <a:srgbClr val="FA581B"/>
                </a:solidFill>
                <a:latin typeface="Arial"/>
                <a:ea typeface="Arial"/>
                <a:cs typeface="Arial"/>
              </a:rPr>
              <a:t>ВАЛЮТНЫЕ КАНАЛЫ</a:t>
            </a:r>
            <a:endParaRPr sz="1000" b="1">
              <a:solidFill>
                <a:srgbClr val="005C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36B1026-1403-41AF-92EB-247C400D3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609599"/>
            <a:ext cx="10795000" cy="660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350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Проверяем, совпадают ли лучшие параметры</a:t>
            </a:r>
            <a:endParaRPr sz="3500" b="1">
              <a:solidFill>
                <a:srgbClr val="0A0A0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9F9C155-02FC-4B5B-A8AE-85532BA2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6350000"/>
            <a:ext cx="10795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6E5EB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28B50AC-370F-481B-B30F-5A858DB7B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6438900"/>
            <a:ext cx="635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800" b="1">
                <a:solidFill>
                  <a:srgbClr val="6B6B70"/>
                </a:solidFill>
                <a:latin typeface="Arial"/>
                <a:ea typeface="Arial"/>
                <a:cs typeface="Arial"/>
              </a:rPr>
              <a:t>CIS TRADING  /  ТРИГГЕРНАЯ МОДЕЛЬ</a:t>
            </a:r>
            <a:endParaRPr sz="800" b="1">
              <a:solidFill>
                <a:srgbClr val="91949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16B4954-B9E7-4161-BD83-9F594771B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0" y="6413500"/>
            <a:ext cx="5715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1">
                <a:solidFill>
                  <a:srgbClr val="6B6B70"/>
                </a:solidFill>
                <a:latin typeface="Arial"/>
                <a:ea typeface="Arial"/>
                <a:cs typeface="Arial"/>
              </a:rPr>
              <a:t>12</a:t>
            </a:r>
            <a:endParaRPr sz="900" b="1"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C968FE8-ABD3-4BBF-BFCA-35F2E636D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1778000"/>
            <a:ext cx="444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>
                <a:solidFill>
                  <a:srgbClr val="FA581B"/>
                </a:solidFill>
              </a:defRPr>
            </a:pPr>
            <a:r>
              <a:rPr sz="1100" b="1">
                <a:solidFill>
                  <a:srgbClr val="FA581B"/>
                </a:solidFill>
                <a:latin typeface="Arial"/>
                <a:ea typeface="Arial"/>
                <a:cs typeface="Arial"/>
              </a:rPr>
              <a:t>ЕДИНЫЕ ПАРАМЕТРЫ</a:t>
            </a:r>
            <a:endParaRPr sz="1100" b="1">
              <a:solidFill>
                <a:srgbClr val="EE007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Овал 7">
            <a:extLst xmlns:a="http://schemas.openxmlformats.org/drawingml/2006/main">
              <a:ext uri="{FF2B5EF4-FFF2-40B4-BE49-F238E27FC236}">
                <a16:creationId xmlns:a16="http://schemas.microsoft.com/office/drawing/2014/main" id="{FC220FC4-FBA0-465D-8878-215F8185F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2324100"/>
            <a:ext cx="88900" cy="88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0076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90EEEE1-ED29-49D6-86EF-2158EC0FF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499"/>
            <a:ext cx="4572000" cy="939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900">
                <a:solidFill>
                  <a:srgbClr val="23242B"/>
                </a:solidFill>
                <a:latin typeface="Arial"/>
                <a:ea typeface="Arial"/>
                <a:cs typeface="Arial"/>
              </a:rPr>
              <a:t>Один горизонт и порог для всех каналов</a:t>
            </a:r>
            <a:endParaRPr sz="1900">
              <a:solidFill>
                <a:srgbClr val="23242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Овал 9">
            <a:extLst xmlns:a="http://schemas.openxmlformats.org/drawingml/2006/main">
              <a:ext uri="{FF2B5EF4-FFF2-40B4-BE49-F238E27FC236}">
                <a16:creationId xmlns:a16="http://schemas.microsoft.com/office/drawing/2014/main" id="{F5015867-C69B-459C-B70B-E5541C31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3213100"/>
            <a:ext cx="88900" cy="88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0076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B5B19E11-C419-4531-9A2B-E88779BE1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11499"/>
            <a:ext cx="4572000" cy="939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900">
                <a:solidFill>
                  <a:srgbClr val="23242B"/>
                </a:solidFill>
                <a:latin typeface="Arial"/>
                <a:ea typeface="Arial"/>
                <a:cs typeface="Arial"/>
              </a:rPr>
              <a:t>Проще поддерживать и объяснять</a:t>
            </a:r>
            <a:endParaRPr sz="1900">
              <a:solidFill>
                <a:srgbClr val="23242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Овал 11">
            <a:extLst xmlns:a="http://schemas.openxmlformats.org/drawingml/2006/main">
              <a:ext uri="{FF2B5EF4-FFF2-40B4-BE49-F238E27FC236}">
                <a16:creationId xmlns:a16="http://schemas.microsoft.com/office/drawing/2014/main" id="{4DE663D8-ADEA-43EB-889E-D8A645A05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4102100"/>
            <a:ext cx="88900" cy="88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0076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69C73647-7FCA-4E2C-8257-7FAD5D41E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499"/>
            <a:ext cx="4572000" cy="939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900">
                <a:solidFill>
                  <a:srgbClr val="23242B"/>
                </a:solidFill>
                <a:latin typeface="Arial"/>
                <a:ea typeface="Arial"/>
                <a:cs typeface="Arial"/>
              </a:rPr>
              <a:t>Риск потерять channel-specific эффект</a:t>
            </a:r>
            <a:endParaRPr sz="1900">
              <a:solidFill>
                <a:srgbClr val="23242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A61951C5-183C-4FE5-A44B-82E157E38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78000"/>
            <a:ext cx="482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>
                <a:solidFill>
                  <a:srgbClr val="FD9066"/>
                </a:solidFill>
              </a:defRPr>
            </a:pPr>
            <a:r>
              <a:rPr sz="1100" b="1">
                <a:solidFill>
                  <a:srgbClr val="FD9066"/>
                </a:solidFill>
                <a:latin typeface="Arial"/>
                <a:ea typeface="Arial"/>
                <a:cs typeface="Arial"/>
              </a:rPr>
              <a:t>CHANNEL-SPECIFIC</a:t>
            </a:r>
            <a:endParaRPr sz="1100" b="1">
              <a:solidFill>
                <a:srgbClr val="005C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Овал 14">
            <a:extLst xmlns:a="http://schemas.openxmlformats.org/drawingml/2006/main">
              <a:ext uri="{FF2B5EF4-FFF2-40B4-BE49-F238E27FC236}">
                <a16:creationId xmlns:a16="http://schemas.microsoft.com/office/drawing/2014/main" id="{FA489DD4-86E0-492A-A92E-37408E78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324100"/>
            <a:ext cx="88900" cy="88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CFF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3D18984D-F0FC-4909-91A0-10AA0FD38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22499"/>
            <a:ext cx="4635500" cy="939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900">
                <a:solidFill>
                  <a:srgbClr val="23242B"/>
                </a:solidFill>
                <a:latin typeface="Arial"/>
                <a:ea typeface="Arial"/>
                <a:cs typeface="Arial"/>
              </a:rPr>
              <a:t>Свой порог, окно и cooldown</a:t>
            </a:r>
            <a:endParaRPr sz="1900">
              <a:solidFill>
                <a:srgbClr val="23242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Овал 16">
            <a:extLst xmlns:a="http://schemas.openxmlformats.org/drawingml/2006/main">
              <a:ext uri="{FF2B5EF4-FFF2-40B4-BE49-F238E27FC236}">
                <a16:creationId xmlns:a16="http://schemas.microsoft.com/office/drawing/2014/main" id="{4BD5CBA4-EF94-4219-9F95-7400984E4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3213100"/>
            <a:ext cx="88900" cy="88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CFF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EE834032-2E3B-4B65-B0AE-863BB2104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11499"/>
            <a:ext cx="4635500" cy="939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900">
                <a:solidFill>
                  <a:srgbClr val="23242B"/>
                </a:solidFill>
                <a:latin typeface="Arial"/>
                <a:ea typeface="Arial"/>
                <a:cs typeface="Arial"/>
              </a:rPr>
              <a:t>Свой портрет клиента и частота</a:t>
            </a:r>
            <a:endParaRPr sz="1900">
              <a:solidFill>
                <a:srgbClr val="23242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Овал 18">
            <a:extLst xmlns:a="http://schemas.openxmlformats.org/drawingml/2006/main">
              <a:ext uri="{FF2B5EF4-FFF2-40B4-BE49-F238E27FC236}">
                <a16:creationId xmlns:a16="http://schemas.microsoft.com/office/drawing/2014/main" id="{D110C0FB-937C-419C-A238-8F424B153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4102100"/>
            <a:ext cx="88900" cy="88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CFF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35F680B6-DF86-464B-80AC-2DDCCACFE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00499"/>
            <a:ext cx="4635500" cy="939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900">
                <a:solidFill>
                  <a:srgbClr val="23242B"/>
                </a:solidFill>
                <a:latin typeface="Arial"/>
                <a:ea typeface="Arial"/>
                <a:cs typeface="Arial"/>
              </a:rPr>
              <a:t>Свои формулировки сигнала</a:t>
            </a:r>
            <a:endParaRPr sz="1900">
              <a:solidFill>
                <a:srgbClr val="23242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8223DA1A-BF85-45DA-9A0D-7788FAE2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5486399"/>
            <a:ext cx="1079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2000" b="1">
                <a:solidFill>
                  <a:srgbClr val="0A0A0E"/>
                </a:solidFill>
                <a:latin typeface="Arial"/>
                <a:ea typeface="Arial"/>
                <a:cs typeface="Arial"/>
              </a:rPr>
              <a:t>Отдельно: курс ЦБ не равен фактическому банковскому курсу перевода.</a:t>
            </a:r>
            <a:endParaRPr sz="2000" b="1">
              <a:solidFill>
                <a:srgbClr val="0A0A0E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3897879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3F2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3E894D4F-865B-4692-B306-2984A3FAE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279400"/>
            <a:ext cx="660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00" b="1">
                <a:solidFill>
                  <a:srgbClr val="FA581B"/>
                </a:solidFill>
                <a:latin typeface="Arial"/>
                <a:ea typeface="Arial"/>
                <a:cs typeface="Arial"/>
              </a:rPr>
              <a:t>ОТ СИГНАЛА К ТЕКСТУ</a:t>
            </a:r>
            <a:endParaRPr sz="1000" b="1">
              <a:solidFill>
                <a:srgbClr val="005C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23E863C-D1AE-4C04-BEBD-34FAFB27E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609599"/>
            <a:ext cx="10795000" cy="660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350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Лучшие параметры превращаем в тексты</a:t>
            </a:r>
            <a:endParaRPr sz="3500" b="1">
              <a:solidFill>
                <a:srgbClr val="0A0A0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DAB3EDA-B67D-46D6-AB65-7A4820025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6350000"/>
            <a:ext cx="10795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6E5EB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429253A-ADB9-488A-858A-6300A4785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6438900"/>
            <a:ext cx="635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800" b="1">
                <a:solidFill>
                  <a:srgbClr val="6B6B70"/>
                </a:solidFill>
                <a:latin typeface="Arial"/>
                <a:ea typeface="Arial"/>
                <a:cs typeface="Arial"/>
              </a:rPr>
              <a:t>CIS TRADING  /  ТРИГГЕРНАЯ МОДЕЛЬ</a:t>
            </a:r>
            <a:endParaRPr sz="800" b="1">
              <a:solidFill>
                <a:srgbClr val="91949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70C902B-457A-4721-9110-499839485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0" y="6413500"/>
            <a:ext cx="5715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1">
                <a:solidFill>
                  <a:srgbClr val="6B6B70"/>
                </a:solidFill>
                <a:latin typeface="Arial"/>
                <a:ea typeface="Arial"/>
                <a:cs typeface="Arial"/>
              </a:rPr>
              <a:t>13</a:t>
            </a:r>
            <a:endParaRPr sz="900" b="1"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Прямая соединительная линия 6">
            <a:extLst xmlns:a="http://schemas.openxmlformats.org/drawingml/2006/main">
              <a:ext uri="{FF2B5EF4-FFF2-40B4-BE49-F238E27FC236}">
                <a16:creationId xmlns:a16="http://schemas.microsoft.com/office/drawing/2014/main" id="{7C9D0D56-44DD-40BB-8D59-6F1004D4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035300"/>
            <a:ext cx="292100" cy="0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91949E"/>
            </a:solidFill>
            <a:tailEnd type="arrow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284D0D1-F1AB-4450-B348-3A167EE74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2057399"/>
            <a:ext cx="50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>
                <a:solidFill>
                  <a:srgbClr val="FA581B"/>
                </a:solidFill>
              </a:defRPr>
            </a:pPr>
            <a:r>
              <a:rPr sz="1200" b="1">
                <a:solidFill>
                  <a:srgbClr val="FA581B"/>
                </a:solidFill>
                <a:latin typeface="Arial"/>
                <a:ea typeface="Arial"/>
                <a:cs typeface="Arial"/>
              </a:rPr>
              <a:t>01</a:t>
            </a:r>
            <a:endParaRPr sz="1200" b="1">
              <a:solidFill>
                <a:srgbClr val="EE007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 xmlns:a="http://schemas.openxmlformats.org/drawingml/2006/main">
              <a:ext uri="{FF2B5EF4-FFF2-40B4-BE49-F238E27FC236}">
                <a16:creationId xmlns:a16="http://schemas.microsoft.com/office/drawing/2014/main" id="{F4AF3443-7439-4E1E-85B9-7D13AB985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2527300"/>
            <a:ext cx="1473200" cy="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FA581B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A07FAFF-08F9-4C07-BF4F-22C947B84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2768599"/>
            <a:ext cx="14732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rgbClr val="0A0A0E"/>
                </a:solidFill>
                <a:latin typeface="Arial"/>
                <a:ea typeface="Arial"/>
                <a:cs typeface="Arial"/>
              </a:rPr>
              <a:t>Настроить горизонты</a:t>
            </a:r>
            <a:endParaRPr sz="1600" b="1">
              <a:solidFill>
                <a:srgbClr val="0A0A0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26E2884D-7BD8-4DFE-ACF5-064068D6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3530599"/>
            <a:ext cx="1473200" cy="698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60636E"/>
                </a:solidFill>
                <a:latin typeface="Arial"/>
                <a:ea typeface="Arial"/>
                <a:cs typeface="Arial"/>
              </a:rPr>
              <a:t>по каждому каналу</a:t>
            </a:r>
            <a:endParaRPr sz="1400"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Прямая соединительная линия 11">
            <a:extLst xmlns:a="http://schemas.openxmlformats.org/drawingml/2006/main">
              <a:ext uri="{FF2B5EF4-FFF2-40B4-BE49-F238E27FC236}">
                <a16:creationId xmlns:a16="http://schemas.microsoft.com/office/drawing/2014/main" id="{99494993-4A91-45F2-BA68-BB0F196E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3200" y="3035300"/>
            <a:ext cx="292100" cy="0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91949E"/>
            </a:solidFill>
            <a:tailEnd type="arrow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739A22F1-3363-4E75-B359-0B023F9AC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0000" y="2057399"/>
            <a:ext cx="50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>
                <a:solidFill>
                  <a:srgbClr val="FD9066"/>
                </a:solidFill>
              </a:defRPr>
            </a:pPr>
            <a:r>
              <a:rPr sz="1200" b="1">
                <a:solidFill>
                  <a:srgbClr val="FD9066"/>
                </a:solidFill>
                <a:latin typeface="Arial"/>
                <a:ea typeface="Arial"/>
                <a:cs typeface="Arial"/>
              </a:rPr>
              <a:t>02</a:t>
            </a:r>
            <a:endParaRPr sz="1200" b="1">
              <a:solidFill>
                <a:srgbClr val="005C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Прямая соединительная линия 13">
            <a:extLst xmlns:a="http://schemas.openxmlformats.org/drawingml/2006/main">
              <a:ext uri="{FF2B5EF4-FFF2-40B4-BE49-F238E27FC236}">
                <a16:creationId xmlns:a16="http://schemas.microsoft.com/office/drawing/2014/main" id="{6C5B4A9C-05B3-48B8-968D-8F69702F4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0000" y="2527300"/>
            <a:ext cx="1473200" cy="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FD9066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6A5E54D1-FA8A-4FDA-98FA-707E30D47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0000" y="2768599"/>
            <a:ext cx="14732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rgbClr val="0A0A0E"/>
                </a:solidFill>
                <a:latin typeface="Arial"/>
                <a:ea typeface="Arial"/>
                <a:cs typeface="Arial"/>
              </a:rPr>
              <a:t>Выбрать пороги</a:t>
            </a:r>
            <a:endParaRPr sz="1600" b="1">
              <a:solidFill>
                <a:srgbClr val="0A0A0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BD8D0625-5355-4026-9C83-C187D2776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0000" y="3530599"/>
            <a:ext cx="1473200" cy="698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60636E"/>
                </a:solidFill>
                <a:latin typeface="Arial"/>
                <a:ea typeface="Arial"/>
                <a:cs typeface="Arial"/>
              </a:rPr>
              <a:t>лучше random-day baseline</a:t>
            </a:r>
            <a:endParaRPr sz="1400"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Прямая соединительная линия 16">
            <a:extLst xmlns:a="http://schemas.openxmlformats.org/drawingml/2006/main">
              <a:ext uri="{FF2B5EF4-FFF2-40B4-BE49-F238E27FC236}">
                <a16:creationId xmlns:a16="http://schemas.microsoft.com/office/drawing/2014/main" id="{3EB04B12-724E-415E-99A0-596BB7F8A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4700" y="3035300"/>
            <a:ext cx="292100" cy="0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91949E"/>
            </a:solidFill>
            <a:tailEnd type="arrow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4BE4AF64-B6CE-43F8-A1ED-B51D2F72A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57399"/>
            <a:ext cx="50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>
                <a:solidFill>
                  <a:srgbClr val="FA581B"/>
                </a:solidFill>
              </a:defRPr>
            </a:pPr>
            <a:r>
              <a:rPr sz="1200" b="1">
                <a:solidFill>
                  <a:srgbClr val="FA581B"/>
                </a:solidFill>
                <a:latin typeface="Arial"/>
                <a:ea typeface="Arial"/>
                <a:cs typeface="Arial"/>
              </a:rPr>
              <a:t>03</a:t>
            </a:r>
            <a:endParaRPr sz="1200" b="1">
              <a:solidFill>
                <a:srgbClr val="005C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Прямая соединительная линия 18">
            <a:extLst xmlns:a="http://schemas.openxmlformats.org/drawingml/2006/main">
              <a:ext uri="{FF2B5EF4-FFF2-40B4-BE49-F238E27FC236}">
                <a16:creationId xmlns:a16="http://schemas.microsoft.com/office/drawing/2014/main" id="{71FC2D45-8931-479D-B6D6-E8CBB45F2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27300"/>
            <a:ext cx="1473200" cy="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FA581B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88A8E41D-523A-4330-A183-8690F95AC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68599"/>
            <a:ext cx="14732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rgbClr val="0A0A0E"/>
                </a:solidFill>
                <a:latin typeface="Arial"/>
                <a:ea typeface="Arial"/>
                <a:cs typeface="Arial"/>
              </a:rPr>
              <a:t>Проверить частоту</a:t>
            </a:r>
            <a:endParaRPr sz="1600" b="1">
              <a:solidFill>
                <a:srgbClr val="0A0A0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2F9AE317-F22B-41C9-BACD-78B7BC54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30599"/>
            <a:ext cx="1473200" cy="698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60636E"/>
                </a:solidFill>
                <a:latin typeface="Arial"/>
                <a:ea typeface="Arial"/>
                <a:cs typeface="Arial"/>
              </a:rPr>
              <a:t>1–2/мес → 1–2/нед</a:t>
            </a:r>
            <a:endParaRPr sz="1400"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Прямая соединительная линия 21">
            <a:extLst xmlns:a="http://schemas.openxmlformats.org/drawingml/2006/main">
              <a:ext uri="{FF2B5EF4-FFF2-40B4-BE49-F238E27FC236}">
                <a16:creationId xmlns:a16="http://schemas.microsoft.com/office/drawing/2014/main" id="{C8DE8F8A-6D61-41A1-9D08-49E74521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035300"/>
            <a:ext cx="292100" cy="0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91949E"/>
            </a:solidFill>
            <a:tailEnd type="arrow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E6C5BECD-BF73-4B66-83F1-B48972AD8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2057399"/>
            <a:ext cx="50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>
                <a:solidFill>
                  <a:srgbClr val="FD9066"/>
                </a:solidFill>
              </a:defRPr>
            </a:pPr>
            <a:r>
              <a:rPr sz="1200" b="1">
                <a:solidFill>
                  <a:srgbClr val="FD9066"/>
                </a:solidFill>
                <a:latin typeface="Arial"/>
                <a:ea typeface="Arial"/>
                <a:cs typeface="Arial"/>
              </a:rPr>
              <a:t>04</a:t>
            </a:r>
            <a:endParaRPr sz="1200" b="1">
              <a:solidFill>
                <a:srgbClr val="005C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Прямая соединительная линия 23">
            <a:extLst xmlns:a="http://schemas.openxmlformats.org/drawingml/2006/main">
              <a:ext uri="{FF2B5EF4-FFF2-40B4-BE49-F238E27FC236}">
                <a16:creationId xmlns:a16="http://schemas.microsoft.com/office/drawing/2014/main" id="{9900189C-6B5D-439C-A811-CA05DE623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2527300"/>
            <a:ext cx="1473200" cy="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FD9066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1FE8263C-D8A3-4568-88B6-466EF584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2768599"/>
            <a:ext cx="14732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rgbClr val="0A0A0E"/>
                </a:solidFill>
                <a:latin typeface="Arial"/>
                <a:ea typeface="Arial"/>
                <a:cs typeface="Arial"/>
              </a:rPr>
              <a:t>Собрать сигналы</a:t>
            </a:r>
            <a:endParaRPr sz="1600" b="1">
              <a:solidFill>
                <a:srgbClr val="0A0A0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3251DC12-AA5A-450F-B571-69D350FE2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3530599"/>
            <a:ext cx="1473200" cy="698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60636E"/>
                </a:solidFill>
                <a:latin typeface="Arial"/>
                <a:ea typeface="Arial"/>
                <a:cs typeface="Arial"/>
              </a:rPr>
              <a:t>выгода / праздник / тишина</a:t>
            </a:r>
            <a:endParaRPr sz="1400"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Прямая соединительная линия 26">
            <a:extLst xmlns:a="http://schemas.openxmlformats.org/drawingml/2006/main">
              <a:ext uri="{FF2B5EF4-FFF2-40B4-BE49-F238E27FC236}">
                <a16:creationId xmlns:a16="http://schemas.microsoft.com/office/drawing/2014/main" id="{6861C756-FDD7-462C-BA41-544FE2596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7700" y="3035300"/>
            <a:ext cx="292100" cy="0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91949E"/>
            </a:solidFill>
            <a:tailEnd type="arrow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75E91D8D-E388-4AE8-AB88-0FC2035BD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2057399"/>
            <a:ext cx="50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>
                <a:solidFill>
                  <a:srgbClr val="FA581B"/>
                </a:solidFill>
              </a:defRPr>
            </a:pPr>
            <a:r>
              <a:rPr sz="1200" b="1">
                <a:solidFill>
                  <a:srgbClr val="FA581B"/>
                </a:solidFill>
                <a:latin typeface="Arial"/>
                <a:ea typeface="Arial"/>
                <a:cs typeface="Arial"/>
              </a:rPr>
              <a:t>05</a:t>
            </a:r>
            <a:endParaRPr sz="1200" b="1">
              <a:solidFill>
                <a:srgbClr val="005C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Прямая соединительная линия 28">
            <a:extLst xmlns:a="http://schemas.openxmlformats.org/drawingml/2006/main">
              <a:ext uri="{FF2B5EF4-FFF2-40B4-BE49-F238E27FC236}">
                <a16:creationId xmlns:a16="http://schemas.microsoft.com/office/drawing/2014/main" id="{2F98E2AD-0315-48DA-8091-C26E073C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2527300"/>
            <a:ext cx="1473200" cy="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FA581B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C4870848-5A77-473E-AD47-BD4BE7480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2768599"/>
            <a:ext cx="14732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rgbClr val="0A0A0E"/>
                </a:solidFill>
                <a:latin typeface="Arial"/>
                <a:ea typeface="Arial"/>
                <a:cs typeface="Arial"/>
              </a:rPr>
              <a:t>Написать тексты</a:t>
            </a:r>
            <a:endParaRPr sz="1600" b="1">
              <a:solidFill>
                <a:srgbClr val="0A0A0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EC3E93A2-2DBD-4110-9707-325A3BAA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4500" y="3530599"/>
            <a:ext cx="1473200" cy="698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60636E"/>
                </a:solidFill>
                <a:latin typeface="Arial"/>
                <a:ea typeface="Arial"/>
                <a:cs typeface="Arial"/>
              </a:rPr>
              <a:t>точечно под комбинации</a:t>
            </a:r>
            <a:endParaRPr sz="1400"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329B3837-EEF3-4F38-AC75-10E8D6301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057399"/>
            <a:ext cx="50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>
                <a:solidFill>
                  <a:srgbClr val="FD9066"/>
                </a:solidFill>
              </a:defRPr>
            </a:pPr>
            <a:r>
              <a:rPr sz="1200" b="1">
                <a:solidFill>
                  <a:srgbClr val="FD9066"/>
                </a:solidFill>
                <a:latin typeface="Arial"/>
                <a:ea typeface="Arial"/>
                <a:cs typeface="Arial"/>
              </a:rPr>
              <a:t>06</a:t>
            </a:r>
            <a:endParaRPr sz="1200" b="1">
              <a:solidFill>
                <a:srgbClr val="005C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Прямая соединительная линия 32">
            <a:extLst xmlns:a="http://schemas.openxmlformats.org/drawingml/2006/main">
              <a:ext uri="{FF2B5EF4-FFF2-40B4-BE49-F238E27FC236}">
                <a16:creationId xmlns:a16="http://schemas.microsoft.com/office/drawing/2014/main" id="{8E7B74C0-56C1-480C-9826-FB6061660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527300"/>
            <a:ext cx="1473200" cy="0"/>
          </a:xfrm>
          <a:prstGeom xmlns:a="http://schemas.openxmlformats.org/drawingml/2006/main" prst="line">
            <a:avLst/>
          </a:prstGeom>
          <a:ln xmlns:a="http://schemas.openxmlformats.org/drawingml/2006/main" w="47625">
            <a:solidFill>
              <a:srgbClr val="FD9066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4003477A-9788-401B-923D-CAEEF51BD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68599"/>
            <a:ext cx="14732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rgbClr val="0A0A0E"/>
                </a:solidFill>
                <a:latin typeface="Arial"/>
                <a:ea typeface="Arial"/>
                <a:cs typeface="Arial"/>
              </a:rPr>
              <a:t>Собрать инспектор</a:t>
            </a:r>
            <a:endParaRPr sz="1600" b="1">
              <a:solidFill>
                <a:srgbClr val="0A0A0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6A9FDA1D-33B1-4AC9-B93A-9AE1DB270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530599"/>
            <a:ext cx="1473200" cy="698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60636E"/>
                </a:solidFill>
                <a:latin typeface="Arial"/>
                <a:ea typeface="Arial"/>
                <a:cs typeface="Arial"/>
              </a:rPr>
              <a:t>день → пуш → сообщение</a:t>
            </a:r>
            <a:endParaRPr sz="1400"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Скругленный прямоугольник 35">
            <a:extLst xmlns:a="http://schemas.openxmlformats.org/drawingml/2006/main">
              <a:ext uri="{FF2B5EF4-FFF2-40B4-BE49-F238E27FC236}">
                <a16:creationId xmlns:a16="http://schemas.microsoft.com/office/drawing/2014/main" id="{CAC70968-CDE7-4078-9DBB-BE439A423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4838700"/>
            <a:ext cx="10795000" cy="825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90909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EE25C080-DF2D-48EC-B425-7D289F41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00" y="5105400"/>
            <a:ext cx="762000" cy="25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>
                <a:solidFill>
                  <a:srgbClr val="FD9066"/>
                </a:solidFill>
              </a:defRPr>
            </a:pPr>
            <a:r>
              <a:rPr sz="1200" b="1">
                <a:solidFill>
                  <a:srgbClr val="FD9066"/>
                </a:solidFill>
                <a:latin typeface="Arial"/>
                <a:ea typeface="Arial"/>
                <a:cs typeface="Arial"/>
              </a:rPr>
              <a:t>GATE</a:t>
            </a:r>
            <a:endParaRPr sz="1200" b="1">
              <a:solidFill>
                <a:srgbClr val="EE007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BD190657-F11A-46C8-B101-02341CF7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41899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>
                <a:solidFill>
                  <a:srgbClr val="FFFFFF"/>
                </a:solidFill>
              </a:defRPr>
            </a:pPr>
            <a:r>
              <a:rPr sz="1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message lift &gt; 1  ·  лучше случайного дня  ·  частота внутри коридора</a:t>
            </a:r>
            <a:endParaRPr sz="19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8659833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3F2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34500944-5CA1-4BAE-A0BE-3059C1988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279400"/>
            <a:ext cx="660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000" b="1">
                <a:solidFill>
                  <a:srgbClr val="FA581B"/>
                </a:solidFill>
                <a:latin typeface="Arial"/>
                <a:ea typeface="Arial"/>
                <a:cs typeface="Arial"/>
              </a:rPr>
              <a:t>КОМАНДА</a:t>
            </a:r>
            <a:endParaRPr sz="1000" b="1">
              <a:solidFill>
                <a:srgbClr val="005C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7609548-5720-4C78-9EDD-9D1773BA5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609599"/>
            <a:ext cx="10795000" cy="660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3500" b="1">
                <a:solidFill>
                  <a:srgbClr val="090909"/>
                </a:solidFill>
                <a:latin typeface="Arial"/>
                <a:ea typeface="Arial"/>
                <a:cs typeface="Arial"/>
              </a:rPr>
              <a:t>Команда закрывает модель, продукт и доверие</a:t>
            </a:r>
            <a:endParaRPr sz="3500" b="1">
              <a:solidFill>
                <a:srgbClr val="0A0A0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32C2E91-44CA-4A02-9DA3-F5964D5C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6350000"/>
            <a:ext cx="10795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6E5EB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D37485E-5C01-4462-9057-DDF253071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6438900"/>
            <a:ext cx="635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800" b="1">
                <a:solidFill>
                  <a:srgbClr val="6B6B70"/>
                </a:solidFill>
                <a:latin typeface="Arial"/>
                <a:ea typeface="Arial"/>
                <a:cs typeface="Arial"/>
              </a:rPr>
              <a:t>CIS TRADING  /  ТРИГГЕРНАЯ МОДЕЛЬ</a:t>
            </a:r>
            <a:endParaRPr sz="800" b="1">
              <a:solidFill>
                <a:srgbClr val="91949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19E4B53-A851-497A-93EA-ADBA6E2F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0" y="6413500"/>
            <a:ext cx="571500" cy="20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 b="1">
                <a:solidFill>
                  <a:srgbClr val="6B6B70"/>
                </a:solidFill>
                <a:latin typeface="Arial"/>
                <a:ea typeface="Arial"/>
                <a:cs typeface="Arial"/>
              </a:rPr>
              <a:t>14</a:t>
            </a:r>
            <a:endParaRPr sz="900" b="1"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B0AF403-7811-4D52-8FE8-3AAE51286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1841499"/>
            <a:ext cx="3111500" cy="355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0A0A0E"/>
                </a:solidFill>
                <a:latin typeface="Arial"/>
                <a:ea typeface="Arial"/>
                <a:cs typeface="Arial"/>
              </a:rPr>
              <a:t>Обухов Илья</a:t>
            </a:r>
            <a:endParaRPr sz="2100" b="1">
              <a:solidFill>
                <a:srgbClr val="0A0A0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A900240-D4F1-439B-B42D-877397159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41499"/>
            <a:ext cx="1778000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>
                <a:solidFill>
                  <a:srgbClr val="FA581B"/>
                </a:solidFill>
              </a:defRPr>
            </a:pPr>
            <a:r>
              <a:rPr sz="1500" b="1">
                <a:solidFill>
                  <a:srgbClr val="FA581B"/>
                </a:solidFill>
                <a:latin typeface="Arial"/>
                <a:ea typeface="Arial"/>
                <a:cs typeface="Arial"/>
              </a:rPr>
              <a:t>AI Product</a:t>
            </a:r>
            <a:endParaRPr sz="1500" b="1">
              <a:solidFill>
                <a:srgbClr val="EE007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B7167A8-D832-441C-8616-F0FAF1E28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841499"/>
            <a:ext cx="4953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700">
                <a:solidFill>
                  <a:srgbClr val="60636E"/>
                </a:solidFill>
                <a:latin typeface="Arial"/>
                <a:ea typeface="Arial"/>
                <a:cs typeface="Arial"/>
              </a:rPr>
              <a:t>контракт · сценарий · метрики · отправка</a:t>
            </a:r>
            <a:endParaRPr sz="1700"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Прямая соединительная линия 9">
            <a:extLst xmlns:a="http://schemas.openxmlformats.org/drawingml/2006/main">
              <a:ext uri="{FF2B5EF4-FFF2-40B4-BE49-F238E27FC236}">
                <a16:creationId xmlns:a16="http://schemas.microsoft.com/office/drawing/2014/main" id="{591FB961-9895-474F-B529-EEABEC4DE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2628900"/>
            <a:ext cx="107950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DEE0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25AF989-705E-4EF1-B583-E535230FE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2984499"/>
            <a:ext cx="3111500" cy="355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0A0A0E"/>
                </a:solidFill>
                <a:latin typeface="Arial"/>
                <a:ea typeface="Arial"/>
                <a:cs typeface="Arial"/>
              </a:rPr>
              <a:t>Филиппова Дарья</a:t>
            </a:r>
            <a:endParaRPr sz="2100" b="1">
              <a:solidFill>
                <a:srgbClr val="0A0A0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0C0683F-776F-4235-9733-A9BCC1AE1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84499"/>
            <a:ext cx="1778000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>
                <a:solidFill>
                  <a:srgbClr val="FA581B"/>
                </a:solidFill>
              </a:defRPr>
            </a:pPr>
            <a:r>
              <a:rPr sz="1500" b="1">
                <a:solidFill>
                  <a:srgbClr val="FA581B"/>
                </a:solidFill>
                <a:latin typeface="Arial"/>
                <a:ea typeface="Arial"/>
                <a:cs typeface="Arial"/>
              </a:rPr>
              <a:t>AI Engineer</a:t>
            </a:r>
            <a:endParaRPr sz="1500" b="1">
              <a:solidFill>
                <a:srgbClr val="005C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66BF4D46-AD4D-473D-A4A8-243EE7F05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2984499"/>
            <a:ext cx="4953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700">
                <a:solidFill>
                  <a:srgbClr val="60636E"/>
                </a:solidFill>
                <a:latin typeface="Arial"/>
                <a:ea typeface="Arial"/>
                <a:cs typeface="Arial"/>
              </a:rPr>
              <a:t>ML-</a:t>
            </a:r>
            <a:r>
              <a:rPr sz="1700">
                <a:solidFill>
                  <a:srgbClr val="60636E"/>
                </a:solidFill>
                <a:latin typeface="Arial"/>
                <a:ea typeface="Arial"/>
                <a:cs typeface="Arial"/>
              </a:rPr>
              <a:t>решение · эксперименты</a:t>
            </a:r>
            <a:endParaRPr sz="1700"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Прямая соединительная линия 13">
            <a:extLst xmlns:a="http://schemas.openxmlformats.org/drawingml/2006/main">
              <a:ext uri="{FF2B5EF4-FFF2-40B4-BE49-F238E27FC236}">
                <a16:creationId xmlns:a16="http://schemas.microsoft.com/office/drawing/2014/main" id="{1272C1C6-4F1C-4B45-B58C-B401743C0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3771900"/>
            <a:ext cx="107950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DEE0E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0B59891D-F6BB-4655-BAA3-462CBBDA6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4127499"/>
            <a:ext cx="3111500" cy="355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0A0A0E"/>
                </a:solidFill>
                <a:latin typeface="Arial"/>
                <a:ea typeface="Arial"/>
                <a:cs typeface="Arial"/>
              </a:rPr>
              <a:t>Соколов Дмитрий</a:t>
            </a:r>
            <a:endParaRPr sz="2100" b="1">
              <a:solidFill>
                <a:srgbClr val="0A0A0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6EA9B8D1-C3E0-4F1B-A095-2F982588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127499"/>
            <a:ext cx="1778000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>
                <a:solidFill>
                  <a:srgbClr val="FA581B"/>
                </a:solidFill>
              </a:defRPr>
            </a:pPr>
            <a:r>
              <a:rPr sz="1500" b="1">
                <a:solidFill>
                  <a:srgbClr val="FA581B"/>
                </a:solidFill>
                <a:latin typeface="Arial"/>
                <a:ea typeface="Arial"/>
                <a:cs typeface="Arial"/>
              </a:rPr>
              <a:t>AI Engineer</a:t>
            </a:r>
            <a:endParaRPr sz="1500" b="1">
              <a:solidFill>
                <a:srgbClr val="005C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C432F4A5-52F8-4895-B85E-2B8A5D67F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499"/>
            <a:ext cx="4953000" cy="55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1700">
                <a:solidFill>
                  <a:srgbClr val="60636E"/>
                </a:solidFill>
                <a:latin typeface="Arial"/>
                <a:ea typeface="Arial"/>
                <a:cs typeface="Arial"/>
              </a:rPr>
              <a:t>данные · признаки · обучение · проверка</a:t>
            </a:r>
            <a:endParaRPr sz="1700">
              <a:solidFill>
                <a:srgbClr val="60636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Скругленный прямоугольник 17">
            <a:extLst xmlns:a="http://schemas.openxmlformats.org/drawingml/2006/main">
              <a:ext uri="{FF2B5EF4-FFF2-40B4-BE49-F238E27FC236}">
                <a16:creationId xmlns:a16="http://schemas.microsoft.com/office/drawing/2014/main" id="{FFB9A301-EFBA-4698-8F43-F2850C9BC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" y="5321300"/>
            <a:ext cx="10795000" cy="660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A581B"/>
          </a:solidFill>
          <a:ln xmlns:a="http://schemas.openxmlformats.org/drawingml/2006/main" w="12700" cmpd="sng">
            <a:noFill/>
            <a:prstDash val="solid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44F66D7B-22CE-45ED-AB07-756144810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00" y="5486399"/>
            <a:ext cx="10287000" cy="317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Следующий шаг: утвердить каналы и владельцев — затем запустить backtest.</a:t>
            </a:r>
            <a:endParaRPr sz="2000" b="1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51158071"/>
      </p:ext>
    </p:extLst>
  </p:cSld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2026-09-03T16:29:20.1340000Z</dcterms:created>
  <dcterms:modified xsi:type="dcterms:W3CDTF">2026-09-03T16:29:20.1340000Z</dcterms:modified>
</coreProperties>
</file>