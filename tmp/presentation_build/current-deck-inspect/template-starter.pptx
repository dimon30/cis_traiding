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44553dff224936" /><Relationship Type="http://schemas.openxmlformats.org/officeDocument/2006/relationships/extended-properties" Target="/docProps/app.xml" Id="Ra52d9486ecfb4f32" /><Relationship Type="http://schemas.openxmlformats.org/officeDocument/2006/relationships/officeDocument" Target="/ppt/presentation.xml" Id="Re372d49f523d4e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1b6c1467e74e84"/>
  </p:sldMasterIdLst>
  <p:notesMasterIdLst>
    <p:notesMasterId xmlns:r="http://schemas.openxmlformats.org/officeDocument/2006/relationships" r:id="R555d8831cdf84f4e"/>
  </p:notesMasterIdLst>
  <p:sldIdLst>
    <p:sldId xmlns:r="http://schemas.openxmlformats.org/officeDocument/2006/relationships" id="256" r:id="R7d6bfc514b0b451c"/>
    <p:sldId xmlns:r="http://schemas.openxmlformats.org/officeDocument/2006/relationships" id="257" r:id="Rb196395519d74548"/>
    <p:sldId xmlns:r="http://schemas.openxmlformats.org/officeDocument/2006/relationships" id="258" r:id="Re0750009bc154189"/>
    <p:sldId xmlns:r="http://schemas.openxmlformats.org/officeDocument/2006/relationships" id="259" r:id="R6c32aaaebc934921"/>
    <p:sldId xmlns:r="http://schemas.openxmlformats.org/officeDocument/2006/relationships" id="260" r:id="R52c4d3e3782a4123"/>
    <p:sldId xmlns:r="http://schemas.openxmlformats.org/officeDocument/2006/relationships" id="261" r:id="R2e1c5fd30cce41a5"/>
    <p:sldId xmlns:r="http://schemas.openxmlformats.org/officeDocument/2006/relationships" id="262" r:id="R929a35ba59d74fc4"/>
    <p:sldId xmlns:r="http://schemas.openxmlformats.org/officeDocument/2006/relationships" id="263" r:id="R5fff5386eb1f4ff1"/>
    <p:sldId xmlns:r="http://schemas.openxmlformats.org/officeDocument/2006/relationships" id="264" r:id="Re356ee813e364767"/>
    <p:sldId xmlns:r="http://schemas.openxmlformats.org/officeDocument/2006/relationships" id="265" r:id="R10f50d843b2f483a"/>
    <p:sldId xmlns:r="http://schemas.openxmlformats.org/officeDocument/2006/relationships" id="266" r:id="R40975187205d461e"/>
    <p:sldId xmlns:r="http://schemas.openxmlformats.org/officeDocument/2006/relationships" id="267" r:id="R3d1f514fd7cc4b8f"/>
    <p:sldId xmlns:r="http://schemas.openxmlformats.org/officeDocument/2006/relationships" id="268" r:id="Re60c3c7947da45a4"/>
    <p:sldId xmlns:r="http://schemas.openxmlformats.org/officeDocument/2006/relationships" id="269" r:id="Rc03aae1a7a7641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b914bc751a4223" /><Relationship Type="http://schemas.openxmlformats.org/officeDocument/2006/relationships/slideMaster" Target="/ppt/slideMasters/slideMaster1.xml" Id="Rf51b6c1467e74e84" /><Relationship Type="http://schemas.openxmlformats.org/officeDocument/2006/relationships/notesMaster" Target="/ppt/notesMasters/notesMaster1.xml" Id="R555d8831cdf84f4e" /><Relationship Type="http://schemas.openxmlformats.org/officeDocument/2006/relationships/presProps" Target="/ppt/presProps.xml" Id="R9f85123ce154475c" /><Relationship Type="http://schemas.openxmlformats.org/officeDocument/2006/relationships/viewProps" Target="/ppt/viewProps.xml" Id="R3820d14cec11491c" /><Relationship Type="http://schemas.openxmlformats.org/officeDocument/2006/relationships/tableStyles" Target="/ppt/tableStyles.xml" Id="R525323bde8ed454c" /><Relationship Type="http://schemas.openxmlformats.org/officeDocument/2006/relationships/slide" Target="/ppt/slides/slide1.xml" Id="R7d6bfc514b0b451c" /><Relationship Type="http://schemas.openxmlformats.org/officeDocument/2006/relationships/slide" Target="/ppt/slides/slide2.xml" Id="Rb196395519d74548" /><Relationship Type="http://schemas.openxmlformats.org/officeDocument/2006/relationships/slide" Target="/ppt/slides/slide3.xml" Id="Re0750009bc154189" /><Relationship Type="http://schemas.openxmlformats.org/officeDocument/2006/relationships/slide" Target="/ppt/slides/slide4.xml" Id="R6c32aaaebc934921" /><Relationship Type="http://schemas.openxmlformats.org/officeDocument/2006/relationships/slide" Target="/ppt/slides/slide5.xml" Id="R52c4d3e3782a4123" /><Relationship Type="http://schemas.openxmlformats.org/officeDocument/2006/relationships/slide" Target="/ppt/slides/slide6.xml" Id="R2e1c5fd30cce41a5" /><Relationship Type="http://schemas.openxmlformats.org/officeDocument/2006/relationships/slide" Target="/ppt/slides/slide7.xml" Id="R929a35ba59d74fc4" /><Relationship Type="http://schemas.openxmlformats.org/officeDocument/2006/relationships/slide" Target="/ppt/slides/slide8.xml" Id="R5fff5386eb1f4ff1" /><Relationship Type="http://schemas.openxmlformats.org/officeDocument/2006/relationships/slide" Target="/ppt/slides/slide9.xml" Id="Re356ee813e364767" /><Relationship Type="http://schemas.openxmlformats.org/officeDocument/2006/relationships/slide" Target="/ppt/slides/slide10.xml" Id="R10f50d843b2f483a" /><Relationship Type="http://schemas.openxmlformats.org/officeDocument/2006/relationships/slide" Target="/ppt/slides/slide11.xml" Id="R40975187205d461e" /><Relationship Type="http://schemas.openxmlformats.org/officeDocument/2006/relationships/slide" Target="/ppt/slides/slide12.xml" Id="R3d1f514fd7cc4b8f" /><Relationship Type="http://schemas.openxmlformats.org/officeDocument/2006/relationships/slide" Target="/ppt/slides/slide13.xml" Id="Re60c3c7947da45a4" /><Relationship Type="http://schemas.openxmlformats.org/officeDocument/2006/relationships/slide" Target="/ppt/slides/slide14.xml" Id="Rc03aae1a7a7641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76df092bff4d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7dfe3f540c4d39" /><Relationship Type="http://schemas.openxmlformats.org/officeDocument/2006/relationships/notesMaster" Target="/ppt/notesMasters/notesMaster1.xml" Id="R0591078d246a4d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646f70edff4f6b" /><Relationship Type="http://schemas.openxmlformats.org/officeDocument/2006/relationships/notesMaster" Target="/ppt/notesMasters/notesMaster1.xml" Id="Rb048cbdad41347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98078f2a884721" /><Relationship Type="http://schemas.openxmlformats.org/officeDocument/2006/relationships/notesMaster" Target="/ppt/notesMasters/notesMaster1.xml" Id="R5e097856473741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525a3e526c40da" /><Relationship Type="http://schemas.openxmlformats.org/officeDocument/2006/relationships/notesMaster" Target="/ppt/notesMasters/notesMaster1.xml" Id="R10b436617b5443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cf28cdb9314270" /><Relationship Type="http://schemas.openxmlformats.org/officeDocument/2006/relationships/notesMaster" Target="/ppt/notesMasters/notesMaster1.xml" Id="R222bd03e333849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a78d2a8bf14d70" /><Relationship Type="http://schemas.openxmlformats.org/officeDocument/2006/relationships/notesMaster" Target="/ppt/notesMasters/notesMaster1.xml" Id="R7d1c2634db734e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4e923394d341ee" /><Relationship Type="http://schemas.openxmlformats.org/officeDocument/2006/relationships/notesMaster" Target="/ppt/notesMasters/notesMaster1.xml" Id="R01c6f02e53fa44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907e2c7c944aae" /><Relationship Type="http://schemas.openxmlformats.org/officeDocument/2006/relationships/notesMaster" Target="/ppt/notesMasters/notesMaster1.xml" Id="Rcf3f01133a8c46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a59d1f9925419b" /><Relationship Type="http://schemas.openxmlformats.org/officeDocument/2006/relationships/notesMaster" Target="/ppt/notesMasters/notesMaster1.xml" Id="Rb3f8841664bc4c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a7e1258ca34527" /><Relationship Type="http://schemas.openxmlformats.org/officeDocument/2006/relationships/notesMaster" Target="/ppt/notesMasters/notesMaster1.xml" Id="Re79fab5134d24f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d416e640aa4c3e" /><Relationship Type="http://schemas.openxmlformats.org/officeDocument/2006/relationships/notesMaster" Target="/ppt/notesMasters/notesMaster1.xml" Id="R3407987668194f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a1626ce0a8437e" /><Relationship Type="http://schemas.openxmlformats.org/officeDocument/2006/relationships/notesMaster" Target="/ppt/notesMasters/notesMaster1.xml" Id="Rc492605b224546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76b2602baf40a8" /><Relationship Type="http://schemas.openxmlformats.org/officeDocument/2006/relationships/notesMaster" Target="/ppt/notesMasters/notesMaster1.xml" Id="Rd450d44ea25949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411e52cab14880" /><Relationship Type="http://schemas.openxmlformats.org/officeDocument/2006/relationships/notesMaster" Target="/ppt/notesMasters/notesMaster1.xml" Id="R78869df7358445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file:///C:/dev/itmo-hak/CIS_Traiding/README.md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file:///C:/dev/itmo-hak/CIS_Traiding/README.md</a:t>
            </a:r>
          </a:p>
          <a:p xmlns:a="http://schemas.openxmlformats.org/drawingml/2006/main">
            <a:r>
              <a:t>- file:///C:/dev/itmo-hak/CIS_Traiding/PRODUCT_CONTRACT.md#1-</a:t>
            </a:r>
            <a:r>
              <a:t>что-мы-создаём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file:///C:/dev/itmo-hak/CIS_Traiding/PRODUCT_CONTRACT.md#1-</a:t>
            </a:r>
            <a:r>
              <a:t>что-мы-создаём</a:t>
            </a:r>
          </a:p>
          <a:p xmlns:a="http://schemas.openxmlformats.org/drawingml/2006/main">
            <a:r>
              <a:t>- </a:t>
            </a:r>
            <a:r>
              <a:t>file:///C:/dev/itmo-hak/CIS_Traiding/PRODUCT_CONTRACT.md#2-</a:t>
            </a:r>
            <a:r>
              <a:t>что-считаем-выгодным-моментом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file:///C:/dev/itmo-hak/CIS_Traiding/PRODUCT_CONTRACT.md#2-что-считаем-выгодным-моментом</a:t>
            </a:r>
          </a:p>
          <a:p xmlns:a="http://schemas.openxmlformats.org/drawingml/2006/main">
            <a:r>
              <a:t>- file:///C:/dev/itmo-hak/CIS_Traiding/PRODUCT_CONTRACT.md#4-правила-отправки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file:///C:/dev/itmo-hak/CIS_Traiding/PRODUCT_CONTRACT.md#3-</a:t>
            </a:r>
            <a:r>
              <a:t>данные-и-логика-системы</a:t>
            </a:r>
          </a:p>
          <a:p xmlns:a="http://schemas.openxmlformats.org/drawingml/2006/main">
            <a:r>
              <a:t>- </a:t>
            </a:r>
            <a:r>
              <a:t>file:///C:/dev/itmo-hak/CIS_Traiding/PRODUCT_CONTRACT.md#6-</a:t>
            </a:r>
            <a:r>
              <a:t>что-возвращает-система-и-видит-клиент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file:///C:/dev/itmo-hak/CIS_Traiding/analyse.ipynb</a:t>
            </a:r>
          </a:p>
          <a:p xmlns:a="http://schemas.openxmlformats.org/drawingml/2006/main">
            <a:r>
              <a:t>- file:///C:/dev/itmo-hak/CIS_Traiding/data/processed/rub_tjs_observations.csv</a:t>
            </a:r>
          </a:p>
          <a:p xmlns:a="http://schemas.openxmlformats.org/drawingml/2006/main">
            <a:r>
              <a:t>- file:///C:/dev/itmo-hak/CIS_Traiding/data/processed/rub_tjs_labels_h5_e50bp.csv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file:///C:/dev/itmo-hak/CIS_Traiding/README.md</a:t>
            </a:r>
          </a:p>
          <a:p xmlns:a="http://schemas.openxmlformats.org/drawingml/2006/main">
            <a:r>
              <a:t>- file:///C:/dev/itmo-hak/CIS_Traiding/scripts/build_dataset.py</a:t>
            </a:r>
          </a:p>
          <a:p xmlns:a="http://schemas.openxmlformats.org/drawingml/2006/main">
            <a:r>
              <a:t>- file:///C:/dev/itmo-hak/CIS_Traiding/tests/test_build_dataset.py</a:t>
            </a:r>
          </a:p>
          <a:p xmlns:a="http://schemas.openxmlformats.org/drawingml/2006/main">
            <a:r>
              <a:t>- file:///C:/dev/itmo-hak/CIS_Traiding/analyse.ipynb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file:///C:/dev/itmo-hak/CIS_Traiding/analyse.ipynb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file:///C:/dev/itmo-hak/CIS_Traiding/analyse.ipynb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file:///C:/dev/itmo-hak/CIS_Traiding/analyse.ipynb</a:t>
            </a:r>
          </a:p>
          <a:p xmlns:a="http://schemas.openxmlformats.org/drawingml/2006/main">
            <a:r>
              <a:t>- file:///C:/dev/itmo-hak/CIS_Traiding/PRODUCT_CONTRACT.md#5-</a:t>
            </a:r>
            <a:r>
              <a:t>как-проверяем-качество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file:///C:/dev/itmo-hak/CIS_Traiding/analyse.ipynb</a:t>
            </a:r>
          </a:p>
          <a:p xmlns:a="http://schemas.openxmlformats.org/drawingml/2006/main">
            <a:r>
              <a:t>- file:///C:/dev/itmo-hak/CIS_Traiding/data/processed/rub_tjs_observations.csv</a:t>
            </a:r>
          </a:p>
          <a:p xmlns:a="http://schemas.openxmlformats.org/drawingml/2006/main">
            <a:r>
              <a:t>- file:///C:/dev/itmo-hak/CIS_Traiding/data/processed/rub_tjs_labels_h5_e50bp.csv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file:///C:/dev/itmo-hak/CIS_Traiding/PRODUCT_CONTRACT.md#8-риски-и-вопросы</a:t>
            </a:r>
          </a:p>
          <a:p xmlns:a="http://schemas.openxmlformats.org/drawingml/2006/main">
            <a:r>
              <a:t>- file:///C:/dev/itmo-hak/CIS_Traiding/analyse.ipynb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file:///C:/dev/itmo-hak/CIS_Traiding/PRODUCT_CONTRACT.md#5-</a:t>
            </a:r>
            <a:r>
              <a:t>как-проверяем-качество</a:t>
            </a:r>
          </a:p>
          <a:p xmlns:a="http://schemas.openxmlformats.org/drawingml/2006/main">
            <a:r>
              <a:t>- </a:t>
            </a:r>
            <a:r>
              <a:t>file:///C:/dev/itmo-hak/CIS_Traiding/analyse.ipynb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file:///C:/dev/itmo-hak/CIS_Traiding/PRODUCT_CONTRACT.md#7-</a:t>
            </a:r>
            <a:r>
              <a:t>задача-двум-</a:t>
            </a:r>
            <a:r>
              <a:t>ai-</a:t>
            </a:r>
            <a:r>
              <a:t>инженерам</a:t>
            </a:r>
          </a:p>
          <a:p xmlns:a="http://schemas.openxmlformats.org/drawingml/2006/main">
            <a:r>
              <a:t>- </a:t>
            </a:r>
            <a:r>
              <a:t>file:///C:/dev/itmo-hak/CIS_Traiding/analyse.ipynb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61a7215dcd48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9131f895cc4cb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f1efb4bf2446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ef609040254e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6fcd6e178940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d106cd39794be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224d3f23d942a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eb4c9e9c61438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293c8952f6432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9474c05fc84ad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55b78c59ea43cc" /></Relationships>
</file>

<file path=ppt/slideLayouts/slideLayout1.xml><?xml version="1.0" encoding="utf-8"?>
<p:sldLayout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AB30A033-AE9F-456C-A83F-E90A6EDFE30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Под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CDC44492-998F-4E3E-81B0-04F4CF3B6C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Образец подзаголовка</a:t>
            </a:r>
            <a:endParaRPr/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B32EE989-8A13-460B-B661-3CA781C507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D8D20-F33B-4B9D-90ED-E006A8C8F7DE}" type="datetimeFigureOut">
              <a:t>03.09.2026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9083A627-2D1F-4CB6-A6DA-A140D4DEC0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AC41C2D8-DD81-4D84-B926-D431E1FB44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8A7ACB-2831-462E-B1CE-E04C15DBB38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915E801-0DC1-4D5A-9EBB-6FA95093D0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8EB4BB8-1011-45CA-A3C5-A9BCE9F6734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F93BE1E7-86AD-4AB7-94F9-D6CAA5FE91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D8D20-F33B-4B9D-90ED-E006A8C8F7DE}" type="datetimeFigureOut">
              <a:t>03.09.2026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201A70B3-B433-48EA-9523-5E7D24563D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FED7308-5551-4F00-82F0-A69715303C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8A7ACB-2831-462E-B1CE-E04C15DBB38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1C850AB-6596-4812-A12C-E08E27572F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16B74D2E-0BD1-4D44-A1ED-3DBE5898F7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1B6181-B4DE-4559-8537-9448721B4A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D8D20-F33B-4B9D-90ED-E006A8C8F7DE}" type="datetimeFigureOut">
              <a:t>03.09.2026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2DD5EC39-0BE1-4D44-8010-47D126937C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1584381D-DE95-44AF-AFB1-F6096121C5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8A7ACB-2831-462E-B1CE-E04C15DBB38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116278D1-2C95-4A1F-81F9-2AFE814481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720534A-9FC0-4F9E-8373-F0FDAA2F50E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BB4702DC-CA47-46B7-822C-2D4BB3AC990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E2FA4869-9530-46FF-A5ED-A698984BF4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D8D20-F33B-4B9D-90ED-E006A8C8F7DE}" type="datetimeFigureOut">
              <a:t>03.09.2026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BEE0E67D-AF67-4F85-9C29-DA1B9BE035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675A627F-A938-453A-B6AC-0D32F8DD12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8A7ACB-2831-462E-B1CE-E04C15DBB38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03000F6-FE96-40CD-8467-812768EF1A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C3961F6B-9514-46EC-9DD4-68323FDC16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68F7E60C-0581-4651-AF2B-B10D7EA6F31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66629833-C1FD-4214-9471-115FB010A20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D32CA286-E4ED-427D-8B27-A64972E54A5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7" name="Дата 6">
            <a:extLst xmlns:a="http://schemas.openxmlformats.org/drawingml/2006/main">
              <a:ext uri="{FF2B5EF4-FFF2-40B4-BE49-F238E27FC236}">
                <a16:creationId xmlns:a16="http://schemas.microsoft.com/office/drawing/2014/main" id="{9ADBE484-0562-49B1-9389-35C341F34B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D8D20-F33B-4B9D-90ED-E006A8C8F7DE}" type="datetimeFigureOut">
              <a:t>03.09.2026</a:t>
            </a:fld>
            <a:endParaRPr/>
          </a:p>
        </p:txBody>
      </p:sp>
      <p:sp>
        <p:nvSpPr>
          <p:cNvPr id="8" name="Нижний колонтитул 7">
            <a:extLst xmlns:a="http://schemas.openxmlformats.org/drawingml/2006/main">
              <a:ext uri="{FF2B5EF4-FFF2-40B4-BE49-F238E27FC236}">
                <a16:creationId xmlns:a16="http://schemas.microsoft.com/office/drawing/2014/main" id="{774400D7-0B05-4AF0-96DC-2120922BF7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Номер слайда 8">
            <a:extLst xmlns:a="http://schemas.openxmlformats.org/drawingml/2006/main">
              <a:ext uri="{FF2B5EF4-FFF2-40B4-BE49-F238E27FC236}">
                <a16:creationId xmlns:a16="http://schemas.microsoft.com/office/drawing/2014/main" id="{FD2995AF-11FF-441E-BD55-63A13A9803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8A7ACB-2831-462E-B1CE-E04C15DBB38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15C0EE88-D79F-42D1-BCF8-835B049E93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Дата 2">
            <a:extLst xmlns:a="http://schemas.openxmlformats.org/drawingml/2006/main">
              <a:ext uri="{FF2B5EF4-FFF2-40B4-BE49-F238E27FC236}">
                <a16:creationId xmlns:a16="http://schemas.microsoft.com/office/drawing/2014/main" id="{574DE6F4-B5E5-413D-ABAF-D0D35E487D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D8D20-F33B-4B9D-90ED-E006A8C8F7DE}" type="datetimeFigureOut">
              <a:t>03.09.2026</a:t>
            </a:fld>
            <a:endParaRPr/>
          </a:p>
        </p:txBody>
      </p:sp>
      <p:sp>
        <p:nvSpPr>
          <p:cNvPr id="4" name="Нижний колонтитул 3">
            <a:extLst xmlns:a="http://schemas.openxmlformats.org/drawingml/2006/main">
              <a:ext uri="{FF2B5EF4-FFF2-40B4-BE49-F238E27FC236}">
                <a16:creationId xmlns:a16="http://schemas.microsoft.com/office/drawing/2014/main" id="{40117D1A-BB42-4FBA-8E4A-9E15E24B89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Номер слайда 4">
            <a:extLst xmlns:a="http://schemas.openxmlformats.org/drawingml/2006/main">
              <a:ext uri="{FF2B5EF4-FFF2-40B4-BE49-F238E27FC236}">
                <a16:creationId xmlns:a16="http://schemas.microsoft.com/office/drawing/2014/main" id="{C6B6470A-EC30-4A65-B55E-79CD1F4CB4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8A7ACB-2831-462E-B1CE-E04C15DBB38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Дата 1">
            <a:extLst xmlns:a="http://schemas.openxmlformats.org/drawingml/2006/main">
              <a:ext uri="{FF2B5EF4-FFF2-40B4-BE49-F238E27FC236}">
                <a16:creationId xmlns:a16="http://schemas.microsoft.com/office/drawing/2014/main" id="{D13104D8-790B-4D1B-B351-AC584ABB2D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D8D20-F33B-4B9D-90ED-E006A8C8F7DE}" type="datetimeFigureOut">
              <a:t>03.09.2026</a:t>
            </a:fld>
            <a:endParaRPr/>
          </a:p>
        </p:txBody>
      </p:sp>
      <p:sp>
        <p:nvSpPr>
          <p:cNvPr id="3" name="Нижний колонтитул 2">
            <a:extLst xmlns:a="http://schemas.openxmlformats.org/drawingml/2006/main">
              <a:ext uri="{FF2B5EF4-FFF2-40B4-BE49-F238E27FC236}">
                <a16:creationId xmlns:a16="http://schemas.microsoft.com/office/drawing/2014/main" id="{43296D38-7F67-421D-BCAB-9F5DB6303F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Номер слайда 3">
            <a:extLst xmlns:a="http://schemas.openxmlformats.org/drawingml/2006/main">
              <a:ext uri="{FF2B5EF4-FFF2-40B4-BE49-F238E27FC236}">
                <a16:creationId xmlns:a16="http://schemas.microsoft.com/office/drawing/2014/main" id="{37F24CFB-B641-4E05-8D98-390BDE91BF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8A7ACB-2831-462E-B1CE-E04C15DBB38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7B3F315-5C7E-4729-AFED-2C7E8FD902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08BD67AD-A139-4E66-83D9-211810D6E88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56BFDF0-3879-4DF9-9160-49BCC56AA14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440BE5B3-B487-45A7-83CE-05ADD89BD8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D8D20-F33B-4B9D-90ED-E006A8C8F7DE}" type="datetimeFigureOut">
              <a:t>03.09.2026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57766E2A-C03A-42F7-AC9C-10E12A5DF0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97CFBB22-A697-4BF7-B99F-6BE866A5A6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8A7ACB-2831-462E-B1CE-E04C15DBB38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AD897CB-BEB8-4C59-A10B-911612E4DD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Рисунок 2">
            <a:extLst xmlns:a="http://schemas.openxmlformats.org/drawingml/2006/main">
              <a:ext uri="{FF2B5EF4-FFF2-40B4-BE49-F238E27FC236}">
                <a16:creationId xmlns:a16="http://schemas.microsoft.com/office/drawing/2014/main" id="{37F4CB03-5761-4363-BD47-5DE705A47AA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0A91A2CE-9E4E-4B54-ACD7-6370B75793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E20B537D-2BCB-414F-AAA1-E443B9B2AB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D8D20-F33B-4B9D-90ED-E006A8C8F7DE}" type="datetimeFigureOut">
              <a:t>03.09.2026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738B6B77-C845-4A79-8B36-C6B37C1544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67C28D53-09A7-41D9-B848-2076543875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8A7ACB-2831-462E-B1CE-E04C15DBB38E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E6A73617-48C4-43E3-AB9A-B95973851B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DC874FA6-A4E4-447C-8C23-D37DB48763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4FF15D48-395C-4C8E-9D6E-C27F1A05D7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D8D20-F33B-4B9D-90ED-E006A8C8F7DE}" type="datetimeFigureOut">
              <a:t>03.09.2026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255A787C-F5FF-4341-BDE0-FC5F78BD6A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9239ED5D-A647-43F0-A3DA-34FDF97098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8A7ACB-2831-462E-B1CE-E04C15DBB38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Вертикальный 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7E1D8D-41A1-4372-B8CB-6013DD7828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F4F1EFA5-EAEF-4892-80D1-5618531F07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9539DE19-4EF6-4EA4-BFEB-4A0DC28143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D8D20-F33B-4B9D-90ED-E006A8C8F7DE}" type="datetimeFigureOut">
              <a:t>03.09.2026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1767932-2F30-4895-961D-343B542BAA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61BA0472-88C7-45DB-928D-E60604F9A9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8A7ACB-2831-462E-B1CE-E04C15DBB38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7eac5508e94df2" /><Relationship Type="http://schemas.openxmlformats.org/officeDocument/2006/relationships/slideLayout" Target="/ppt/slideLayouts/slideLayout1.xml" Id="R4326d0a219364930" /><Relationship Type="http://schemas.openxmlformats.org/officeDocument/2006/relationships/slideLayout" Target="/ppt/slideLayouts/slideLayout2.xml" Id="R624f3d2f97dd42bf" /><Relationship Type="http://schemas.openxmlformats.org/officeDocument/2006/relationships/slideLayout" Target="/ppt/slideLayouts/slideLayout3.xml" Id="R6b2aeeb3b6514b59" /><Relationship Type="http://schemas.openxmlformats.org/officeDocument/2006/relationships/slideLayout" Target="/ppt/slideLayouts/slideLayout4.xml" Id="Recc6c66e33934445" /><Relationship Type="http://schemas.openxmlformats.org/officeDocument/2006/relationships/slideLayout" Target="/ppt/slideLayouts/slideLayout5.xml" Id="Ra5be7dff5f1f47d8" /><Relationship Type="http://schemas.openxmlformats.org/officeDocument/2006/relationships/slideLayout" Target="/ppt/slideLayouts/slideLayout6.xml" Id="R695867809c774d2b" /><Relationship Type="http://schemas.openxmlformats.org/officeDocument/2006/relationships/slideLayout" Target="/ppt/slideLayouts/slideLayout7.xml" Id="R85770c247b814ae8" /><Relationship Type="http://schemas.openxmlformats.org/officeDocument/2006/relationships/slideLayout" Target="/ppt/slideLayouts/slideLayout8.xml" Id="R2ff91d7a4efb4cba" /><Relationship Type="http://schemas.openxmlformats.org/officeDocument/2006/relationships/slideLayout" Target="/ppt/slideLayouts/slideLayout9.xml" Id="Red6bab8171da4dc2" /><Relationship Type="http://schemas.openxmlformats.org/officeDocument/2006/relationships/slideLayout" Target="/ppt/slideLayouts/slideLayout10.xml" Id="R175358ffc81644a6" /><Relationship Type="http://schemas.openxmlformats.org/officeDocument/2006/relationships/slideLayout" Target="/ppt/slideLayouts/slideLayout11.xml" Id="Rd75e7ff3f2884c1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DBAFCE-562A-42A6-B498-EC4CEEC88E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A18B0C46-140B-4BC1-A1FB-2D7F289DEB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25ADC715-92A6-47F7-85AB-AD051AFC907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F4D8D20-F33B-4B9D-90ED-E006A8C8F7DE}" type="datetimeFigureOut">
              <a:t>03.09.2026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FDB249B-41B7-49F9-AFB8-0068D50B177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315F9F35-8F30-4E94-A928-2F8AC55421B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18A7ACB-2831-462E-B1CE-E04C15DBB38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26d0a219364930"/>
    <p:sldLayoutId xmlns:r="http://schemas.openxmlformats.org/officeDocument/2006/relationships" id="2147483650" r:id="R624f3d2f97dd42bf"/>
    <p:sldLayoutId xmlns:r="http://schemas.openxmlformats.org/officeDocument/2006/relationships" id="2147483651" r:id="R6b2aeeb3b6514b59"/>
    <p:sldLayoutId xmlns:r="http://schemas.openxmlformats.org/officeDocument/2006/relationships" id="2147483652" r:id="Recc6c66e33934445"/>
    <p:sldLayoutId xmlns:r="http://schemas.openxmlformats.org/officeDocument/2006/relationships" id="2147483653" r:id="Ra5be7dff5f1f47d8"/>
    <p:sldLayoutId xmlns:r="http://schemas.openxmlformats.org/officeDocument/2006/relationships" id="2147483654" r:id="R695867809c774d2b"/>
    <p:sldLayoutId xmlns:r="http://schemas.openxmlformats.org/officeDocument/2006/relationships" id="2147483655" r:id="R85770c247b814ae8"/>
    <p:sldLayoutId xmlns:r="http://schemas.openxmlformats.org/officeDocument/2006/relationships" id="2147483656" r:id="R2ff91d7a4efb4cba"/>
    <p:sldLayoutId xmlns:r="http://schemas.openxmlformats.org/officeDocument/2006/relationships" id="2147483657" r:id="Red6bab8171da4dc2"/>
    <p:sldLayoutId xmlns:r="http://schemas.openxmlformats.org/officeDocument/2006/relationships" id="2147483658" r:id="R175358ffc81644a6"/>
    <p:sldLayoutId xmlns:r="http://schemas.openxmlformats.org/officeDocument/2006/relationships" id="2147483659" r:id="Rd75e7ff3f2884c1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d8c09abebb408e" /><Relationship Type="http://schemas.openxmlformats.org/officeDocument/2006/relationships/notesSlide" Target="/ppt/notesSlides/notesSlide1.xml" Id="R8ea6b3fc19b540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44092222f84bff" /><Relationship Type="http://schemas.openxmlformats.org/officeDocument/2006/relationships/notesSlide" Target="/ppt/notesSlides/notesSlide2.xml" Id="R63390309d5a641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05d7ca913b406b" /><Relationship Type="http://schemas.openxmlformats.org/officeDocument/2006/relationships/notesSlide" Target="/ppt/notesSlides/notesSlide3.xml" Id="R2e4b3651b20a44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3c6182a1894113" /><Relationship Type="http://schemas.openxmlformats.org/officeDocument/2006/relationships/notesSlide" Target="/ppt/notesSlides/notesSlide4.xml" Id="R178d0c9a68b84e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b8e2968f414553" /><Relationship Type="http://schemas.openxmlformats.org/officeDocument/2006/relationships/notesSlide" Target="/ppt/notesSlides/notesSlide5.xml" Id="R5de44aadf48a48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e95d0b109943f4" /><Relationship Type="http://schemas.openxmlformats.org/officeDocument/2006/relationships/notesSlide" Target="/ppt/notesSlides/notesSlide6.xml" Id="R1653dcb7586c4d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9d0e643f875421b" /><Relationship Type="http://schemas.openxmlformats.org/officeDocument/2006/relationships/notesSlide" Target="/ppt/notesSlides/notesSlide7.xml" Id="R2d716f1eddc64a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78ab6e80b64e35" /><Relationship Type="http://schemas.openxmlformats.org/officeDocument/2006/relationships/notesSlide" Target="/ppt/notesSlides/notesSlide8.xml" Id="Rab4b665edacd44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68c95dc0124c6f" /><Relationship Type="http://schemas.openxmlformats.org/officeDocument/2006/relationships/notesSlide" Target="/ppt/notesSlides/notesSlide9.xml" Id="R405aa936256b4f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59220f59244e92" /><Relationship Type="http://schemas.openxmlformats.org/officeDocument/2006/relationships/notesSlide" Target="/ppt/notesSlides/notesSlide10.xml" Id="Rbbb708ce57c24b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f022a10a1e48bb" /><Relationship Type="http://schemas.openxmlformats.org/officeDocument/2006/relationships/image" Target="/ppt/media/image.png" Id="R7940b0f5369d4c9d" /><Relationship Type="http://schemas.openxmlformats.org/officeDocument/2006/relationships/notesSlide" Target="/ppt/notesSlides/notesSlide11.xml" Id="R9d1ef1c8534b45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56c91be59c74307" /><Relationship Type="http://schemas.openxmlformats.org/officeDocument/2006/relationships/notesSlide" Target="/ppt/notesSlides/notesSlide12.xml" Id="R670632bc7bfd48a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2ab65f7bb0455e" /><Relationship Type="http://schemas.openxmlformats.org/officeDocument/2006/relationships/notesSlide" Target="/ppt/notesSlides/notesSlide13.xml" Id="R374de8ce34974e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69f9a4e75f48c9" /><Relationship Type="http://schemas.openxmlformats.org/officeDocument/2006/relationships/notesSlide" Target="/ppt/notesSlides/notesSlide14.xml" Id="R9627b6846af848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884015A3-CE61-4014-8D3A-5EA71408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7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C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F3DA3FE9-CC10-4585-BB10-13C80512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" y="0"/>
            <a:ext cx="88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0076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8696408-FCF3-41A8-8F4C-C41AA24B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0399"/>
            <a:ext cx="444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CIS TRADING</a:t>
            </a:r>
            <a:endParaRPr sz="13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A1F57CC-4BF4-4E07-B19F-9E8BCF98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199"/>
            <a:ext cx="9144000" cy="184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Когда выгодно
перевести деньги</a:t>
            </a:r>
            <a:endParaRPr sz="50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4F7AD43-66BB-4C94-872D-8B687335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873499"/>
            <a:ext cx="711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300">
                <a:solidFill>
                  <a:srgbClr val="60636E"/>
                </a:solidFill>
                <a:latin typeface="Arial"/>
                <a:ea typeface="Arial"/>
                <a:cs typeface="Arial"/>
              </a:rPr>
              <a:t>Промежуточный статус проекта</a:t>
            </a:r>
            <a:endParaRPr sz="23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D2DA059C-4082-4D58-99D2-4D2C30AB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4787900"/>
            <a:ext cx="35814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4731224-B64A-43DE-BB5B-E6E6A5FC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003799"/>
            <a:ext cx="558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60636E"/>
                </a:solidFill>
                <a:latin typeface="Arial"/>
                <a:ea typeface="Arial"/>
                <a:cs typeface="Arial"/>
              </a:rPr>
              <a:t>RUB → TJS  ·  03.09.2026</a:t>
            </a:r>
            <a:endParaRPr sz="14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Овал 8">
            <a:extLst xmlns:a="http://schemas.openxmlformats.org/drawingml/2006/main">
              <a:ext uri="{FF2B5EF4-FFF2-40B4-BE49-F238E27FC236}">
                <a16:creationId xmlns:a16="http://schemas.microsoft.com/office/drawing/2014/main" id="{C1750B8E-A367-424C-B4D1-7C8A1160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0" y="1117600"/>
            <a:ext cx="939800" cy="939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C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Овал 9">
            <a:extLst xmlns:a="http://schemas.openxmlformats.org/drawingml/2006/main">
              <a:ext uri="{FF2B5EF4-FFF2-40B4-BE49-F238E27FC236}">
                <a16:creationId xmlns:a16="http://schemas.microsoft.com/office/drawing/2014/main" id="{AEC739A0-3414-4E74-A8EA-1C5C8C33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00" y="1574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0076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4467B8B-5029-452E-B08A-FA6DF388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1346199"/>
            <a:ext cx="889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ITMO</a:t>
            </a:r>
            <a:endParaRPr sz="15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12354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AEB61EF-1487-43AA-89AA-E3C1CFF9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ПРОБЛЕМА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AC19AF-C859-4B68-BDE7-0155CB93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Курс есть. Ответа «когда?» — нет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D3E0AFC-2B5C-4678-8BD6-A1A324FE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FD7F09E-5F8B-4684-AE44-060A422C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CIS TRADING  /  </a:t>
            </a:r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ПРОМЕЖУТОЧНЫЙ СТАТУС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80D8426-5E22-4374-BC06-4DA56917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0636E"/>
                </a:solidFill>
                <a:latin typeface="Arial"/>
                <a:ea typeface="Arial"/>
                <a:cs typeface="Arial"/>
              </a:rPr>
              <a:t>02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8A95EF4-F94D-449B-9406-0A718B1B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803399"/>
            <a:ext cx="787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«Перевести сегодня — или подождать?»</a:t>
            </a:r>
            <a:endParaRPr sz="34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171874F-B630-4FE8-8E5A-F970EC4A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984499"/>
            <a:ext cx="711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900">
                <a:solidFill>
                  <a:srgbClr val="60636E"/>
                </a:solidFill>
                <a:latin typeface="Arial"/>
                <a:ea typeface="Arial"/>
                <a:cs typeface="Arial"/>
              </a:rPr>
              <a:t>Регулярный перевод семье можно отложить на несколько дней. Но ежедневное наблюдение за рынком — лишняя нагрузка для клиента.</a:t>
            </a:r>
            <a:endParaRPr sz="19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Скругленный 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A8F45187-C5DD-4E5A-A1E8-BE2AAA78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5300"/>
            <a:ext cx="3111500" cy="279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5F8"/>
          </a:solidFill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750ADFA-C370-48C8-8B2A-30C6472A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2070099"/>
            <a:ext cx="241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EE0076"/>
                </a:solidFill>
                <a:latin typeface="Arial"/>
                <a:ea typeface="Arial"/>
                <a:cs typeface="Arial"/>
              </a:rPr>
              <a:t>Цена ошибки</a:t>
            </a:r>
            <a:endParaRPr sz="16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D4FC4D6-6390-4DC5-A2BB-4D993A27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2578099"/>
            <a:ext cx="2349500" cy="172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Уверенный, но неверный совет разрушает доверие сильнее, чем пропущенный хороший день.</a:t>
            </a:r>
            <a:endParaRPr sz="17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DBBC0A7-42E8-40BF-ADC2-914E8A4D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851399"/>
            <a:ext cx="679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3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Поэтому </a:t>
            </a:r>
            <a:r>
              <a:rPr sz="23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precision </a:t>
            </a:r>
            <a:r>
              <a:rPr sz="23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важнее </a:t>
            </a:r>
            <a:r>
              <a:rPr sz="23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recall.</a:t>
            </a:r>
            <a:endParaRPr sz="23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2814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54DB5A6-AAAD-4125-950E-B633E4B4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ПОСТАНОВКА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63C466-957F-4B3D-8A67-344BE417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Ищем редкие выгодные дни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9F30494-1B11-447B-BA53-CBCFCA31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26A835A-2128-4A73-A937-3730A9D2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CIS TRADING  /  </a:t>
            </a:r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ПРОМЕЖУТОЧНЫЙ СТАТУС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8421958-4C0F-4623-9964-00A83BE7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0636E"/>
                </a:solidFill>
                <a:latin typeface="Arial"/>
                <a:ea typeface="Arial"/>
                <a:cs typeface="Arial"/>
              </a:rPr>
              <a:t>03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6F48ED5-CBAB-4F80-9EF2-D3A59886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727199"/>
            <a:ext cx="6350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60636E"/>
                </a:solidFill>
                <a:latin typeface="Arial"/>
                <a:ea typeface="Arial"/>
                <a:cs typeface="Arial"/>
              </a:rPr>
              <a:t>Система отвечает на один вопрос:</a:t>
            </a:r>
            <a:endParaRPr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74378A1-0484-4CAF-9870-03971F48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222499"/>
            <a:ext cx="9842500" cy="1041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Есть ли сегодня достаточно сильный повод предложить перевод?</a:t>
            </a:r>
            <a:endParaRPr sz="34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B28FB598-C3E6-4E47-8598-28D26185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38354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F992F40-F852-4BC6-B4A6-7C397428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203699"/>
            <a:ext cx="31115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СЕЙЧАС</a:t>
            </a:r>
            <a:endParaRPr sz="34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BA2D0F0-B915-4F36-9E89-97FA0E1D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902199"/>
            <a:ext cx="31115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оценка только по прошлому и настоящему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5A25CB3-EB7E-4FB2-9EA1-DEF4A6AD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203699"/>
            <a:ext cx="31115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EE0076"/>
                </a:solidFill>
                <a:latin typeface="Arial"/>
                <a:ea typeface="Arial"/>
                <a:cs typeface="Arial"/>
              </a:rPr>
              <a:t>5 ДНЕЙ</a:t>
            </a:r>
            <a:endParaRPr sz="34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BD0690E-969C-434D-A31F-AC2D8F47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902199"/>
            <a:ext cx="31115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горизонт, на котором проверяем решение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E37C444-0226-4456-9FA4-D95A2C32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4203699"/>
            <a:ext cx="31750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РЕДКО</a:t>
            </a:r>
            <a:endParaRPr sz="34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21A932D-1C0D-4229-9CEF-06C8FD12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4902199"/>
            <a:ext cx="31750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слабый сигнал не отправляем ради частоты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55606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0F4B69D-AA07-4093-AC9D-E6C924CA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ПРОДУКТОВЫЙ КОНТРАКТ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0E7D49-187F-420B-83EB-D61E5461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Правдивость важнее частоты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C6D3941-A5C1-486F-8060-148C040D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34393D7-7333-4A4B-9066-EA7F35C8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CIS TRADING  /  </a:t>
            </a:r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ПРОМЕЖУТОЧНЫЙ СТАТУС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D95F982-6BE9-4BD5-8C6A-5E6247AE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0636E"/>
                </a:solidFill>
                <a:latin typeface="Arial"/>
                <a:ea typeface="Arial"/>
                <a:cs typeface="Arial"/>
              </a:rPr>
              <a:t>04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8835A51-9D03-4D46-862D-725EA3AB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095499"/>
            <a:ext cx="184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8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5</a:t>
            </a:r>
            <a:endParaRPr sz="38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3FC8650-12FB-478B-8B17-3B033351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3047999"/>
            <a:ext cx="1841500" cy="1168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календарных дней ожидания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E54548C4-1141-4ED6-BF79-363A44E1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00" y="2095500"/>
            <a:ext cx="0" cy="2413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44E59DC-B0E8-4D90-9229-4D9A9E6E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499"/>
            <a:ext cx="184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800" b="1">
                <a:solidFill>
                  <a:srgbClr val="EE0076"/>
                </a:solidFill>
                <a:latin typeface="Arial"/>
                <a:ea typeface="Arial"/>
                <a:cs typeface="Arial"/>
              </a:rPr>
              <a:t>0,5%</a:t>
            </a:r>
            <a:endParaRPr sz="38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BB60643-2E39-4A4F-8025-B5F85B72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7999"/>
            <a:ext cx="1841500" cy="1168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допустимое улучшение после сигнала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ая соединительная линия 11">
            <a:extLst xmlns:a="http://schemas.openxmlformats.org/drawingml/2006/main">
              <a:ext uri="{FF2B5EF4-FFF2-40B4-BE49-F238E27FC236}">
                <a16:creationId xmlns:a16="http://schemas.microsoft.com/office/drawing/2014/main" id="{989C97E3-6673-41E3-84C4-EB6FCC81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0" cy="2413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232E595-7919-45A6-8791-F9DC7DFF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2095499"/>
            <a:ext cx="184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8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90%</a:t>
            </a:r>
            <a:endParaRPr sz="38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0700748-66C2-48AB-BE1A-66F76F72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3047999"/>
            <a:ext cx="1841500" cy="1168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минимальная доля правдивых пушей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Прямая соединительная линия 14">
            <a:extLst xmlns:a="http://schemas.openxmlformats.org/drawingml/2006/main">
              <a:ext uri="{FF2B5EF4-FFF2-40B4-BE49-F238E27FC236}">
                <a16:creationId xmlns:a16="http://schemas.microsoft.com/office/drawing/2014/main" id="{48B28FB0-AF08-42D6-8140-DF4DADA7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1500" y="2095500"/>
            <a:ext cx="0" cy="2413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9BA0CE3-24B0-4B53-8609-1388881D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5500" y="2095499"/>
            <a:ext cx="184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800" b="1">
                <a:solidFill>
                  <a:srgbClr val="EE0076"/>
                </a:solidFill>
                <a:latin typeface="Arial"/>
                <a:ea typeface="Arial"/>
                <a:cs typeface="Arial"/>
              </a:rPr>
              <a:t>1–2</a:t>
            </a:r>
            <a:endParaRPr sz="38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57D3DC9-B426-493E-B172-F02FEA3A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5500" y="3047999"/>
            <a:ext cx="1841500" cy="1168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пуша в неделю — диапазон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Прямая соединительная линия 17">
            <a:extLst xmlns:a="http://schemas.openxmlformats.org/drawingml/2006/main">
              <a:ext uri="{FF2B5EF4-FFF2-40B4-BE49-F238E27FC236}">
                <a16:creationId xmlns:a16="http://schemas.microsoft.com/office/drawing/2014/main" id="{39E7D669-07AE-424F-9929-CB6DA804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0" y="2095500"/>
            <a:ext cx="0" cy="2413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E9FC4D0-5465-4DCC-9137-AC1CF669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499"/>
            <a:ext cx="184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8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4</a:t>
            </a:r>
            <a:endParaRPr sz="38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C56E20B-9BC2-46F8-B85E-A4077ABF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7999"/>
            <a:ext cx="1841500" cy="1168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дня </a:t>
            </a:r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cooldown </a:t>
            </a:r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после отправки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ADF919A-F6E6-4DF8-A201-E0A91557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5143499"/>
            <a:ext cx="10795000" cy="393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Ложный пуш хуже пропущенного дня → threshold выбираем по precision.</a:t>
            </a:r>
            <a:endParaRPr sz="22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61917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EF515F7-2408-483D-B58B-FEE8D11D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РЕШЕНИЕ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75B030-3116-47ED-8C28-986CD55F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Модель оценивает. Правила отправляют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48473BB-1643-4A1B-BB0E-22AC7BDA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6F6B2C9-008F-4116-85D4-80C399E1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CIS TRADING  /  </a:t>
            </a:r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ПРОМЕЖУТОЧНЫЙ СТАТУС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59CDC2B-40B3-4DA5-ACA0-25E1554A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0636E"/>
                </a:solidFill>
                <a:latin typeface="Arial"/>
                <a:ea typeface="Arial"/>
                <a:cs typeface="Arial"/>
              </a:rPr>
              <a:t>05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9C05670E-6642-4234-B641-EF62943A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900" y="3009900"/>
            <a:ext cx="190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1949E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D0C9A203-35E5-4E51-B110-FE46940E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09900"/>
            <a:ext cx="190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1949E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AE3BE309-F767-4CFB-86FF-E1C7F279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3009900"/>
            <a:ext cx="190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1949E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Прямая соединительная линия 9">
            <a:extLst xmlns:a="http://schemas.openxmlformats.org/drawingml/2006/main">
              <a:ext uri="{FF2B5EF4-FFF2-40B4-BE49-F238E27FC236}">
                <a16:creationId xmlns:a16="http://schemas.microsoft.com/office/drawing/2014/main" id="{27806979-51B0-4388-9E7F-1C15AD2A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3009900"/>
            <a:ext cx="190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1949E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Прямая соединительная линия 10">
            <a:extLst xmlns:a="http://schemas.openxmlformats.org/drawingml/2006/main">
              <a:ext uri="{FF2B5EF4-FFF2-40B4-BE49-F238E27FC236}">
                <a16:creationId xmlns:a16="http://schemas.microsoft.com/office/drawing/2014/main" id="{66265F88-531C-40D9-A47C-91185DC4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9900"/>
            <a:ext cx="190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1949E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Скругленный 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0CAD71F1-5295-4F9C-8690-117D2574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349500"/>
            <a:ext cx="1422400" cy="1320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5F8"/>
          </a:solidFill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3C0D672-2CB5-4635-AE8D-16C2B791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2603499"/>
            <a:ext cx="116840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История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курсов</a:t>
            </a:r>
            <a:endParaRPr sz="16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Скругленный 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02C7042D-B3AF-40BB-95A9-0FB328E0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800" y="2349500"/>
            <a:ext cx="1422400" cy="1320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5F8"/>
          </a:solidFill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414640F-7214-48EF-9658-C2376E05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03499"/>
            <a:ext cx="116840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Признаки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из прошлого</a:t>
            </a:r>
            <a:endParaRPr sz="16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Скругленный 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C06AA3CE-3E36-44FE-B4E1-20A44145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49500"/>
            <a:ext cx="1422400" cy="1320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5F8"/>
          </a:solidFill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3B1C81F-8D52-4E96-957D-C63B28C3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603499"/>
            <a:ext cx="116840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Оценка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модели</a:t>
            </a:r>
            <a:endParaRPr sz="16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C45DCF49-BBA3-4FD3-9ADB-927F86D7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400" y="2349500"/>
            <a:ext cx="1422400" cy="1320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5F8"/>
          </a:solidFill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66D5A45-5A52-4CC5-8060-47110A57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400" y="2603499"/>
            <a:ext cx="116840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Порог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качества</a:t>
            </a:r>
            <a:endParaRPr sz="16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Скругленный 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F6E460D0-243E-4EB6-B0B7-95D6B831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9700" y="2349500"/>
            <a:ext cx="1422400" cy="1320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5F8"/>
          </a:solidFill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6E755A4-B6EB-4386-8A1C-E98099FD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3499"/>
            <a:ext cx="116840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Частота +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cooldown</a:t>
            </a:r>
            <a:endParaRPr sz="16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Скругленный 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20C03746-E983-45C4-B7A3-2EC5EB6C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9500"/>
            <a:ext cx="1422400" cy="1320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A0A0E"/>
          </a:solidFill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F5BB42A-984B-44C1-B72E-C2522EF3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2603499"/>
            <a:ext cx="116840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Понятный</a:t>
            </a:r>
          </a:p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пуш</a:t>
            </a:r>
            <a:endParaRPr sz="16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7167776-8318-4C2E-A669-9F623614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343399"/>
            <a:ext cx="10795000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EE0076"/>
                </a:solidFill>
                <a:latin typeface="Arial"/>
                <a:ea typeface="Arial"/>
                <a:cs typeface="Arial"/>
              </a:rPr>
              <a:t>Генеративный AI не принимает решение об отправке.</a:t>
            </a:r>
            <a:endParaRPr sz="22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5BF8B48-B4AE-4193-967E-3A48DF83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940299"/>
            <a:ext cx="1003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60636E"/>
                </a:solidFill>
                <a:latin typeface="Arial"/>
                <a:ea typeface="Arial"/>
                <a:cs typeface="Arial"/>
              </a:rPr>
              <a:t>Текст берётся из проверенного шаблона и объясняет только факты о прошлом и настоящем.</a:t>
            </a:r>
            <a:endParaRPr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99083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7C75485-645D-400A-B43E-0B41179A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ДАННЫЕ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3F648A-D650-4212-B2AA-CA174EE6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10 лет данных → 2 462 полные метки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17BC63A-99D2-4695-A098-D2AC6F67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BEBDA3A-9F03-4441-B9B5-7DDABE64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CIS TRADING  /  </a:t>
            </a:r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ПРОМЕЖУТОЧНЫЙ СТАТУС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58C9BA-1AD4-42EB-AFA5-21A8430F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0636E"/>
                </a:solidFill>
                <a:latin typeface="Arial"/>
                <a:ea typeface="Arial"/>
                <a:cs typeface="Arial"/>
              </a:rPr>
              <a:t>06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373CEB-BF6A-4A27-82CA-D2F7F417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841499"/>
            <a:ext cx="22225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2 468</a:t>
            </a:r>
            <a:endParaRPr sz="34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C6AF3D7-9800-4876-BABA-A9D831EF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539999"/>
            <a:ext cx="22225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наблюдений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42A348D-5A80-4F61-935C-8E5245E3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3251199"/>
            <a:ext cx="22225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EE0076"/>
                </a:solidFill>
                <a:latin typeface="Arial"/>
                <a:ea typeface="Arial"/>
                <a:cs typeface="Arial"/>
              </a:rPr>
              <a:t>2 462</a:t>
            </a:r>
            <a:endParaRPr sz="34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1567028-7706-49F0-BEF4-A96727EE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3949699"/>
            <a:ext cx="22225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полные метки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89761E0-253E-4059-B276-A4EE424D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660899"/>
            <a:ext cx="25400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29,5%</a:t>
            </a:r>
            <a:endParaRPr sz="34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C5DCB89-DC3F-4AC1-9547-3EBD06F6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5359399"/>
            <a:ext cx="254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дней </a:t>
            </a:r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target_good_now = 1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E4E8B06-E4EB-409A-BB7D-7D7A1088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1714499"/>
            <a:ext cx="609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60636E"/>
                </a:solidFill>
                <a:latin typeface="Arial"/>
                <a:ea typeface="Arial"/>
                <a:cs typeface="Arial"/>
              </a:rPr>
              <a:t>02.09.2016 — 02.09.2026</a:t>
            </a:r>
            <a:endParaRPr sz="16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Прямая соединительная линия 13">
            <a:extLst xmlns:a="http://schemas.openxmlformats.org/drawingml/2006/main">
              <a:ext uri="{FF2B5EF4-FFF2-40B4-BE49-F238E27FC236}">
                <a16:creationId xmlns:a16="http://schemas.microsoft.com/office/drawing/2014/main" id="{FEB176C0-9D11-4EED-8C6C-3E627D45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5080000"/>
            <a:ext cx="74295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Прямая соединительная линия 14">
            <a:extLst xmlns:a="http://schemas.openxmlformats.org/drawingml/2006/main">
              <a:ext uri="{FF2B5EF4-FFF2-40B4-BE49-F238E27FC236}">
                <a16:creationId xmlns:a16="http://schemas.microsoft.com/office/drawing/2014/main" id="{F9986CDE-6FF9-472B-95AF-ADA25682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2349500"/>
            <a:ext cx="0" cy="27305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8F3B4FFB-70AE-4B8B-8EEC-54797DEC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3043867"/>
            <a:ext cx="104641" cy="229598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E5E997CD-F3F1-4176-852A-81C14840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168641" y="3221462"/>
            <a:ext cx="104641" cy="52003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Прямая соединительная линия 17">
            <a:extLst xmlns:a="http://schemas.openxmlformats.org/drawingml/2006/main">
              <a:ext uri="{FF2B5EF4-FFF2-40B4-BE49-F238E27FC236}">
                <a16:creationId xmlns:a16="http://schemas.microsoft.com/office/drawing/2014/main" id="{EA004DD9-F7F5-4C21-971D-771BB7D2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282" y="3221462"/>
            <a:ext cx="104641" cy="345718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Прямая соединительная линия 18">
            <a:extLst xmlns:a="http://schemas.openxmlformats.org/drawingml/2006/main">
              <a:ext uri="{FF2B5EF4-FFF2-40B4-BE49-F238E27FC236}">
                <a16:creationId xmlns:a16="http://schemas.microsoft.com/office/drawing/2014/main" id="{85F1580F-2343-40C5-A833-CAC094CC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923" y="3567180"/>
            <a:ext cx="104640" cy="421641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Прямая соединительная линия 19">
            <a:extLst xmlns:a="http://schemas.openxmlformats.org/drawingml/2006/main">
              <a:ext uri="{FF2B5EF4-FFF2-40B4-BE49-F238E27FC236}">
                <a16:creationId xmlns:a16="http://schemas.microsoft.com/office/drawing/2014/main" id="{3205CDC3-AF73-47A2-A670-8B21D135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563" y="3988821"/>
            <a:ext cx="104641" cy="261679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Прямая соединительная линия 20">
            <a:extLst xmlns:a="http://schemas.openxmlformats.org/drawingml/2006/main">
              <a:ext uri="{FF2B5EF4-FFF2-40B4-BE49-F238E27FC236}">
                <a16:creationId xmlns:a16="http://schemas.microsoft.com/office/drawing/2014/main" id="{091088E2-9582-4389-8AA7-558603E3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87204" y="3944688"/>
            <a:ext cx="104641" cy="30581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Прямая соединительная линия 21">
            <a:extLst xmlns:a="http://schemas.openxmlformats.org/drawingml/2006/main">
              <a:ext uri="{FF2B5EF4-FFF2-40B4-BE49-F238E27FC236}">
                <a16:creationId xmlns:a16="http://schemas.microsoft.com/office/drawing/2014/main" id="{6B719FB1-0E05-43A8-AA01-33223A09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845" y="3944688"/>
            <a:ext cx="104641" cy="15919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Прямая соединительная линия 22">
            <a:extLst xmlns:a="http://schemas.openxmlformats.org/drawingml/2006/main">
              <a:ext uri="{FF2B5EF4-FFF2-40B4-BE49-F238E27FC236}">
                <a16:creationId xmlns:a16="http://schemas.microsoft.com/office/drawing/2014/main" id="{5878B296-062C-491D-AA9E-7028A73A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486" y="4103880"/>
            <a:ext cx="104641" cy="7957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Прямая соединительная линия 23">
            <a:extLst xmlns:a="http://schemas.openxmlformats.org/drawingml/2006/main">
              <a:ext uri="{FF2B5EF4-FFF2-40B4-BE49-F238E27FC236}">
                <a16:creationId xmlns:a16="http://schemas.microsoft.com/office/drawing/2014/main" id="{C50B1C3C-B266-4AE3-9D26-EFC6A9F6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01127" y="4075320"/>
            <a:ext cx="104641" cy="10813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Прямая соединительная линия 24">
            <a:extLst xmlns:a="http://schemas.openxmlformats.org/drawingml/2006/main">
              <a:ext uri="{FF2B5EF4-FFF2-40B4-BE49-F238E27FC236}">
                <a16:creationId xmlns:a16="http://schemas.microsoft.com/office/drawing/2014/main" id="{5FBC70E9-ED8E-4D7A-B844-5312B147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768" y="4075320"/>
            <a:ext cx="104641" cy="19634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Прямая соединительная линия 25">
            <a:extLst xmlns:a="http://schemas.openxmlformats.org/drawingml/2006/main">
              <a:ext uri="{FF2B5EF4-FFF2-40B4-BE49-F238E27FC236}">
                <a16:creationId xmlns:a16="http://schemas.microsoft.com/office/drawing/2014/main" id="{368739FD-83FD-400E-A797-DE5A44C5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10409" y="4206430"/>
            <a:ext cx="104640" cy="6523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Прямая соединительная линия 26">
            <a:extLst xmlns:a="http://schemas.openxmlformats.org/drawingml/2006/main">
              <a:ext uri="{FF2B5EF4-FFF2-40B4-BE49-F238E27FC236}">
                <a16:creationId xmlns:a16="http://schemas.microsoft.com/office/drawing/2014/main" id="{42C34D04-1070-4E01-98D0-D7E07353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15049" y="3939507"/>
            <a:ext cx="104641" cy="266923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Прямая соединительная линия 27">
            <a:extLst xmlns:a="http://schemas.openxmlformats.org/drawingml/2006/main">
              <a:ext uri="{FF2B5EF4-FFF2-40B4-BE49-F238E27FC236}">
                <a16:creationId xmlns:a16="http://schemas.microsoft.com/office/drawing/2014/main" id="{5E3629F4-25A9-4DD2-BE10-3BA1341C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690" y="3939507"/>
            <a:ext cx="104641" cy="36836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9" name="Прямая соединительная линия 28">
            <a:extLst xmlns:a="http://schemas.openxmlformats.org/drawingml/2006/main">
              <a:ext uri="{FF2B5EF4-FFF2-40B4-BE49-F238E27FC236}">
                <a16:creationId xmlns:a16="http://schemas.microsoft.com/office/drawing/2014/main" id="{3CB0BA84-7548-460D-8E60-0E05052F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24331" y="3774390"/>
            <a:ext cx="104641" cy="201953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Прямая соединительная линия 29">
            <a:extLst xmlns:a="http://schemas.openxmlformats.org/drawingml/2006/main">
              <a:ext uri="{FF2B5EF4-FFF2-40B4-BE49-F238E27FC236}">
                <a16:creationId xmlns:a16="http://schemas.microsoft.com/office/drawing/2014/main" id="{4D1237CE-6424-49DC-8FD2-80A60C9B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972" y="3774390"/>
            <a:ext cx="104641" cy="111099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Прямая соединительная линия 30">
            <a:extLst xmlns:a="http://schemas.openxmlformats.org/drawingml/2006/main">
              <a:ext uri="{FF2B5EF4-FFF2-40B4-BE49-F238E27FC236}">
                <a16:creationId xmlns:a16="http://schemas.microsoft.com/office/drawing/2014/main" id="{10574623-FAAB-4C2F-9050-F8C5AE54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33613" y="3840886"/>
            <a:ext cx="104641" cy="44603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Прямая соединительная линия 31">
            <a:extLst xmlns:a="http://schemas.openxmlformats.org/drawingml/2006/main">
              <a:ext uri="{FF2B5EF4-FFF2-40B4-BE49-F238E27FC236}">
                <a16:creationId xmlns:a16="http://schemas.microsoft.com/office/drawing/2014/main" id="{D3CEB0C5-5614-42C4-8184-618E2EAD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254" y="3840886"/>
            <a:ext cx="104641" cy="2821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Прямая соединительная линия 32">
            <a:extLst xmlns:a="http://schemas.openxmlformats.org/drawingml/2006/main">
              <a:ext uri="{FF2B5EF4-FFF2-40B4-BE49-F238E27FC236}">
                <a16:creationId xmlns:a16="http://schemas.microsoft.com/office/drawing/2014/main" id="{22C7507A-8C66-4003-9F3C-91C91AE0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895" y="3869096"/>
            <a:ext cx="104640" cy="163324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Прямая соединительная линия 33">
            <a:extLst xmlns:a="http://schemas.openxmlformats.org/drawingml/2006/main">
              <a:ext uri="{FF2B5EF4-FFF2-40B4-BE49-F238E27FC236}">
                <a16:creationId xmlns:a16="http://schemas.microsoft.com/office/drawing/2014/main" id="{A5DE840F-7212-4A86-B238-D0E82DB4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47535" y="3976292"/>
            <a:ext cx="104641" cy="56128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Прямая соединительная линия 34">
            <a:extLst xmlns:a="http://schemas.openxmlformats.org/drawingml/2006/main">
              <a:ext uri="{FF2B5EF4-FFF2-40B4-BE49-F238E27FC236}">
                <a16:creationId xmlns:a16="http://schemas.microsoft.com/office/drawing/2014/main" id="{79DD5FC5-A096-4E29-AC0F-3F56A035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176" y="3976292"/>
            <a:ext cx="104641" cy="6230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Прямая соединительная линия 35">
            <a:extLst xmlns:a="http://schemas.openxmlformats.org/drawingml/2006/main">
              <a:ext uri="{FF2B5EF4-FFF2-40B4-BE49-F238E27FC236}">
                <a16:creationId xmlns:a16="http://schemas.microsoft.com/office/drawing/2014/main" id="{6D8DAF94-FA8A-420C-B091-AB20ECAF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156817" y="4023280"/>
            <a:ext cx="104641" cy="15319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Прямая соединительная линия 36">
            <a:extLst xmlns:a="http://schemas.openxmlformats.org/drawingml/2006/main">
              <a:ext uri="{FF2B5EF4-FFF2-40B4-BE49-F238E27FC236}">
                <a16:creationId xmlns:a16="http://schemas.microsoft.com/office/drawing/2014/main" id="{C5C38A29-9326-43D6-A19E-86B450E3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458" y="4023280"/>
            <a:ext cx="104641" cy="88368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Прямая соединительная линия 37">
            <a:extLst xmlns:a="http://schemas.openxmlformats.org/drawingml/2006/main">
              <a:ext uri="{FF2B5EF4-FFF2-40B4-BE49-F238E27FC236}">
                <a16:creationId xmlns:a16="http://schemas.microsoft.com/office/drawing/2014/main" id="{651FEE3E-5028-4E0B-8FC3-984C8A48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366099" y="4099443"/>
            <a:ext cx="104641" cy="12205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9" name="Прямая соединительная линия 38">
            <a:extLst xmlns:a="http://schemas.openxmlformats.org/drawingml/2006/main">
              <a:ext uri="{FF2B5EF4-FFF2-40B4-BE49-F238E27FC236}">
                <a16:creationId xmlns:a16="http://schemas.microsoft.com/office/drawing/2014/main" id="{CF8983F2-4B1A-49D2-A335-15F17CF5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740" y="4099443"/>
            <a:ext cx="104640" cy="10661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Прямая соединительная линия 39">
            <a:extLst xmlns:a="http://schemas.openxmlformats.org/drawingml/2006/main">
              <a:ext uri="{FF2B5EF4-FFF2-40B4-BE49-F238E27FC236}">
                <a16:creationId xmlns:a16="http://schemas.microsoft.com/office/drawing/2014/main" id="{BFC86C13-41B5-419E-98DE-8B507171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575380" y="3094243"/>
            <a:ext cx="104641" cy="111181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Прямая соединительная линия 40">
            <a:extLst xmlns:a="http://schemas.openxmlformats.org/drawingml/2006/main">
              <a:ext uri="{FF2B5EF4-FFF2-40B4-BE49-F238E27FC236}">
                <a16:creationId xmlns:a16="http://schemas.microsoft.com/office/drawing/2014/main" id="{CC84F3FD-BACB-48E5-8C44-021D8654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021" y="3094243"/>
            <a:ext cx="104641" cy="748734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2" name="Прямая соединительная линия 41">
            <a:extLst xmlns:a="http://schemas.openxmlformats.org/drawingml/2006/main">
              <a:ext uri="{FF2B5EF4-FFF2-40B4-BE49-F238E27FC236}">
                <a16:creationId xmlns:a16="http://schemas.microsoft.com/office/drawing/2014/main" id="{9A553964-F85C-4F19-BE5A-C351C09F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662" y="3842977"/>
            <a:ext cx="104641" cy="11057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Прямая соединительная линия 42">
            <a:extLst xmlns:a="http://schemas.openxmlformats.org/drawingml/2006/main">
              <a:ext uri="{FF2B5EF4-FFF2-40B4-BE49-F238E27FC236}">
                <a16:creationId xmlns:a16="http://schemas.microsoft.com/office/drawing/2014/main" id="{AF87E4E8-A1F3-4445-B94B-682C1115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89303" y="3689454"/>
            <a:ext cx="104641" cy="264095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4" name="Прямая соединительная линия 43">
            <a:extLst xmlns:a="http://schemas.openxmlformats.org/drawingml/2006/main">
              <a:ext uri="{FF2B5EF4-FFF2-40B4-BE49-F238E27FC236}">
                <a16:creationId xmlns:a16="http://schemas.microsoft.com/office/drawing/2014/main" id="{CCA6A8FF-C85F-4FC3-8D30-56A0289D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93944" y="3530586"/>
            <a:ext cx="104641" cy="158868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5" name="Прямая соединительная линия 44">
            <a:extLst xmlns:a="http://schemas.openxmlformats.org/drawingml/2006/main">
              <a:ext uri="{FF2B5EF4-FFF2-40B4-BE49-F238E27FC236}">
                <a16:creationId xmlns:a16="http://schemas.microsoft.com/office/drawing/2014/main" id="{3B09B9EE-3F09-43F4-B3F1-951F9473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585" y="3530586"/>
            <a:ext cx="104640" cy="626371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6" name="Прямая соединительная линия 45">
            <a:extLst xmlns:a="http://schemas.openxmlformats.org/drawingml/2006/main">
              <a:ext uri="{FF2B5EF4-FFF2-40B4-BE49-F238E27FC236}">
                <a16:creationId xmlns:a16="http://schemas.microsoft.com/office/drawing/2014/main" id="{3B2471EF-A665-4A00-982C-1D1AF37C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03225" y="4112697"/>
            <a:ext cx="104641" cy="4426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7" name="Прямая соединительная линия 46">
            <a:extLst xmlns:a="http://schemas.openxmlformats.org/drawingml/2006/main">
              <a:ext uri="{FF2B5EF4-FFF2-40B4-BE49-F238E27FC236}">
                <a16:creationId xmlns:a16="http://schemas.microsoft.com/office/drawing/2014/main" id="{20822170-A007-46E2-9462-681AB625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07866" y="4078403"/>
            <a:ext cx="104641" cy="34294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8" name="Прямая соединительная линия 47">
            <a:extLst xmlns:a="http://schemas.openxmlformats.org/drawingml/2006/main">
              <a:ext uri="{FF2B5EF4-FFF2-40B4-BE49-F238E27FC236}">
                <a16:creationId xmlns:a16="http://schemas.microsoft.com/office/drawing/2014/main" id="{AE813D36-7091-4587-A349-7AE27EDB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2507" y="4078403"/>
            <a:ext cx="104641" cy="122065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9" name="Прямая соединительная линия 48">
            <a:extLst xmlns:a="http://schemas.openxmlformats.org/drawingml/2006/main">
              <a:ext uri="{FF2B5EF4-FFF2-40B4-BE49-F238E27FC236}">
                <a16:creationId xmlns:a16="http://schemas.microsoft.com/office/drawing/2014/main" id="{CEAB14CB-124B-46AF-BD76-FAA22594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48" y="4200468"/>
            <a:ext cx="104641" cy="35825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0" name="Прямая соединительная линия 49">
            <a:extLst xmlns:a="http://schemas.openxmlformats.org/drawingml/2006/main">
              <a:ext uri="{FF2B5EF4-FFF2-40B4-BE49-F238E27FC236}">
                <a16:creationId xmlns:a16="http://schemas.microsoft.com/office/drawing/2014/main" id="{37189C03-BC20-4AAF-B240-7E618F75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621789" y="4198382"/>
            <a:ext cx="104641" cy="37911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1" name="Прямая соединительная линия 50">
            <a:extLst xmlns:a="http://schemas.openxmlformats.org/drawingml/2006/main">
              <a:ext uri="{FF2B5EF4-FFF2-40B4-BE49-F238E27FC236}">
                <a16:creationId xmlns:a16="http://schemas.microsoft.com/office/drawing/2014/main" id="{48F014AE-C6E1-47ED-9284-30BD3746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430" y="4198382"/>
            <a:ext cx="104640" cy="9827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2" name="Прямая соединительная линия 51">
            <a:extLst xmlns:a="http://schemas.openxmlformats.org/drawingml/2006/main">
              <a:ext uri="{FF2B5EF4-FFF2-40B4-BE49-F238E27FC236}">
                <a16:creationId xmlns:a16="http://schemas.microsoft.com/office/drawing/2014/main" id="{FDBCA5DB-8756-4ECE-B41F-D1D11884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831070" y="4159710"/>
            <a:ext cx="104641" cy="136944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Прямая соединительная линия 52">
            <a:extLst xmlns:a="http://schemas.openxmlformats.org/drawingml/2006/main">
              <a:ext uri="{FF2B5EF4-FFF2-40B4-BE49-F238E27FC236}">
                <a16:creationId xmlns:a16="http://schemas.microsoft.com/office/drawing/2014/main" id="{40CCCA1B-9F9D-4D04-B4C8-EAD67EC7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935711" y="3881720"/>
            <a:ext cx="104641" cy="27799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4" name="Прямая соединительная линия 53">
            <a:extLst xmlns:a="http://schemas.openxmlformats.org/drawingml/2006/main">
              <a:ext uri="{FF2B5EF4-FFF2-40B4-BE49-F238E27FC236}">
                <a16:creationId xmlns:a16="http://schemas.microsoft.com/office/drawing/2014/main" id="{6E86C264-2FE2-42A7-BE8F-DEC10362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040352" y="2626301"/>
            <a:ext cx="104641" cy="1255419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Прямая соединительная линия 54">
            <a:extLst xmlns:a="http://schemas.openxmlformats.org/drawingml/2006/main">
              <a:ext uri="{FF2B5EF4-FFF2-40B4-BE49-F238E27FC236}">
                <a16:creationId xmlns:a16="http://schemas.microsoft.com/office/drawing/2014/main" id="{AEA9B470-9CEC-473A-94B1-E35A3D3E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4993" y="2626301"/>
            <a:ext cx="104641" cy="2453699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6" name="Прямая соединительная линия 55">
            <a:extLst xmlns:a="http://schemas.openxmlformats.org/drawingml/2006/main">
              <a:ext uri="{FF2B5EF4-FFF2-40B4-BE49-F238E27FC236}">
                <a16:creationId xmlns:a16="http://schemas.microsoft.com/office/drawing/2014/main" id="{EBE6EB34-D164-4E58-BF7D-CBF0C565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49634" y="4995166"/>
            <a:ext cx="104641" cy="84834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7" name="Прямая соединительная линия 56">
            <a:extLst xmlns:a="http://schemas.openxmlformats.org/drawingml/2006/main">
              <a:ext uri="{FF2B5EF4-FFF2-40B4-BE49-F238E27FC236}">
                <a16:creationId xmlns:a16="http://schemas.microsoft.com/office/drawing/2014/main" id="{86EC51EB-9433-4CC8-BF95-86A5872F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354275" y="4620735"/>
            <a:ext cx="104640" cy="374431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8" name="Прямая соединительная линия 57">
            <a:extLst xmlns:a="http://schemas.openxmlformats.org/drawingml/2006/main">
              <a:ext uri="{FF2B5EF4-FFF2-40B4-BE49-F238E27FC236}">
                <a16:creationId xmlns:a16="http://schemas.microsoft.com/office/drawing/2014/main" id="{1A48BA0F-78DE-4BCD-A617-A806A9F3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58915" y="4448613"/>
            <a:ext cx="104641" cy="17212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9" name="Прямая соединительная линия 58">
            <a:extLst xmlns:a="http://schemas.openxmlformats.org/drawingml/2006/main">
              <a:ext uri="{FF2B5EF4-FFF2-40B4-BE49-F238E27FC236}">
                <a16:creationId xmlns:a16="http://schemas.microsoft.com/office/drawing/2014/main" id="{557E0A98-AFE5-4015-8905-78F4C02C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3556" y="4448613"/>
            <a:ext cx="104641" cy="73685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0" name="Прямая соединительная линия 59">
            <a:extLst xmlns:a="http://schemas.openxmlformats.org/drawingml/2006/main">
              <a:ext uri="{FF2B5EF4-FFF2-40B4-BE49-F238E27FC236}">
                <a16:creationId xmlns:a16="http://schemas.microsoft.com/office/drawing/2014/main" id="{0DFF84C9-A88B-4EC2-B078-1FFAA142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668197" y="4069739"/>
            <a:ext cx="104641" cy="452559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Прямая соединительная линия 60">
            <a:extLst xmlns:a="http://schemas.openxmlformats.org/drawingml/2006/main">
              <a:ext uri="{FF2B5EF4-FFF2-40B4-BE49-F238E27FC236}">
                <a16:creationId xmlns:a16="http://schemas.microsoft.com/office/drawing/2014/main" id="{CAE04C4F-9A5C-48AB-96C8-0ECDDD43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772838" y="3862523"/>
            <a:ext cx="104641" cy="207216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2" name="Прямая соединительная линия 61">
            <a:extLst xmlns:a="http://schemas.openxmlformats.org/drawingml/2006/main">
              <a:ext uri="{FF2B5EF4-FFF2-40B4-BE49-F238E27FC236}">
                <a16:creationId xmlns:a16="http://schemas.microsoft.com/office/drawing/2014/main" id="{62739EDA-06DA-4A47-8FC8-56B7BFDF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877479" y="3857699"/>
            <a:ext cx="104641" cy="4824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3" name="Прямая соединительная линия 62">
            <a:extLst xmlns:a="http://schemas.openxmlformats.org/drawingml/2006/main">
              <a:ext uri="{FF2B5EF4-FFF2-40B4-BE49-F238E27FC236}">
                <a16:creationId xmlns:a16="http://schemas.microsoft.com/office/drawing/2014/main" id="{D1031335-9019-47A5-B7B0-901B12A1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982120" y="3255469"/>
            <a:ext cx="104641" cy="60223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4" name="Прямая соединительная линия 63">
            <a:extLst xmlns:a="http://schemas.openxmlformats.org/drawingml/2006/main">
              <a:ext uri="{FF2B5EF4-FFF2-40B4-BE49-F238E27FC236}">
                <a16:creationId xmlns:a16="http://schemas.microsoft.com/office/drawing/2014/main" id="{A15347A0-A444-485C-9FBA-49010B24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086761" y="2887611"/>
            <a:ext cx="104641" cy="367858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5" name="Прямая соединительная линия 64">
            <a:extLst xmlns:a="http://schemas.openxmlformats.org/drawingml/2006/main">
              <a:ext uri="{FF2B5EF4-FFF2-40B4-BE49-F238E27FC236}">
                <a16:creationId xmlns:a16="http://schemas.microsoft.com/office/drawing/2014/main" id="{4762B767-6352-4FA0-9FC7-DA5B7418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91402" y="2544995"/>
            <a:ext cx="104640" cy="342616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6" name="Прямая соединительная линия 65">
            <a:extLst xmlns:a="http://schemas.openxmlformats.org/drawingml/2006/main">
              <a:ext uri="{FF2B5EF4-FFF2-40B4-BE49-F238E27FC236}">
                <a16:creationId xmlns:a16="http://schemas.microsoft.com/office/drawing/2014/main" id="{64FBFFDC-D6B9-41A3-A78A-7944F59C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042" y="2544995"/>
            <a:ext cx="104641" cy="62597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7" name="Прямая соединительная линия 66">
            <a:extLst xmlns:a="http://schemas.openxmlformats.org/drawingml/2006/main">
              <a:ext uri="{FF2B5EF4-FFF2-40B4-BE49-F238E27FC236}">
                <a16:creationId xmlns:a16="http://schemas.microsoft.com/office/drawing/2014/main" id="{FDEBD663-B3AD-4201-A5E3-027E13B7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683" y="3170972"/>
            <a:ext cx="104641" cy="4925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8" name="Прямая соединительная линия 67">
            <a:extLst xmlns:a="http://schemas.openxmlformats.org/drawingml/2006/main">
              <a:ext uri="{FF2B5EF4-FFF2-40B4-BE49-F238E27FC236}">
                <a16:creationId xmlns:a16="http://schemas.microsoft.com/office/drawing/2014/main" id="{B2DED088-E285-40E9-9696-5EB2C365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505324" y="3013235"/>
            <a:ext cx="104641" cy="206994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9" name="Прямая соединительная линия 68">
            <a:extLst xmlns:a="http://schemas.openxmlformats.org/drawingml/2006/main">
              <a:ext uri="{FF2B5EF4-FFF2-40B4-BE49-F238E27FC236}">
                <a16:creationId xmlns:a16="http://schemas.microsoft.com/office/drawing/2014/main" id="{B4B4ACCB-9233-4EAF-B95A-3EB77DFC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609965" y="2986588"/>
            <a:ext cx="104640" cy="2664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0" name="Прямая соединительная линия 69">
            <a:extLst xmlns:a="http://schemas.openxmlformats.org/drawingml/2006/main">
              <a:ext uri="{FF2B5EF4-FFF2-40B4-BE49-F238E27FC236}">
                <a16:creationId xmlns:a16="http://schemas.microsoft.com/office/drawing/2014/main" id="{9FB384AD-7B5E-4028-85AA-CADC20DC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4605" y="2986588"/>
            <a:ext cx="104641" cy="104985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1" name="Прямая соединительная линия 70">
            <a:extLst xmlns:a="http://schemas.openxmlformats.org/drawingml/2006/main">
              <a:ext uri="{FF2B5EF4-FFF2-40B4-BE49-F238E27FC236}">
                <a16:creationId xmlns:a16="http://schemas.microsoft.com/office/drawing/2014/main" id="{99B1F4F6-F538-43E3-8B68-391D6A1B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819246" y="2947051"/>
            <a:ext cx="104641" cy="14452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2" name="Прямая соединительная линия 71">
            <a:extLst xmlns:a="http://schemas.openxmlformats.org/drawingml/2006/main">
              <a:ext uri="{FF2B5EF4-FFF2-40B4-BE49-F238E27FC236}">
                <a16:creationId xmlns:a16="http://schemas.microsoft.com/office/drawing/2014/main" id="{C721A86F-6E7B-40AA-AD49-99AB7DB5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923887" y="2685881"/>
            <a:ext cx="104641" cy="26117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3" name="Прямая соединительная линия 72">
            <a:extLst xmlns:a="http://schemas.openxmlformats.org/drawingml/2006/main">
              <a:ext uri="{FF2B5EF4-FFF2-40B4-BE49-F238E27FC236}">
                <a16:creationId xmlns:a16="http://schemas.microsoft.com/office/drawing/2014/main" id="{17A80658-A690-4C99-8FB5-27023F6A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028528" y="2349500"/>
            <a:ext cx="104641" cy="336381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4" name="Прямая соединительная линия 73">
            <a:extLst xmlns:a="http://schemas.openxmlformats.org/drawingml/2006/main">
              <a:ext uri="{FF2B5EF4-FFF2-40B4-BE49-F238E27FC236}">
                <a16:creationId xmlns:a16="http://schemas.microsoft.com/office/drawing/2014/main" id="{4F783946-E2CB-406D-8556-CA4498AB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169" y="2349500"/>
            <a:ext cx="104641" cy="3025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5" name="Прямая соединительная линия 74">
            <a:extLst xmlns:a="http://schemas.openxmlformats.org/drawingml/2006/main">
              <a:ext uri="{FF2B5EF4-FFF2-40B4-BE49-F238E27FC236}">
                <a16:creationId xmlns:a16="http://schemas.microsoft.com/office/drawing/2014/main" id="{F03EFF54-C09F-4D51-9575-1AEF65A2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7810" y="2379757"/>
            <a:ext cx="104641" cy="76144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6" name="Прямая соединительная линия 75">
            <a:extLst xmlns:a="http://schemas.openxmlformats.org/drawingml/2006/main">
              <a:ext uri="{FF2B5EF4-FFF2-40B4-BE49-F238E27FC236}">
                <a16:creationId xmlns:a16="http://schemas.microsoft.com/office/drawing/2014/main" id="{D5E3049F-9A3E-440F-9F3E-5B79F798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2451" y="3141204"/>
            <a:ext cx="104641" cy="24409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7" name="Прямая соединительная линия 76">
            <a:extLst xmlns:a="http://schemas.openxmlformats.org/drawingml/2006/main">
              <a:ext uri="{FF2B5EF4-FFF2-40B4-BE49-F238E27FC236}">
                <a16:creationId xmlns:a16="http://schemas.microsoft.com/office/drawing/2014/main" id="{1340D126-566D-4DA6-9EDF-9532348F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447092" y="3297708"/>
            <a:ext cx="104641" cy="87593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8" name="Прямая соединительная линия 77">
            <a:extLst xmlns:a="http://schemas.openxmlformats.org/drawingml/2006/main">
              <a:ext uri="{FF2B5EF4-FFF2-40B4-BE49-F238E27FC236}">
                <a16:creationId xmlns:a16="http://schemas.microsoft.com/office/drawing/2014/main" id="{CC454A95-5227-48D1-B5EB-6F1C7A3B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551733" y="2921504"/>
            <a:ext cx="104641" cy="376204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9" name="Прямая соединительная линия 78">
            <a:extLst xmlns:a="http://schemas.openxmlformats.org/drawingml/2006/main">
              <a:ext uri="{FF2B5EF4-FFF2-40B4-BE49-F238E27FC236}">
                <a16:creationId xmlns:a16="http://schemas.microsoft.com/office/drawing/2014/main" id="{253744D3-A76C-4F5A-BC4E-726B42B8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656374" y="2719907"/>
            <a:ext cx="104640" cy="20159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0" name="Прямая соединительная линия 79">
            <a:extLst xmlns:a="http://schemas.openxmlformats.org/drawingml/2006/main">
              <a:ext uri="{FF2B5EF4-FFF2-40B4-BE49-F238E27FC236}">
                <a16:creationId xmlns:a16="http://schemas.microsoft.com/office/drawing/2014/main" id="{594DC63F-E6CE-4F69-971B-CD121FD9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1014" y="2719907"/>
            <a:ext cx="104641" cy="5417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1" name="Прямая соединительная линия 80">
            <a:extLst xmlns:a="http://schemas.openxmlformats.org/drawingml/2006/main">
              <a:ext uri="{FF2B5EF4-FFF2-40B4-BE49-F238E27FC236}">
                <a16:creationId xmlns:a16="http://schemas.microsoft.com/office/drawing/2014/main" id="{E219828A-F676-48E4-BBCD-B245CFF5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655" y="2774077"/>
            <a:ext cx="104641" cy="247224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2" name="Прямая соединительная линия 81">
            <a:extLst xmlns:a="http://schemas.openxmlformats.org/drawingml/2006/main">
              <a:ext uri="{FF2B5EF4-FFF2-40B4-BE49-F238E27FC236}">
                <a16:creationId xmlns:a16="http://schemas.microsoft.com/office/drawing/2014/main" id="{0AD4AF22-8F42-4506-96F8-97C10A62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0296" y="3021301"/>
            <a:ext cx="104640" cy="90238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3" name="Прямая соединительная линия 82">
            <a:extLst xmlns:a="http://schemas.openxmlformats.org/drawingml/2006/main">
              <a:ext uri="{FF2B5EF4-FFF2-40B4-BE49-F238E27FC236}">
                <a16:creationId xmlns:a16="http://schemas.microsoft.com/office/drawing/2014/main" id="{F876DDC2-3904-4AB0-BD07-6C744F7E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936" y="3111539"/>
            <a:ext cx="104641" cy="17406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4" name="Прямая соединительная линия 83">
            <a:extLst xmlns:a="http://schemas.openxmlformats.org/drawingml/2006/main">
              <a:ext uri="{FF2B5EF4-FFF2-40B4-BE49-F238E27FC236}">
                <a16:creationId xmlns:a16="http://schemas.microsoft.com/office/drawing/2014/main" id="{A83BD56E-9663-400A-850D-1477059F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577" y="3285606"/>
            <a:ext cx="104641" cy="2597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5" name="Прямая соединительная линия 84">
            <a:extLst xmlns:a="http://schemas.openxmlformats.org/drawingml/2006/main">
              <a:ext uri="{FF2B5EF4-FFF2-40B4-BE49-F238E27FC236}">
                <a16:creationId xmlns:a16="http://schemas.microsoft.com/office/drawing/2014/main" id="{A446EB6F-3FAA-45DE-A10F-5CAC5282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284218" y="2676765"/>
            <a:ext cx="104641" cy="634813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6" name="Прямая соединительная линия 85">
            <a:extLst xmlns:a="http://schemas.openxmlformats.org/drawingml/2006/main">
              <a:ext uri="{FF2B5EF4-FFF2-40B4-BE49-F238E27FC236}">
                <a16:creationId xmlns:a16="http://schemas.microsoft.com/office/drawing/2014/main" id="{24045F1D-F780-4A2A-B25C-E53D86AC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88859" y="2361762"/>
            <a:ext cx="104641" cy="315003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7" name="TextBox 86">
            <a:extLst xmlns:a="http://schemas.openxmlformats.org/drawingml/2006/main">
              <a:ext uri="{FF2B5EF4-FFF2-40B4-BE49-F238E27FC236}">
                <a16:creationId xmlns:a16="http://schemas.microsoft.com/office/drawing/2014/main" id="{9EED5256-1E78-4FB7-B568-BBBFAE89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520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91949E"/>
                </a:solidFill>
                <a:latin typeface="Arial"/>
                <a:ea typeface="Arial"/>
                <a:cs typeface="Arial"/>
              </a:rPr>
              <a:t>2016</a:t>
            </a:r>
            <a:endParaRPr sz="1000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TextBox 87">
            <a:extLst xmlns:a="http://schemas.openxmlformats.org/drawingml/2006/main">
              <a:ext uri="{FF2B5EF4-FFF2-40B4-BE49-F238E27FC236}">
                <a16:creationId xmlns:a16="http://schemas.microsoft.com/office/drawing/2014/main" id="{8910F91E-6433-4C21-8249-5B9BF2C8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1500" y="520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91949E"/>
                </a:solidFill>
                <a:latin typeface="Arial"/>
                <a:ea typeface="Arial"/>
                <a:cs typeface="Arial"/>
              </a:rPr>
              <a:t>2026</a:t>
            </a:r>
            <a:endParaRPr sz="1000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TextBox 88">
            <a:extLst xmlns:a="http://schemas.openxmlformats.org/drawingml/2006/main">
              <a:ext uri="{FF2B5EF4-FFF2-40B4-BE49-F238E27FC236}">
                <a16:creationId xmlns:a16="http://schemas.microsoft.com/office/drawing/2014/main" id="{CFEC7C30-7BD6-4A8D-A266-F950D368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5600700"/>
            <a:ext cx="5461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0636E"/>
                </a:solidFill>
                <a:latin typeface="Arial"/>
                <a:ea typeface="Arial"/>
                <a:cs typeface="Arial"/>
              </a:rPr>
              <a:t>RUB за 1 TJS · ниже — выгоднее</a:t>
            </a:r>
            <a:endParaRPr sz="12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52341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66F8E88-9555-433F-A509-A2898F1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ТЕКУЩИЙ СТАТУС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37EA5E-F229-46A4-BC61-E1CD4C1A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Pipeline от данных до baseline собран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D63350E-A595-443B-9873-968A91A5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05884D5-123F-44B5-BE15-3DA2441A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CIS TRADING  /  </a:t>
            </a:r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ПРОМЕЖУТОЧНЫЙ СТАТУС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1371519-9F1F-4CDA-977E-2028059A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0636E"/>
                </a:solidFill>
                <a:latin typeface="Arial"/>
                <a:ea typeface="Arial"/>
                <a:cs typeface="Arial"/>
              </a:rPr>
              <a:t>07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57B58A8B-3E13-44EF-AF9F-117F3B23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00" y="1866900"/>
            <a:ext cx="0" cy="37846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Овал 7">
            <a:extLst xmlns:a="http://schemas.openxmlformats.org/drawingml/2006/main">
              <a:ext uri="{FF2B5EF4-FFF2-40B4-BE49-F238E27FC236}">
                <a16:creationId xmlns:a16="http://schemas.microsoft.com/office/drawing/2014/main" id="{A2676437-E223-431C-A2BA-C9E898AA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3400"/>
            <a:ext cx="330200" cy="33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C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357EE69-068A-4814-AB6F-4F099243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" y="1828800"/>
            <a:ext cx="2032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  <a:endParaRPr sz="13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470BB51-DF76-4D5C-AC84-E639531E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1790699"/>
            <a:ext cx="889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3242B"/>
                </a:solidFill>
                <a:latin typeface="Arial"/>
                <a:ea typeface="Arial"/>
                <a:cs typeface="Arial"/>
              </a:rPr>
              <a:t>Документация очищена и собрана в одном контракте</a:t>
            </a:r>
            <a:endParaRPr>
              <a:solidFill>
                <a:srgbClr val="2324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Овал 10">
            <a:extLst xmlns:a="http://schemas.openxmlformats.org/drawingml/2006/main">
              <a:ext uri="{FF2B5EF4-FFF2-40B4-BE49-F238E27FC236}">
                <a16:creationId xmlns:a16="http://schemas.microsoft.com/office/drawing/2014/main" id="{C9464ACD-5313-48FE-8DDE-1671148D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330200" cy="33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C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A5BE646-CFB9-4DB0-8C5D-0BC2DE0E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" y="2501900"/>
            <a:ext cx="2032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  <a:endParaRPr sz="13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44E6D4C-0BEB-4E4C-AF1C-4B15072F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2463799"/>
            <a:ext cx="889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3242B"/>
                </a:solidFill>
                <a:latin typeface="Arial"/>
                <a:ea typeface="Arial"/>
                <a:cs typeface="Arial"/>
              </a:rPr>
              <a:t>Сборщик датасета работает повторяемо</a:t>
            </a:r>
            <a:endParaRPr>
              <a:solidFill>
                <a:srgbClr val="2324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Овал 13">
            <a:extLst xmlns:a="http://schemas.openxmlformats.org/drawingml/2006/main">
              <a:ext uri="{FF2B5EF4-FFF2-40B4-BE49-F238E27FC236}">
                <a16:creationId xmlns:a16="http://schemas.microsoft.com/office/drawing/2014/main" id="{678012BC-9080-404F-B787-52189B2E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9600"/>
            <a:ext cx="330200" cy="33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C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DD7CB6D-1679-4BFC-BA1E-B229DC53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" y="3175000"/>
            <a:ext cx="2032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  <a:endParaRPr sz="13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545CE5E-2F28-4D66-8889-09066BD9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3136899"/>
            <a:ext cx="889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3242B"/>
                </a:solidFill>
                <a:latin typeface="Arial"/>
                <a:ea typeface="Arial"/>
                <a:cs typeface="Arial"/>
              </a:rPr>
              <a:t>Наблюдения и будущая разметка разделены</a:t>
            </a:r>
            <a:endParaRPr>
              <a:solidFill>
                <a:srgbClr val="2324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Овал 16">
            <a:extLst xmlns:a="http://schemas.openxmlformats.org/drawingml/2006/main">
              <a:ext uri="{FF2B5EF4-FFF2-40B4-BE49-F238E27FC236}">
                <a16:creationId xmlns:a16="http://schemas.microsoft.com/office/drawing/2014/main" id="{B2C6567E-A5FF-46CB-885A-61BBECC1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2700"/>
            <a:ext cx="330200" cy="33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C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175E25F-EF45-4570-852E-27B22CDA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" y="3848100"/>
            <a:ext cx="2032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  <a:endParaRPr sz="13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424CEC9-A3F3-423D-B9E0-B5BE5AF1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3809999"/>
            <a:ext cx="889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3242B"/>
                </a:solidFill>
                <a:latin typeface="Arial"/>
                <a:ea typeface="Arial"/>
                <a:cs typeface="Arial"/>
              </a:rPr>
              <a:t>Тесты фиксируют критическую логику</a:t>
            </a:r>
            <a:endParaRPr>
              <a:solidFill>
                <a:srgbClr val="2324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Овал 19">
            <a:extLst xmlns:a="http://schemas.openxmlformats.org/drawingml/2006/main">
              <a:ext uri="{FF2B5EF4-FFF2-40B4-BE49-F238E27FC236}">
                <a16:creationId xmlns:a16="http://schemas.microsoft.com/office/drawing/2014/main" id="{D80C22C8-5629-446C-A318-88A0E319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330200" cy="33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C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1A825D3-2AB2-4F07-86FB-6B9AEA7D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" y="4521200"/>
            <a:ext cx="2032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  <a:endParaRPr sz="13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69F2B78-0984-40CB-8D6B-02564006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4483099"/>
            <a:ext cx="889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3242B"/>
                </a:solidFill>
                <a:latin typeface="Arial"/>
                <a:ea typeface="Arial"/>
                <a:cs typeface="Arial"/>
              </a:rPr>
              <a:t>Train / validation / test разделены по времени</a:t>
            </a:r>
            <a:endParaRPr>
              <a:solidFill>
                <a:srgbClr val="2324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Овал 22">
            <a:extLst xmlns:a="http://schemas.openxmlformats.org/drawingml/2006/main">
              <a:ext uri="{FF2B5EF4-FFF2-40B4-BE49-F238E27FC236}">
                <a16:creationId xmlns:a16="http://schemas.microsoft.com/office/drawing/2014/main" id="{AA91D2EB-BC2A-46D8-963E-3DD66129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68900"/>
            <a:ext cx="330200" cy="33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0076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1D35761-2DF6-4400-8743-7ADC076F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" y="5194300"/>
            <a:ext cx="2032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  <a:endParaRPr sz="13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95474A0-C7C7-45BC-9DB7-59E072FD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5156199"/>
            <a:ext cx="889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23242B"/>
                </a:solidFill>
                <a:latin typeface="Arial"/>
                <a:ea typeface="Arial"/>
                <a:cs typeface="Arial"/>
              </a:rPr>
              <a:t>Обучена первая логистическая регрессия</a:t>
            </a:r>
            <a:endParaRPr b="1">
              <a:solidFill>
                <a:srgbClr val="23242B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215242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9507255-8286-4C45-9191-E37CCB77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BASELINE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E84E0D-B80F-45B0-AB6B-C6037323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Baseline проверен без утечки будущего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F94CBA4-AC1D-4730-9750-426CEB1D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BD218A9-CFB5-4345-B6A5-E1E7A530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CIS TRADING  /  </a:t>
            </a:r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ПРОМЕЖУТОЧНЫЙ СТАТУС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81F1749-C3D4-4B7A-A6C9-3D487DBF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0636E"/>
                </a:solidFill>
                <a:latin typeface="Arial"/>
                <a:ea typeface="Arial"/>
                <a:cs typeface="Arial"/>
              </a:rPr>
              <a:t>08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342EAF9-6486-468A-A04F-6D3CCDF5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765299"/>
            <a:ext cx="1651000" cy="82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42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26</a:t>
            </a:r>
            <a:endParaRPr sz="42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B4784C2-8CCA-41B0-BB88-2B57A935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565399"/>
            <a:ext cx="3175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60636E"/>
                </a:solidFill>
                <a:latin typeface="Arial"/>
                <a:ea typeface="Arial"/>
                <a:cs typeface="Arial"/>
              </a:rPr>
              <a:t>признаков курса, динамики, диапазона, волатильности и календаря</a:t>
            </a:r>
            <a:endParaRPr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636F996-3FAC-4F95-9BC3-C98CF620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216399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EE0076"/>
                </a:solidFill>
                <a:latin typeface="Arial"/>
                <a:ea typeface="Arial"/>
                <a:cs typeface="Arial"/>
              </a:rPr>
              <a:t>X</a:t>
            </a:r>
            <a:endParaRPr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98F0AA1-A251-4CDD-96DF-48C21686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00" y="4216399"/>
            <a:ext cx="279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текущий и прошлый курс</a:t>
            </a:r>
            <a:endParaRPr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170001E-C9C3-47D5-888C-FE35B602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762499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EE0076"/>
                </a:solidFill>
                <a:latin typeface="Arial"/>
                <a:ea typeface="Arial"/>
                <a:cs typeface="Arial"/>
              </a:rPr>
              <a:t>y</a:t>
            </a:r>
            <a:endParaRPr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DBD1121-D2F3-4E4F-80C7-D53082AE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00" y="4762499"/>
            <a:ext cx="279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target_good_now</a:t>
            </a:r>
            <a:endParaRPr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Прямая соединительная линия 12">
            <a:extLst xmlns:a="http://schemas.openxmlformats.org/drawingml/2006/main">
              <a:ext uri="{FF2B5EF4-FFF2-40B4-BE49-F238E27FC236}">
                <a16:creationId xmlns:a16="http://schemas.microsoft.com/office/drawing/2014/main" id="{873A455E-D7CB-4D92-A44D-98A81E16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048000"/>
            <a:ext cx="6731000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1FE7D4EC-6814-4174-AAC9-2C18508D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908300"/>
            <a:ext cx="2603500" cy="27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C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12A94EC-56E9-4C67-B79E-93FF1F4C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492500"/>
            <a:ext cx="26035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TRAIN</a:t>
            </a:r>
            <a:endParaRPr sz="14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63FAE60-1967-4C02-88BB-FD06A96C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873499"/>
            <a:ext cx="260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1 556 строк</a:t>
            </a:r>
            <a:endParaRPr sz="19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5A3231B-6FE2-45C3-9FD0-5983B5D2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4292600"/>
            <a:ext cx="26035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0636E"/>
                </a:solidFill>
                <a:latin typeface="Arial"/>
                <a:ea typeface="Arial"/>
                <a:cs typeface="Arial"/>
              </a:rPr>
              <a:t>2016–2022</a:t>
            </a:r>
            <a:endParaRPr sz="14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1B6A2E4D-C2FC-4DD1-AA10-F6B46E91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500" y="2908300"/>
            <a:ext cx="2222500" cy="27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0076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C4F676D-AB84-4C93-A7AA-1C670BA0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500" y="3492500"/>
            <a:ext cx="22225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EE0076"/>
                </a:solidFill>
                <a:latin typeface="Arial"/>
                <a:ea typeface="Arial"/>
                <a:cs typeface="Arial"/>
              </a:rPr>
              <a:t>VALIDATION</a:t>
            </a:r>
            <a:endParaRPr sz="14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CB7075A-3D93-4C4F-A72E-AE9BE74C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500" y="3873499"/>
            <a:ext cx="222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492 строки</a:t>
            </a:r>
            <a:endParaRPr sz="19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2640F1B-7ED3-4899-8A69-1B3F7A03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500" y="4292600"/>
            <a:ext cx="22225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0636E"/>
                </a:solidFill>
                <a:latin typeface="Arial"/>
                <a:ea typeface="Arial"/>
                <a:cs typeface="Arial"/>
              </a:rPr>
              <a:t>2023–2024</a:t>
            </a:r>
            <a:endParaRPr sz="14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639EA3BF-A108-4AAC-93CD-1E911491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2908300"/>
            <a:ext cx="1397000" cy="27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E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F593BCB-9E77-446B-AF87-18CF767C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3492500"/>
            <a:ext cx="1397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TEST</a:t>
            </a:r>
            <a:endParaRPr sz="14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7D30A71-4272-491D-8207-03289818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3873499"/>
            <a:ext cx="139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406 строк</a:t>
            </a:r>
            <a:endParaRPr sz="19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5013C28-A981-41BF-A56C-9043E358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4292600"/>
            <a:ext cx="1397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0636E"/>
                </a:solidFill>
                <a:latin typeface="Arial"/>
                <a:ea typeface="Arial"/>
                <a:cs typeface="Arial"/>
              </a:rPr>
              <a:t>2025–2026</a:t>
            </a:r>
            <a:endParaRPr sz="14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EDBBC3B-52D4-4219-9537-22A7D0DA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5041899"/>
            <a:ext cx="67310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700">
                <a:solidFill>
                  <a:srgbClr val="60636E"/>
                </a:solidFill>
                <a:latin typeface="Arial"/>
                <a:ea typeface="Arial"/>
                <a:cs typeface="Arial"/>
              </a:rPr>
              <a:t>Между периодами — разрыв не менее 5 календарных дней. Threshold выбран только на validation.</a:t>
            </a:r>
            <a:endParaRPr sz="17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40350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E8D4C03-8C64-437A-8CF4-CDC8AD58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ПЕРВЫЕ РЕЗУЛЬТАТЫ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854526-E7F5-4E8E-93FA-1F7FA121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Сигнал есть. 90% precision — нет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47BDA0A-55A8-4F09-B542-AF3C6AE6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2D76BCF-87E9-4196-AD29-82E6E23B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CIS TRADING  /  </a:t>
            </a:r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ПРОМЕЖУТОЧНЫЙ СТАТУС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1E7D520-47FC-4763-8CA4-F2F86756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0636E"/>
                </a:solidFill>
                <a:latin typeface="Arial"/>
                <a:ea typeface="Arial"/>
                <a:cs typeface="Arial"/>
              </a:rPr>
              <a:t>09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ADB4086-D7A0-4E31-8A5E-36124E11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651000"/>
            <a:ext cx="317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РАНЖИРОВАНИЕ</a:t>
            </a:r>
            <a:endParaRPr sz="11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34A9B99-6834-4AA1-8A2D-1F21FFAE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993899"/>
            <a:ext cx="24130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0,831</a:t>
            </a:r>
            <a:endParaRPr sz="34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0EB5F8C-709A-4836-A8F1-B369C4BA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692399"/>
            <a:ext cx="24130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ROC AUC · validation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612189C-8DC3-423B-A73F-AEDA2BE4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93899"/>
            <a:ext cx="21590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EE0076"/>
                </a:solidFill>
                <a:latin typeface="Arial"/>
                <a:ea typeface="Arial"/>
                <a:cs typeface="Arial"/>
              </a:rPr>
              <a:t>0,779</a:t>
            </a:r>
            <a:endParaRPr sz="34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7250911-0CC3-4F75-AC80-09DE1AA3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92399"/>
            <a:ext cx="21590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ROC AUC · test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ая соединительная линия 11">
            <a:extLst xmlns:a="http://schemas.openxmlformats.org/drawingml/2006/main">
              <a:ext uri="{FF2B5EF4-FFF2-40B4-BE49-F238E27FC236}">
                <a16:creationId xmlns:a16="http://schemas.microsoft.com/office/drawing/2014/main" id="{379533D6-B8A9-4A92-9ACA-A5709FF7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0" cy="40005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52A1CFA-E656-49E1-BD46-C666252D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651000"/>
            <a:ext cx="463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EE0076"/>
                </a:solidFill>
                <a:latin typeface="Arial"/>
                <a:ea typeface="Arial"/>
                <a:cs typeface="Arial"/>
              </a:rPr>
              <a:t>ПРОДУКТОВАЯ ПРОВЕРКА · </a:t>
            </a:r>
            <a:r>
              <a:rPr sz="1100" b="1">
                <a:solidFill>
                  <a:srgbClr val="EE0076"/>
                </a:solidFill>
                <a:latin typeface="Arial"/>
                <a:ea typeface="Arial"/>
                <a:cs typeface="Arial"/>
              </a:rPr>
              <a:t>TEST</a:t>
            </a:r>
            <a:endParaRPr sz="11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C1FD52F-856F-4152-B7E2-B5139666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031999"/>
            <a:ext cx="1905000" cy="673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DE3047"/>
                </a:solidFill>
                <a:latin typeface="Arial"/>
                <a:ea typeface="Arial"/>
                <a:cs typeface="Arial"/>
              </a:rPr>
              <a:t>51,4%</a:t>
            </a:r>
            <a:endParaRPr sz="3400" b="1">
              <a:solidFill>
                <a:srgbClr val="DE304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E59238A-AD3B-42A3-A788-165ECA2E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717799"/>
            <a:ext cx="2159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60636E"/>
                </a:solidFill>
                <a:latin typeface="Arial"/>
                <a:ea typeface="Arial"/>
                <a:cs typeface="Arial"/>
              </a:rPr>
              <a:t>target precision</a:t>
            </a:r>
            <a:endParaRPr sz="15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5C3DC1B9-4DC3-41A5-BC53-3CF2BCB3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3263900"/>
            <a:ext cx="4508500" cy="17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0E6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FFC2ACBD-C8E4-43CB-B676-9EB20384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3263900"/>
            <a:ext cx="2317369" cy="17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3047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Прямая соединительная линия 17">
            <a:extLst xmlns:a="http://schemas.openxmlformats.org/drawingml/2006/main">
              <a:ext uri="{FF2B5EF4-FFF2-40B4-BE49-F238E27FC236}">
                <a16:creationId xmlns:a16="http://schemas.microsoft.com/office/drawing/2014/main" id="{5F5ED948-B5C8-4A16-BBE5-8DF74965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1150" y="3136900"/>
            <a:ext cx="0" cy="44450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6FFBE7B-1372-44C3-BA79-AAC07DCB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1100" y="3632200"/>
            <a:ext cx="88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цель 90%</a:t>
            </a:r>
            <a:endParaRPr sz="11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9B2574C-9049-4D38-B96C-2990C4D4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4190999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2,22×</a:t>
            </a:r>
            <a:endParaRPr sz="26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5F986F9-AF9B-4514-A2B1-CA87B61B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4711700"/>
            <a:ext cx="1651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0636E"/>
                </a:solidFill>
                <a:latin typeface="Arial"/>
                <a:ea typeface="Arial"/>
                <a:cs typeface="Arial"/>
              </a:rPr>
              <a:t>target lift</a:t>
            </a:r>
            <a:endParaRPr sz="14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93F5240-23B4-4B15-A7F6-472A89DA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0" y="4190999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DE3047"/>
                </a:solidFill>
                <a:latin typeface="Arial"/>
                <a:ea typeface="Arial"/>
                <a:cs typeface="Arial"/>
              </a:rPr>
              <a:t>0,95×</a:t>
            </a:r>
            <a:endParaRPr sz="2600" b="1">
              <a:solidFill>
                <a:srgbClr val="DE304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673DB08-0047-49BC-95F8-E4B6A990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0" y="4711700"/>
            <a:ext cx="1651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0636E"/>
                </a:solidFill>
                <a:latin typeface="Arial"/>
                <a:ea typeface="Arial"/>
                <a:cs typeface="Arial"/>
              </a:rPr>
              <a:t>message lift</a:t>
            </a:r>
            <a:endParaRPr sz="14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7A66786-939E-4D42-92AB-A7A9C54F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5206999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Порог 0,606 · 37 сигналов · 0,44 в неделю</a:t>
            </a:r>
            <a:endParaRPr sz="17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27070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6489163-CFAD-4699-ADAE-98D314E1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ИНТЕРПРЕТАЦИЯ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4DAA0C-6E30-46D1-8D4A-E759A2E0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Ранжирование есть. Доверия пока нет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9B36BDC-350B-4B8B-A32F-CB9840F5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B0EDE74-19E8-41FD-BC98-64066A56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CIS TRADING  /  </a:t>
            </a:r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ПРОМЕЖУТОЧНЫЙ СТАТУС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92A512F-93D4-49F9-82A5-242F48A3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0636E"/>
                </a:solidFill>
                <a:latin typeface="Arial"/>
                <a:ea typeface="Arial"/>
                <a:cs typeface="Arial"/>
              </a:rPr>
              <a:t>10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Скругленный 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1258DCCA-799B-4EEC-980B-50C72051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803400"/>
            <a:ext cx="4953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5F8"/>
          </a:solidFill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5D84B72-5870-4B99-A671-AB3A39A4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146300"/>
            <a:ext cx="355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ЕСТЬ СИГНАЛ</a:t>
            </a:r>
            <a:endParaRPr sz="12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54A3722-BC44-4E8D-B450-378CCEE2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679699"/>
            <a:ext cx="3810000" cy="393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AUC </a:t>
            </a:r>
            <a:r>
              <a:rPr sz="22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выше случайного</a:t>
            </a:r>
            <a:endParaRPr sz="22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AEE7088-3800-4057-81CE-DEC91C71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89299"/>
            <a:ext cx="4000500" cy="10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60636E"/>
                </a:solidFill>
                <a:latin typeface="Arial"/>
                <a:ea typeface="Arial"/>
                <a:cs typeface="Arial"/>
              </a:rPr>
              <a:t>Дни с высоким </a:t>
            </a:r>
            <a:r>
              <a:rPr>
                <a:solidFill>
                  <a:srgbClr val="60636E"/>
                </a:solidFill>
                <a:latin typeface="Arial"/>
                <a:ea typeface="Arial"/>
                <a:cs typeface="Arial"/>
              </a:rPr>
              <a:t>score </a:t>
            </a:r>
            <a:r>
              <a:rPr>
                <a:solidFill>
                  <a:srgbClr val="60636E"/>
                </a:solidFill>
                <a:latin typeface="Arial"/>
                <a:ea typeface="Arial"/>
                <a:cs typeface="Arial"/>
              </a:rPr>
              <a:t>чаще попадают в </a:t>
            </a:r>
            <a:r>
              <a:rPr>
                <a:solidFill>
                  <a:srgbClr val="60636E"/>
                </a:solidFill>
                <a:latin typeface="Arial"/>
                <a:ea typeface="Arial"/>
                <a:cs typeface="Arial"/>
              </a:rPr>
              <a:t>target_good_now: target lift = 2,22.</a:t>
            </a:r>
            <a:endParaRPr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BA56A2E-F854-45BC-A482-9633033E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533899"/>
            <a:ext cx="3810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Технический </a:t>
            </a:r>
            <a:r>
              <a:rPr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pipeline </a:t>
            </a:r>
            <a:r>
              <a:rPr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собран.</a:t>
            </a:r>
            <a:endParaRPr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Скругленный 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74204BE6-FF69-4CBA-B7F2-E9D744B6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1803400"/>
            <a:ext cx="55245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A0A0E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C8CD462-B0A5-47E7-93D1-2DCA28A4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146300"/>
            <a:ext cx="4572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EE0076"/>
                </a:solidFill>
                <a:latin typeface="Arial"/>
                <a:ea typeface="Arial"/>
                <a:cs typeface="Arial"/>
              </a:rPr>
              <a:t>НЕТ ПРОДУКТОВОЙ НАДЁЖНОСТИ</a:t>
            </a:r>
            <a:endParaRPr sz="12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3DD869E-3AE2-4A20-87B6-D178FEDD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679699"/>
            <a:ext cx="444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Каждый второй пуш ошибочен</a:t>
            </a:r>
            <a:endParaRPr sz="24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9C4AF33-03F1-43C8-88DA-348CE5B6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568699"/>
            <a:ext cx="4508500" cy="142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FFFFF"/>
                </a:solidFill>
                <a:latin typeface="Arial"/>
                <a:ea typeface="Arial"/>
                <a:cs typeface="Arial"/>
              </a:rPr>
              <a:t>51,4% precision против минимальных 90%; message lift ниже 1 — выбранные дни не лучше случайного дня по правдивости сообщения.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42354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C1459C2-E86E-4841-B538-C7D6F775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ДЕМОНСТРАЦИЯ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3F64E8-C6C3-4AF0-9656-883524A9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На test успехи вперемешку с ошибками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6A4759F-A9B2-48E6-A82D-15351F35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08216FC-B67B-4E7B-99BC-35FF4D91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CIS TRADING  /  </a:t>
            </a:r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ПРОМЕЖУТОЧНЫЙ СТАТУС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745FBAC-B23E-404E-96DD-ADC060AB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0636E"/>
                </a:solidFill>
                <a:latin typeface="Arial"/>
                <a:ea typeface="Arial"/>
                <a:cs typeface="Arial"/>
              </a:rPr>
              <a:t>11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" name="notebook-signal-char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0b0f5369d4c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8500" y="1676400"/>
            <a:ext cx="10795000" cy="3873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DEE0E6"/>
            </a:solidFill>
          </a:ln>
        </p:spPr>
      </p:pic>
      <p:sp>
        <p:nvSpPr>
          <p:cNvPr id="8" name="Овал 7">
            <a:extLst xmlns:a="http://schemas.openxmlformats.org/drawingml/2006/main">
              <a:ext uri="{FF2B5EF4-FFF2-40B4-BE49-F238E27FC236}">
                <a16:creationId xmlns:a16="http://schemas.microsoft.com/office/drawing/2014/main" id="{32F3B1CC-EC65-492A-8233-D9F4749B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5829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891BF29-8C3F-4004-921A-1F5EC3D9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40399"/>
            <a:ext cx="165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60636E"/>
                </a:solidFill>
                <a:latin typeface="Arial"/>
                <a:ea typeface="Arial"/>
                <a:cs typeface="Arial"/>
              </a:rPr>
              <a:t>верный </a:t>
            </a:r>
            <a:r>
              <a:rPr sz="1300">
                <a:solidFill>
                  <a:srgbClr val="60636E"/>
                </a:solidFill>
                <a:latin typeface="Arial"/>
                <a:ea typeface="Arial"/>
                <a:cs typeface="Arial"/>
              </a:rPr>
              <a:t>target</a:t>
            </a:r>
            <a:endParaRPr sz="13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EEC402F-2C9F-43C2-82F1-7103E818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000" y="5702299"/>
            <a:ext cx="20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DE3047"/>
                </a:solidFill>
                <a:latin typeface="Arial"/>
                <a:ea typeface="Arial"/>
                <a:cs typeface="Arial"/>
              </a:rPr>
              <a:t>×</a:t>
            </a:r>
            <a:endParaRPr sz="1700" b="1">
              <a:solidFill>
                <a:srgbClr val="DE304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D8694E-4B50-4F00-9339-14E013EC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700" y="5740399"/>
            <a:ext cx="11430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60636E"/>
                </a:solidFill>
                <a:latin typeface="Arial"/>
                <a:ea typeface="Arial"/>
                <a:cs typeface="Arial"/>
              </a:rPr>
              <a:t>ошибка</a:t>
            </a:r>
            <a:endParaRPr sz="13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E5F9AC9-49CA-4171-B796-DF0E2128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5740399"/>
            <a:ext cx="4800600" cy="27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37 сигналов · 19 target-hit · без просмотра test</a:t>
            </a:r>
            <a:endParaRPr sz="14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020496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97FD618-D72E-455A-8892-13C41F20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РИСКИ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6B1026-1403-41AF-92EB-247C400D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Главный риск — оптимизировать не тот target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9F9C155-02FC-4B5B-A8AE-85532BA2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28B50AC-370F-481B-B30F-5A858DB7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CIS TRADING  /  </a:t>
            </a:r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ПРОМЕЖУТОЧНЫЙ СТАТУС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16B4954-B9E7-4161-BD83-9F594771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0636E"/>
                </a:solidFill>
                <a:latin typeface="Arial"/>
                <a:ea typeface="Arial"/>
                <a:cs typeface="Arial"/>
              </a:rPr>
              <a:t>12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C968FE8-ABD3-4BBF-BFCA-35F2E636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778000"/>
            <a:ext cx="444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EE0076"/>
                </a:solidFill>
                <a:latin typeface="Arial"/>
                <a:ea typeface="Arial"/>
                <a:cs typeface="Arial"/>
              </a:rPr>
              <a:t>МЕТРИКА И ДАННЫЕ</a:t>
            </a:r>
            <a:endParaRPr sz="11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Овал 7">
            <a:extLst xmlns:a="http://schemas.openxmlformats.org/drawingml/2006/main">
              <a:ext uri="{FF2B5EF4-FFF2-40B4-BE49-F238E27FC236}">
                <a16:creationId xmlns:a16="http://schemas.microsoft.com/office/drawing/2014/main" id="{FC220FC4-FBA0-465D-8878-215F8185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324100"/>
            <a:ext cx="88900" cy="8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0076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90EEEE1-ED29-49D6-86EF-2158EC0F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499"/>
            <a:ext cx="4572000" cy="939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900">
                <a:solidFill>
                  <a:srgbClr val="23242B"/>
                </a:solidFill>
                <a:latin typeface="Arial"/>
                <a:ea typeface="Arial"/>
                <a:cs typeface="Arial"/>
              </a:rPr>
              <a:t>target_good_now ≠ </a:t>
            </a:r>
            <a:r>
              <a:rPr sz="1900">
                <a:solidFill>
                  <a:srgbClr val="23242B"/>
                </a:solidFill>
                <a:latin typeface="Arial"/>
                <a:ea typeface="Arial"/>
                <a:cs typeface="Arial"/>
              </a:rPr>
              <a:t>гарантия </a:t>
            </a:r>
            <a:r>
              <a:rPr sz="1900">
                <a:solidFill>
                  <a:srgbClr val="23242B"/>
                </a:solidFill>
                <a:latin typeface="Arial"/>
                <a:ea typeface="Arial"/>
                <a:cs typeface="Arial"/>
              </a:rPr>
              <a:t>message_hit</a:t>
            </a:r>
            <a:endParaRPr sz="1900">
              <a:solidFill>
                <a:srgbClr val="2324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Овал 9">
            <a:extLst xmlns:a="http://schemas.openxmlformats.org/drawingml/2006/main">
              <a:ext uri="{FF2B5EF4-FFF2-40B4-BE49-F238E27FC236}">
                <a16:creationId xmlns:a16="http://schemas.microsoft.com/office/drawing/2014/main" id="{F5015867-C69B-459C-B70B-E5541C31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3213100"/>
            <a:ext cx="88900" cy="8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0076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5B19E11-C419-4531-9A2B-E88779BE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11499"/>
            <a:ext cx="4572000" cy="939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900">
                <a:solidFill>
                  <a:srgbClr val="23242B"/>
                </a:solidFill>
                <a:latin typeface="Arial"/>
                <a:ea typeface="Arial"/>
                <a:cs typeface="Arial"/>
              </a:rPr>
              <a:t>Один коридор и ограниченный объём данных</a:t>
            </a:r>
            <a:endParaRPr sz="1900">
              <a:solidFill>
                <a:srgbClr val="2324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Овал 11">
            <a:extLst xmlns:a="http://schemas.openxmlformats.org/drawingml/2006/main">
              <a:ext uri="{FF2B5EF4-FFF2-40B4-BE49-F238E27FC236}">
                <a16:creationId xmlns:a16="http://schemas.microsoft.com/office/drawing/2014/main" id="{4DE663D8-ADEA-43EB-889E-D8A645A0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102100"/>
            <a:ext cx="88900" cy="8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0076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9C73647-7FCA-4E2C-8257-7FAD5D41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499"/>
            <a:ext cx="4572000" cy="939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900">
                <a:solidFill>
                  <a:srgbClr val="23242B"/>
                </a:solidFill>
                <a:latin typeface="Arial"/>
                <a:ea typeface="Arial"/>
                <a:cs typeface="Arial"/>
              </a:rPr>
              <a:t>Рыночные режимы меняются</a:t>
            </a:r>
            <a:endParaRPr sz="1900">
              <a:solidFill>
                <a:srgbClr val="2324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61951C5-183C-4FE5-A44B-82E157E3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78000"/>
            <a:ext cx="482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ВАЛИДАЦИЯ И ДОСТАВКА</a:t>
            </a:r>
            <a:endParaRPr sz="11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Овал 14">
            <a:extLst xmlns:a="http://schemas.openxmlformats.org/drawingml/2006/main">
              <a:ext uri="{FF2B5EF4-FFF2-40B4-BE49-F238E27FC236}">
                <a16:creationId xmlns:a16="http://schemas.microsoft.com/office/drawing/2014/main" id="{FA489DD4-86E0-492A-A92E-37408E78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324100"/>
            <a:ext cx="88900" cy="8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C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D18984D-F0FC-4909-91A0-10AA0FD3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22499"/>
            <a:ext cx="4635500" cy="939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900">
                <a:solidFill>
                  <a:srgbClr val="23242B"/>
                </a:solidFill>
                <a:latin typeface="Arial"/>
                <a:ea typeface="Arial"/>
                <a:cs typeface="Arial"/>
              </a:rPr>
              <a:t>Leakage в признаках или временном split</a:t>
            </a:r>
            <a:endParaRPr sz="1900">
              <a:solidFill>
                <a:srgbClr val="2324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Овал 16">
            <a:extLst xmlns:a="http://schemas.openxmlformats.org/drawingml/2006/main">
              <a:ext uri="{FF2B5EF4-FFF2-40B4-BE49-F238E27FC236}">
                <a16:creationId xmlns:a16="http://schemas.microsoft.com/office/drawing/2014/main" id="{4BD5CBA4-EF94-4219-9F95-7400984E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3213100"/>
            <a:ext cx="88900" cy="8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C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E834032-2E3B-4B65-B0AE-863BB210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11499"/>
            <a:ext cx="4635500" cy="939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900">
                <a:solidFill>
                  <a:srgbClr val="23242B"/>
                </a:solidFill>
                <a:latin typeface="Arial"/>
                <a:ea typeface="Arial"/>
                <a:cs typeface="Arial"/>
              </a:rPr>
              <a:t>Сигналы могут идти сериями</a:t>
            </a:r>
            <a:endParaRPr sz="1900">
              <a:solidFill>
                <a:srgbClr val="2324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Овал 18">
            <a:extLst xmlns:a="http://schemas.openxmlformats.org/drawingml/2006/main">
              <a:ext uri="{FF2B5EF4-FFF2-40B4-BE49-F238E27FC236}">
                <a16:creationId xmlns:a16="http://schemas.microsoft.com/office/drawing/2014/main" id="{D110C0FB-937C-419C-A238-8F424B15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4102100"/>
            <a:ext cx="88900" cy="8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C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5F680B6-DF86-464B-80AC-2DDCCACF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499"/>
            <a:ext cx="4635500" cy="939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900">
                <a:solidFill>
                  <a:srgbClr val="23242B"/>
                </a:solidFill>
                <a:latin typeface="Arial"/>
                <a:ea typeface="Arial"/>
                <a:cs typeface="Arial"/>
              </a:rPr>
              <a:t>Высокий threshold → слишком редкие пуши</a:t>
            </a:r>
            <a:endParaRPr sz="1900">
              <a:solidFill>
                <a:srgbClr val="2324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223DA1A-BF85-45DA-9A0D-7788FAE2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5486399"/>
            <a:ext cx="1079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Отдельно: курс ЦБ не равен фактическому банковскому курсу перевода.</a:t>
            </a:r>
            <a:endParaRPr sz="20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89787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E894D4F-865B-4692-B306-2984A3FA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ДО ФИНАЛЬНОЙ ЗАЩИТЫ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3E863C-D1AE-4C04-BEBD-34FAFB27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Следующий цикл: оптимизировать </a:t>
            </a:r>
            <a:r>
              <a:rPr sz="35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message_hit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DAB3EDA-B67D-46D6-AB65-7A482002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429253A-ADB9-488A-858A-6300A478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CIS TRADING  /  </a:t>
            </a:r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ПРОМЕЖУТОЧНЫЙ СТАТУС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70C902B-457A-4721-9110-49983948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0636E"/>
                </a:solidFill>
                <a:latin typeface="Arial"/>
                <a:ea typeface="Arial"/>
                <a:cs typeface="Arial"/>
              </a:rPr>
              <a:t>13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7C9D0D56-44DD-40BB-8D59-6F1004D4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35300"/>
            <a:ext cx="292100" cy="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91949E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284D0D1-F1AB-4450-B348-3A167EE7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057399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EE0076"/>
                </a:solidFill>
                <a:latin typeface="Arial"/>
                <a:ea typeface="Arial"/>
                <a:cs typeface="Arial"/>
              </a:rPr>
              <a:t>01</a:t>
            </a:r>
            <a:endParaRPr sz="12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F4AF3443-7439-4E1E-85B9-7D13AB98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527300"/>
            <a:ext cx="1473200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EE007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A07FAFF-08F9-4C07-BF4F-22C947B8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68599"/>
            <a:ext cx="14732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Уточнить </a:t>
            </a:r>
            <a:r>
              <a:rPr sz="16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ML-</a:t>
            </a:r>
            <a:r>
              <a:rPr sz="16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цель</a:t>
            </a:r>
            <a:endParaRPr sz="16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6E2884D-7BD8-4DFE-ACF5-064068D6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3530599"/>
            <a:ext cx="14732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0636E"/>
                </a:solidFill>
                <a:latin typeface="Arial"/>
                <a:ea typeface="Arial"/>
                <a:cs typeface="Arial"/>
              </a:rPr>
              <a:t>фокус на </a:t>
            </a:r>
            <a:r>
              <a:rPr sz="1400">
                <a:solidFill>
                  <a:srgbClr val="60636E"/>
                </a:solidFill>
                <a:latin typeface="Arial"/>
                <a:ea typeface="Arial"/>
                <a:cs typeface="Arial"/>
              </a:rPr>
              <a:t>message_hit</a:t>
            </a:r>
            <a:endParaRPr sz="14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ая соединительная линия 11">
            <a:extLst xmlns:a="http://schemas.openxmlformats.org/drawingml/2006/main">
              <a:ext uri="{FF2B5EF4-FFF2-40B4-BE49-F238E27FC236}">
                <a16:creationId xmlns:a16="http://schemas.microsoft.com/office/drawing/2014/main" id="{99494993-4A91-45F2-BA68-BB0F196E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200" y="3035300"/>
            <a:ext cx="292100" cy="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91949E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39A22F1-3363-4E75-B359-0B023F9A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2057399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02</a:t>
            </a:r>
            <a:endParaRPr sz="12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Прямая соединительная линия 13">
            <a:extLst xmlns:a="http://schemas.openxmlformats.org/drawingml/2006/main">
              <a:ext uri="{FF2B5EF4-FFF2-40B4-BE49-F238E27FC236}">
                <a16:creationId xmlns:a16="http://schemas.microsoft.com/office/drawing/2014/main" id="{6C5B4A9C-05B3-48B8-968D-8F69702F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2527300"/>
            <a:ext cx="1473200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5C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A5E54D1-FA8A-4FDA-98FA-707E30D4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2768599"/>
            <a:ext cx="14732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Сравнить подходы</a:t>
            </a:r>
            <a:endParaRPr sz="16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D8D0625-5355-4026-9C83-C187D277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3530599"/>
            <a:ext cx="14732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0636E"/>
                </a:solidFill>
                <a:latin typeface="Arial"/>
                <a:ea typeface="Arial"/>
                <a:cs typeface="Arial"/>
              </a:rPr>
              <a:t>2-stage + </a:t>
            </a:r>
            <a:r>
              <a:rPr sz="1400">
                <a:solidFill>
                  <a:srgbClr val="60636E"/>
                </a:solidFill>
                <a:latin typeface="Arial"/>
                <a:ea typeface="Arial"/>
                <a:cs typeface="Arial"/>
              </a:rPr>
              <a:t>сильные модели</a:t>
            </a:r>
            <a:endParaRPr sz="14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3EB04B12-724E-415E-99A0-596BB7F8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700" y="3035300"/>
            <a:ext cx="292100" cy="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91949E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BE4AF64-B6CE-43F8-A1ED-B51D2F72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57399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03</a:t>
            </a:r>
            <a:endParaRPr sz="12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Прямая соединительная линия 18">
            <a:extLst xmlns:a="http://schemas.openxmlformats.org/drawingml/2006/main">
              <a:ext uri="{FF2B5EF4-FFF2-40B4-BE49-F238E27FC236}">
                <a16:creationId xmlns:a16="http://schemas.microsoft.com/office/drawing/2014/main" id="{71FC2D45-8931-479D-B6D6-E8CBB45F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27300"/>
            <a:ext cx="1473200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5C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8A8E41D-523A-4330-A183-8690F95A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68599"/>
            <a:ext cx="14732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Walk-forward</a:t>
            </a:r>
            <a:endParaRPr sz="16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F9AE317-F22B-41C9-BACD-78B7BC54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30599"/>
            <a:ext cx="14732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0636E"/>
                </a:solidFill>
                <a:latin typeface="Arial"/>
                <a:ea typeface="Arial"/>
                <a:cs typeface="Arial"/>
              </a:rPr>
              <a:t>несколько временных окон</a:t>
            </a:r>
            <a:endParaRPr sz="14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Прямая соединительная линия 21">
            <a:extLst xmlns:a="http://schemas.openxmlformats.org/drawingml/2006/main">
              <a:ext uri="{FF2B5EF4-FFF2-40B4-BE49-F238E27FC236}">
                <a16:creationId xmlns:a16="http://schemas.microsoft.com/office/drawing/2014/main" id="{C8DE8F8A-6D61-41A1-9D08-49E74521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35300"/>
            <a:ext cx="292100" cy="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91949E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6C5BECD-BF73-4B66-83F1-B48972AD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2057399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04</a:t>
            </a:r>
            <a:endParaRPr sz="12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Прямая соединительная линия 23">
            <a:extLst xmlns:a="http://schemas.openxmlformats.org/drawingml/2006/main">
              <a:ext uri="{FF2B5EF4-FFF2-40B4-BE49-F238E27FC236}">
                <a16:creationId xmlns:a16="http://schemas.microsoft.com/office/drawing/2014/main" id="{9900189C-6B5D-439C-A811-CA05DE62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2527300"/>
            <a:ext cx="1473200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5C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FE8263C-D8A3-4568-88B6-466EF584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2768599"/>
            <a:ext cx="14732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Настроить </a:t>
            </a:r>
            <a:r>
              <a:rPr sz="16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policy</a:t>
            </a:r>
            <a:endParaRPr sz="16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251DC12-AA5A-450F-B571-69D350FE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3530599"/>
            <a:ext cx="14732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0636E"/>
                </a:solidFill>
                <a:latin typeface="Arial"/>
                <a:ea typeface="Arial"/>
                <a:cs typeface="Arial"/>
              </a:rPr>
              <a:t>threshold / frequency / cooldown</a:t>
            </a:r>
            <a:endParaRPr sz="14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Прямая соединительная линия 26">
            <a:extLst xmlns:a="http://schemas.openxmlformats.org/drawingml/2006/main">
              <a:ext uri="{FF2B5EF4-FFF2-40B4-BE49-F238E27FC236}">
                <a16:creationId xmlns:a16="http://schemas.microsoft.com/office/drawing/2014/main" id="{6861C756-FDD7-462C-BA41-544FE259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700" y="3035300"/>
            <a:ext cx="292100" cy="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91949E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5E91D8D-E388-4AE8-AB88-0FC2035B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057399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05</a:t>
            </a:r>
            <a:endParaRPr sz="12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Прямая соединительная линия 28">
            <a:extLst xmlns:a="http://schemas.openxmlformats.org/drawingml/2006/main">
              <a:ext uri="{FF2B5EF4-FFF2-40B4-BE49-F238E27FC236}">
                <a16:creationId xmlns:a16="http://schemas.microsoft.com/office/drawing/2014/main" id="{2F98E2AD-0315-48DA-8091-C26E073C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527300"/>
            <a:ext cx="1473200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5C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4870848-5A77-473E-AD47-BD4BE748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768599"/>
            <a:ext cx="14732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Добавить объяснение</a:t>
            </a:r>
            <a:endParaRPr sz="16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EC3E93A2-2DBD-4110-9707-325A3BAA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530599"/>
            <a:ext cx="14732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0636E"/>
                </a:solidFill>
                <a:latin typeface="Arial"/>
                <a:ea typeface="Arial"/>
                <a:cs typeface="Arial"/>
              </a:rPr>
              <a:t>факт + </a:t>
            </a:r>
            <a:r>
              <a:rPr sz="1400">
                <a:solidFill>
                  <a:srgbClr val="60636E"/>
                </a:solidFill>
                <a:latin typeface="Arial"/>
                <a:ea typeface="Arial"/>
                <a:cs typeface="Arial"/>
              </a:rPr>
              <a:t>reason code</a:t>
            </a:r>
            <a:endParaRPr sz="14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29B3837-EEF3-4F38-AC75-10E8D630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57399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06</a:t>
            </a:r>
            <a:endParaRPr sz="12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Прямая соединительная линия 32">
            <a:extLst xmlns:a="http://schemas.openxmlformats.org/drawingml/2006/main">
              <a:ext uri="{FF2B5EF4-FFF2-40B4-BE49-F238E27FC236}">
                <a16:creationId xmlns:a16="http://schemas.microsoft.com/office/drawing/2014/main" id="{8E7B74C0-56C1-480C-9826-FB606166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27300"/>
            <a:ext cx="1473200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5C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003477A-9788-401B-923D-CAEEF51B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8599"/>
            <a:ext cx="14732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Собрать демо</a:t>
            </a:r>
            <a:endParaRPr sz="16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6A9FDA1D-33B1-4AC9-B93A-9AE1DB27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30599"/>
            <a:ext cx="14732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0636E"/>
                </a:solidFill>
                <a:latin typeface="Arial"/>
                <a:ea typeface="Arial"/>
                <a:cs typeface="Arial"/>
              </a:rPr>
              <a:t>сценарий и финальная оценка</a:t>
            </a:r>
            <a:endParaRPr sz="14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Скругленный прямоугольник 35">
            <a:extLst xmlns:a="http://schemas.openxmlformats.org/drawingml/2006/main">
              <a:ext uri="{FF2B5EF4-FFF2-40B4-BE49-F238E27FC236}">
                <a16:creationId xmlns:a16="http://schemas.microsoft.com/office/drawing/2014/main" id="{CAC70968-CDE7-4078-9DBB-BE439A42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838700"/>
            <a:ext cx="10795000" cy="825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A0A0E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EE25C080-DF2D-48EC-B425-7D289F41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" y="5105400"/>
            <a:ext cx="762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EE0076"/>
                </a:solidFill>
                <a:latin typeface="Arial"/>
                <a:ea typeface="Arial"/>
                <a:cs typeface="Arial"/>
              </a:rPr>
              <a:t>GATE</a:t>
            </a:r>
            <a:endParaRPr sz="12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BD190657-F11A-46C8-B101-02341CF7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41899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precision ≥ 90%  ·  message lift ≥ 1,3  ·  </a:t>
            </a: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частота проверена после </a:t>
            </a: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cooldown</a:t>
            </a:r>
            <a:endParaRPr sz="19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65983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4500944-5CA1-4BAE-A0BE-3059C198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КОМАНДА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609548-5720-4C78-9EDD-9D1773BA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Команда объединена критерием правдивости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32C2E91-44CA-4A02-9DA3-F5964D5C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D37485E-5C01-4462-9057-DDF25307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CIS TRADING  /  </a:t>
            </a:r>
            <a:r>
              <a:rPr sz="800" b="1">
                <a:solidFill>
                  <a:srgbClr val="91949E"/>
                </a:solidFill>
                <a:latin typeface="Arial"/>
                <a:ea typeface="Arial"/>
                <a:cs typeface="Arial"/>
              </a:rPr>
              <a:t>ПРОМЕЖУТОЧНЫЙ СТАТУС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19E4B53-A851-497A-93EA-ADBA6E2F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0636E"/>
                </a:solidFill>
                <a:latin typeface="Arial"/>
                <a:ea typeface="Arial"/>
                <a:cs typeface="Arial"/>
              </a:rPr>
              <a:t>14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B0AF403-7811-4D52-8FE8-3AAE5128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841499"/>
            <a:ext cx="31115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Обухов Илья</a:t>
            </a:r>
            <a:endParaRPr sz="21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A900240-D4F1-439B-B42D-87739715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41499"/>
            <a:ext cx="1778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EE0076"/>
                </a:solidFill>
                <a:latin typeface="Arial"/>
                <a:ea typeface="Arial"/>
                <a:cs typeface="Arial"/>
              </a:rPr>
              <a:t>AI Product</a:t>
            </a:r>
            <a:endParaRPr sz="15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B7167A8-D832-441C-8616-F0FAF1E2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841499"/>
            <a:ext cx="4953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700">
                <a:solidFill>
                  <a:srgbClr val="60636E"/>
                </a:solidFill>
                <a:latin typeface="Arial"/>
                <a:ea typeface="Arial"/>
                <a:cs typeface="Arial"/>
              </a:rPr>
              <a:t>контракт · сценарий · метрики · отправка</a:t>
            </a:r>
            <a:endParaRPr sz="17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Прямая соединительная линия 9">
            <a:extLst xmlns:a="http://schemas.openxmlformats.org/drawingml/2006/main">
              <a:ext uri="{FF2B5EF4-FFF2-40B4-BE49-F238E27FC236}">
                <a16:creationId xmlns:a16="http://schemas.microsoft.com/office/drawing/2014/main" id="{591FB961-9895-474F-B529-EEABEC4D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6289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25AF989-705E-4EF1-B583-E535230F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984499"/>
            <a:ext cx="31115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Филиппова Дарья</a:t>
            </a:r>
            <a:endParaRPr sz="21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0C0683F-776F-4235-9733-A9BCC1AE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84499"/>
            <a:ext cx="1778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AI Engineer</a:t>
            </a:r>
            <a:endParaRPr sz="15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6BF4D46-AD4D-473D-A4A8-243EE7F0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2984499"/>
            <a:ext cx="4953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700">
                <a:solidFill>
                  <a:srgbClr val="60636E"/>
                </a:solidFill>
                <a:latin typeface="Arial"/>
                <a:ea typeface="Arial"/>
                <a:cs typeface="Arial"/>
              </a:rPr>
              <a:t>ML-</a:t>
            </a:r>
            <a:r>
              <a:rPr sz="1700">
                <a:solidFill>
                  <a:srgbClr val="60636E"/>
                </a:solidFill>
                <a:latin typeface="Arial"/>
                <a:ea typeface="Arial"/>
                <a:cs typeface="Arial"/>
              </a:rPr>
              <a:t>решение · эксперименты</a:t>
            </a:r>
            <a:endParaRPr sz="17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Прямая соединительная линия 13">
            <a:extLst xmlns:a="http://schemas.openxmlformats.org/drawingml/2006/main">
              <a:ext uri="{FF2B5EF4-FFF2-40B4-BE49-F238E27FC236}">
                <a16:creationId xmlns:a16="http://schemas.microsoft.com/office/drawing/2014/main" id="{1272C1C6-4F1C-4B45-B58C-B401743C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37719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B59891D-F6BB-4655-BAA3-462CBBDA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127499"/>
            <a:ext cx="31115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Соколов Дмитрий</a:t>
            </a:r>
            <a:endParaRPr sz="21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EA9B8D1-C3E0-4F1B-A095-2F982588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27499"/>
            <a:ext cx="1778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05CFF"/>
                </a:solidFill>
                <a:latin typeface="Arial"/>
                <a:ea typeface="Arial"/>
                <a:cs typeface="Arial"/>
              </a:rPr>
              <a:t>AI Engineer</a:t>
            </a:r>
            <a:endParaRPr sz="15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432F4A5-52F8-4895-B85E-2B8A5D67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499"/>
            <a:ext cx="4953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700">
                <a:solidFill>
                  <a:srgbClr val="60636E"/>
                </a:solidFill>
                <a:latin typeface="Arial"/>
                <a:ea typeface="Arial"/>
                <a:cs typeface="Arial"/>
              </a:rPr>
              <a:t>данные · признаки · обучение · проверка</a:t>
            </a:r>
            <a:endParaRPr sz="17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FFB9A301-EFBA-4698-8F43-F2850C9B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5321300"/>
            <a:ext cx="107950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5C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4F66D7B-22CE-45ED-AB07-75614481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5486399"/>
            <a:ext cx="10287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Pipeline собран. Сигнал есть. Продуктовую надёжность ещё нужно доказать.</a:t>
            </a:r>
            <a:endParaRPr sz="2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1158071"/>
      </p:ext>
    </p:extLst>
  </p:cSld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2026-09-03T16:14:18.7720000Z</dcterms:created>
  <dcterms:modified xsi:type="dcterms:W3CDTF">2026-09-03T16:14:18.7720000Z</dcterms:modified>
</coreProperties>
</file>